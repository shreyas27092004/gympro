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91440"/>
            <a:ext cx="3383280" cy="4956048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Membership &amp; Trainer Management System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75488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4203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Candidate: </a:t>
            </a:r>
            <a:r>
              <a:rPr lang="en-US" sz="12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Shreyas 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Architecture: </a:t>
            </a:r>
            <a:r>
              <a:rPr lang="en-US" sz="12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Microservices — 8 Services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Stack: </a:t>
            </a:r>
            <a:r>
              <a:rPr lang="en-US" sz="12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17 · Spring Boot · Spring Cloud · MySQL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69417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Security: </a:t>
            </a:r>
            <a:r>
              <a:rPr lang="en-US" sz="12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+ Spring Security + Role-Based 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078224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12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Agile / Iterative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1097280"/>
            <a:ext cx="30175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UML &amp; API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989320" y="2697480"/>
            <a:ext cx="274320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697480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3099816"/>
            <a:ext cx="274320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099816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Cloud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502152"/>
            <a:ext cx="274320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502152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3904488"/>
            <a:ext cx="274320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904488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4306824"/>
            <a:ext cx="274320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306824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OpenFeign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54864" cy="42062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" y="822960"/>
            <a:ext cx="850392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822960"/>
            <a:ext cx="192024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40864" y="822960"/>
            <a:ext cx="640080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— Gym Membership &amp; Trainer Management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54864" cy="42062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" y="137160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371600"/>
            <a:ext cx="192024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40864" y="1371600"/>
            <a:ext cx="640080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Fitness &amp; Health Technology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54864" cy="42062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" y="1920240"/>
            <a:ext cx="850392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920240"/>
            <a:ext cx="192024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40864" y="1920240"/>
            <a:ext cx="640080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Microservices — 8 independent services, each with its own 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54864" cy="42062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" y="246888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468880"/>
            <a:ext cx="192024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40864" y="2468880"/>
            <a:ext cx="640080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17 · Spring Boot 3.x · Spring Cloud · MySQL · OpenFeign · Eureka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54864" cy="42062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" y="3017520"/>
            <a:ext cx="850392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017520"/>
            <a:ext cx="192024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40864" y="3017520"/>
            <a:ext cx="640080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+ Spring Security — Role-based access: ADMIN, TRAINER, MEMBER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54864" cy="42062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356616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566160"/>
            <a:ext cx="192024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40864" y="3566160"/>
            <a:ext cx="640080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OpenFeign (sync REST) — Booking notifies Notification via Feign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114800"/>
            <a:ext cx="54864" cy="42062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" y="4114800"/>
            <a:ext cx="8503920" cy="420624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114800"/>
            <a:ext cx="192024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40864" y="4114800"/>
            <a:ext cx="6400800" cy="420624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Agile / Iterative · Swagger/OpenAPI 3 docs on every service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Scalable role-based gym management with real-time session booking, membership plans, and dummy payment processing.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 Control — 3 Roles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2834640" cy="3977640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777240"/>
            <a:ext cx="2834640" cy="4572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772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28016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admin@gympro.com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481328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Password: admin123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719072"/>
            <a:ext cx="265176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20040" y="1856232"/>
            <a:ext cx="82296" cy="82296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79222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to the system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203704"/>
            <a:ext cx="82296" cy="82296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2139696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and manage member profiles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551176"/>
            <a:ext cx="82296" cy="82296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248716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trainers and update their details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898648"/>
            <a:ext cx="82296" cy="82296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83464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membership plans (Monthly/Quarterly/Yearly)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82296" cy="82296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18211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all bookings and payments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593592"/>
            <a:ext cx="82296" cy="82296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352958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refunds on payments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941064"/>
            <a:ext cx="82296" cy="82296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877056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Deactivate members or trainers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777240"/>
            <a:ext cx="2834640" cy="3977640"/>
          </a:xfrm>
          <a:prstGeom prst="rect">
            <a:avLst/>
          </a:prstGeom>
          <a:solidFill>
            <a:srgbClr val="FDE8CC"/>
          </a:solidFill>
          <a:ln w="12700">
            <a:solidFill>
              <a:srgbClr val="C45C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777240"/>
            <a:ext cx="2834640" cy="457200"/>
          </a:xfrm>
          <a:prstGeom prst="rect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7772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46120" y="128016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45C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ravi@gympro.com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46120" y="1481328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Password: admin123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46120" y="1719072"/>
            <a:ext cx="2651760" cy="0"/>
          </a:xfrm>
          <a:prstGeom prst="line">
            <a:avLst/>
          </a:prstGeom>
          <a:noFill/>
          <a:ln w="12700">
            <a:solidFill>
              <a:srgbClr val="C45C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246120" y="1856232"/>
            <a:ext cx="82296" cy="82296"/>
          </a:xfrm>
          <a:prstGeom prst="ellipse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4136" y="179222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to the system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2203704"/>
            <a:ext cx="82296" cy="82296"/>
          </a:xfrm>
          <a:prstGeom prst="ellipse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74136" y="2139696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own weekly schedule slots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46120" y="2551176"/>
            <a:ext cx="82296" cy="82296"/>
          </a:xfrm>
          <a:prstGeom prst="ellipse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74136" y="248716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all bookings assigned to them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46120" y="2898648"/>
            <a:ext cx="82296" cy="82296"/>
          </a:xfrm>
          <a:prstGeom prst="ellipse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74136" y="283464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 a session as COMPLETED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46120" y="3246120"/>
            <a:ext cx="82296" cy="82296"/>
          </a:xfrm>
          <a:prstGeom prst="ellipse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74136" y="318211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available schedule slots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46120" y="3593592"/>
            <a:ext cx="82296" cy="82296"/>
          </a:xfrm>
          <a:prstGeom prst="ellipse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74136" y="352958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own trainer profile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80760" y="777240"/>
            <a:ext cx="2834640" cy="3977640"/>
          </a:xfrm>
          <a:prstGeom prst="rect">
            <a:avLst/>
          </a:prstGeom>
          <a:solidFill>
            <a:srgbClr val="D4EDDA"/>
          </a:solidFill>
          <a:ln w="12700">
            <a:solidFill>
              <a:srgbClr val="1B6B3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80760" y="777240"/>
            <a:ext cx="2834640" cy="4572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7772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172200" y="128016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shreyas@gympro.com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72200" y="1481328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Password: admin123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72200" y="1719072"/>
            <a:ext cx="2651760" cy="0"/>
          </a:xfrm>
          <a:prstGeom prst="line">
            <a:avLst/>
          </a:prstGeom>
          <a:noFill/>
          <a:ln w="12700">
            <a:solidFill>
              <a:srgbClr val="1B6B3A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172200" y="1856232"/>
            <a:ext cx="82296" cy="822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0216" y="179222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to the system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72200" y="2203704"/>
            <a:ext cx="82296" cy="822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0216" y="2139696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and subscribe to membership plans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72200" y="2551176"/>
            <a:ext cx="82296" cy="822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0216" y="248716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available trainer slots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72200" y="2898648"/>
            <a:ext cx="82296" cy="822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283464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a trainer session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72200" y="3246120"/>
            <a:ext cx="82296" cy="822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0216" y="318211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payments (UPI/Card/QR/Cash)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72200" y="3593592"/>
            <a:ext cx="82296" cy="822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0216" y="352958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own booking history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72200" y="3941064"/>
            <a:ext cx="82296" cy="8229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0216" y="3877056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 a booking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roles log in via  POST /auth/login  →  receive JWT token  →  send token in every request header: Authorization: Bearer &lt;token&gt;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Microservice Architecture — 8 Services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Cloud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749808"/>
            <a:ext cx="27432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749808"/>
            <a:ext cx="2743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749808"/>
            <a:ext cx="137160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74520" y="749808"/>
            <a:ext cx="50292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749808"/>
            <a:ext cx="502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749808"/>
            <a:ext cx="292608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749808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749808"/>
            <a:ext cx="100584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749808"/>
            <a:ext cx="1005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749808"/>
            <a:ext cx="260604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49808"/>
            <a:ext cx="26060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Tech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1060704"/>
            <a:ext cx="27432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060704"/>
            <a:ext cx="2286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1060704"/>
            <a:ext cx="137160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060704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Eureka Server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74520" y="1060704"/>
            <a:ext cx="50292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1060704"/>
            <a:ext cx="4572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8761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77440" y="1060704"/>
            <a:ext cx="292608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1060704"/>
            <a:ext cx="28803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registry — all microservices register here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03520" y="1060704"/>
            <a:ext cx="100584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1060704"/>
            <a:ext cx="9601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09360" y="1060704"/>
            <a:ext cx="260604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060704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Cloud Netflix Eureka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1545336"/>
            <a:ext cx="27432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1545336"/>
            <a:ext cx="2286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1545336"/>
            <a:ext cx="137160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1545336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874520" y="1545336"/>
            <a:ext cx="50292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0" y="1545336"/>
            <a:ext cx="4572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8080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1545336"/>
            <a:ext cx="292608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1545336"/>
            <a:ext cx="28803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entry point — JWT validation, routing, load balancing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303520" y="1545336"/>
            <a:ext cx="100584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1545336"/>
            <a:ext cx="9601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09360" y="1545336"/>
            <a:ext cx="2606040" cy="448056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1545336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Cloud Gateway · JWT Filter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2029968"/>
            <a:ext cx="27432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029968"/>
            <a:ext cx="2286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2029968"/>
            <a:ext cx="137160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029968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Service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74520" y="2029968"/>
            <a:ext cx="50292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0" y="2029968"/>
            <a:ext cx="4572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8081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377440" y="2029968"/>
            <a:ext cx="292608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23160" y="2029968"/>
            <a:ext cx="28803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 — BCrypt + JWT token generation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03520" y="2029968"/>
            <a:ext cx="100584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49240" y="2029968"/>
            <a:ext cx="9601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auth_db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09360" y="2029968"/>
            <a:ext cx="260604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2029968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Security · jjwt · BCrypt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8600" y="2514600"/>
            <a:ext cx="274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2514600"/>
            <a:ext cx="2286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" y="2514600"/>
            <a:ext cx="1371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2514600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Service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874520" y="2514600"/>
            <a:ext cx="5029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20240" y="2514600"/>
            <a:ext cx="4572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8082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377440" y="2514600"/>
            <a:ext cx="29260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23160" y="2514600"/>
            <a:ext cx="28803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CRUD — create, view, update, deactivate profiles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303520" y="2514600"/>
            <a:ext cx="1005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49240" y="2514600"/>
            <a:ext cx="9601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member_db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309360" y="2514600"/>
            <a:ext cx="26060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55080" y="2514600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Data JPA · MySQL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28600" y="2999232"/>
            <a:ext cx="27432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2999232"/>
            <a:ext cx="2286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2920" y="2999232"/>
            <a:ext cx="137160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2999232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 Service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874520" y="2999232"/>
            <a:ext cx="50292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20240" y="2999232"/>
            <a:ext cx="4572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8083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377440" y="2999232"/>
            <a:ext cx="292608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23160" y="2999232"/>
            <a:ext cx="28803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 CRUD + schedule slot management (MON–SUN)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303520" y="2999232"/>
            <a:ext cx="100584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49240" y="2999232"/>
            <a:ext cx="9601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trainer_db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309360" y="2999232"/>
            <a:ext cx="260604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55080" y="2999232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Data JPA · MySQL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28600" y="3483864"/>
            <a:ext cx="274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3483864"/>
            <a:ext cx="2286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02920" y="3483864"/>
            <a:ext cx="1371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8640" y="3483864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Service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1874520" y="3483864"/>
            <a:ext cx="5029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920240" y="3483864"/>
            <a:ext cx="4572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8084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377440" y="3483864"/>
            <a:ext cx="29260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23160" y="3483864"/>
            <a:ext cx="28803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Membership plans: Monthly/Quarterly/Yearly + subscriptions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303520" y="3483864"/>
            <a:ext cx="1005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49240" y="3483864"/>
            <a:ext cx="9601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plan_db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309360" y="3483864"/>
            <a:ext cx="26060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55080" y="3483864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Data JPA · MySQL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28600" y="3968496"/>
            <a:ext cx="27432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3968496"/>
            <a:ext cx="2286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02920" y="3968496"/>
            <a:ext cx="137160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8640" y="3968496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Service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874520" y="3968496"/>
            <a:ext cx="50292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20240" y="3968496"/>
            <a:ext cx="4572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8085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2377440" y="3968496"/>
            <a:ext cx="292608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423160" y="3968496"/>
            <a:ext cx="28803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trainer sessions — Feign calls to Notification service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303520" y="3968496"/>
            <a:ext cx="100584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49240" y="3968496"/>
            <a:ext cx="9601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booking_db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309360" y="3968496"/>
            <a:ext cx="2606040" cy="44805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55080" y="3968496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OpenFeign · Spring Data JPA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28600" y="4453128"/>
            <a:ext cx="274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4320" y="4453128"/>
            <a:ext cx="2286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502920" y="4453128"/>
            <a:ext cx="1371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8640" y="4453128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Service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1874520" y="4453128"/>
            <a:ext cx="5029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920240" y="4453128"/>
            <a:ext cx="4572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8087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2377440" y="4453128"/>
            <a:ext cx="29260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423160" y="4453128"/>
            <a:ext cx="288036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Dummy payment: UPI/Card/QR/Cash — TXN ID + refund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303520" y="4453128"/>
            <a:ext cx="1005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349240" y="4453128"/>
            <a:ext cx="9601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payment_db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309360" y="4453128"/>
            <a:ext cx="26060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55080" y="4453128"/>
            <a:ext cx="256032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OpenFeign · UUID · MySQL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 blue = Infrastructure services  |  All services register with Eureka  |  Communication: OpenFeign (sync REST) + Notification email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 Diagram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0" y="749808"/>
            <a:ext cx="6217920" cy="4069080"/>
          </a:xfrm>
          <a:prstGeom prst="rect">
            <a:avLst/>
          </a:prstGeom>
          <a:solidFill>
            <a:srgbClr val="EEF2F7"/>
          </a:solidFill>
          <a:ln w="12700">
            <a:solidFill>
              <a:srgbClr val="1A3A6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0" y="749808"/>
            <a:ext cx="6217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System Boundary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11480" cy="41148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00200"/>
            <a:ext cx="0" cy="256032"/>
          </a:xfrm>
          <a:prstGeom prst="line">
            <a:avLst/>
          </a:prstGeom>
          <a:noFill/>
          <a:ln w="12700">
            <a:solidFill>
              <a:srgbClr val="1E6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737360"/>
            <a:ext cx="45720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856232"/>
            <a:ext cx="0" cy="256032"/>
          </a:xfrm>
          <a:prstGeom prst="line">
            <a:avLst/>
          </a:prstGeom>
          <a:noFill/>
          <a:ln w="12700">
            <a:solidFill>
              <a:srgbClr val="1E6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21408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11480" cy="411480"/>
          </a:xfrm>
          <a:prstGeom prst="ellipse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154680"/>
            <a:ext cx="0" cy="256032"/>
          </a:xfrm>
          <a:prstGeom prst="line">
            <a:avLst/>
          </a:prstGeom>
          <a:noFill/>
          <a:ln w="12700">
            <a:solidFill>
              <a:srgbClr val="C45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291840"/>
            <a:ext cx="457200" cy="0"/>
          </a:xfrm>
          <a:prstGeom prst="line">
            <a:avLst/>
          </a:prstGeom>
          <a:noFill/>
          <a:ln w="12700">
            <a:solidFill>
              <a:srgbClr val="C45C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410712"/>
            <a:ext cx="0" cy="256032"/>
          </a:xfrm>
          <a:prstGeom prst="line">
            <a:avLst/>
          </a:prstGeom>
          <a:noFill/>
          <a:ln w="12700">
            <a:solidFill>
              <a:srgbClr val="C4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75888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458200" y="1645920"/>
            <a:ext cx="411480" cy="41148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9368" y="2057400"/>
            <a:ext cx="0" cy="256032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9912" y="2194560"/>
            <a:ext cx="45720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9368" y="2313432"/>
            <a:ext cx="0" cy="256032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578608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1005840"/>
            <a:ext cx="2423160" cy="384048"/>
          </a:xfrm>
          <a:prstGeom prst="ellipse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100584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11680" y="1554480"/>
            <a:ext cx="2423160" cy="384048"/>
          </a:xfrm>
          <a:prstGeom prst="ellipse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155448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Plans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0" y="2103120"/>
            <a:ext cx="2423160" cy="384048"/>
          </a:xfrm>
          <a:prstGeom prst="ellipse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210312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Subscribe to Plan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11680" y="2651760"/>
            <a:ext cx="2423160" cy="384048"/>
          </a:xfrm>
          <a:prstGeom prst="ellipse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265176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Trainer Session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0" y="3200400"/>
            <a:ext cx="2423160" cy="384048"/>
          </a:xfrm>
          <a:prstGeom prst="ellipse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320040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Payment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11680" y="3749040"/>
            <a:ext cx="2423160" cy="384048"/>
          </a:xfrm>
          <a:prstGeom prst="ellipse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374904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 Booking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1005840"/>
            <a:ext cx="2423160" cy="384048"/>
          </a:xfrm>
          <a:prstGeom prst="ellipse">
            <a:avLst/>
          </a:prstGeom>
          <a:solidFill>
            <a:srgbClr val="FDE8CC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00584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Schedule Slots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1554480"/>
            <a:ext cx="2423160" cy="384048"/>
          </a:xfrm>
          <a:prstGeom prst="ellipse">
            <a:avLst/>
          </a:prstGeom>
          <a:solidFill>
            <a:srgbClr val="FDE8CC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55448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My Bookings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2103120"/>
            <a:ext cx="2423160" cy="384048"/>
          </a:xfrm>
          <a:prstGeom prst="ellipse">
            <a:avLst/>
          </a:prstGeom>
          <a:solidFill>
            <a:srgbClr val="FDE8CC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10312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Session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2834640"/>
            <a:ext cx="2423160" cy="384048"/>
          </a:xfrm>
          <a:prstGeom prst="ellipse">
            <a:avLst/>
          </a:prstGeom>
          <a:solidFill>
            <a:srgbClr val="D6E8F9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83464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Members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3383280"/>
            <a:ext cx="2423160" cy="384048"/>
          </a:xfrm>
          <a:prstGeom prst="ellipse">
            <a:avLst/>
          </a:prstGeom>
          <a:solidFill>
            <a:srgbClr val="D6E8F9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38328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Trainers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931920"/>
            <a:ext cx="2423160" cy="384048"/>
          </a:xfrm>
          <a:prstGeom prst="ellipse">
            <a:avLst/>
          </a:prstGeom>
          <a:solidFill>
            <a:srgbClr val="D6E8F9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93192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Plans / Refunds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Actors: Member · Trainer · Admin   |   System boundary = dashed rectangle   |   Ovals = Use Cases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Activity Diagram — Book a Training Session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1719072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749808"/>
            <a:ext cx="17190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042416"/>
            <a:ext cx="1719072" cy="3767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749808"/>
            <a:ext cx="1719072" cy="292608"/>
          </a:xfrm>
          <a:prstGeom prst="rect">
            <a:avLst/>
          </a:prstGeom>
          <a:solidFill>
            <a:srgbClr val="1E6FB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749808"/>
            <a:ext cx="17190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01952" y="1042416"/>
            <a:ext cx="1719072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1024" y="749808"/>
            <a:ext cx="1719072" cy="292608"/>
          </a:xfrm>
          <a:prstGeom prst="rect">
            <a:avLst/>
          </a:prstGeom>
          <a:solidFill>
            <a:srgbClr val="1E6FB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749808"/>
            <a:ext cx="17190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Service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21024" y="1042416"/>
            <a:ext cx="1719072" cy="3767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0096" y="749808"/>
            <a:ext cx="1719072" cy="292608"/>
          </a:xfrm>
          <a:prstGeom prst="rect">
            <a:avLst/>
          </a:prstGeom>
          <a:solidFill>
            <a:srgbClr val="1E6FB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0096" y="749808"/>
            <a:ext cx="17190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Service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0096" y="1042416"/>
            <a:ext cx="1719072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9168" y="749808"/>
            <a:ext cx="1719072" cy="292608"/>
          </a:xfrm>
          <a:prstGeom prst="rect">
            <a:avLst/>
          </a:prstGeom>
          <a:solidFill>
            <a:srgbClr val="1E6FB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749808"/>
            <a:ext cx="171907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59168" y="1042416"/>
            <a:ext cx="1719072" cy="376732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" y="1115568"/>
            <a:ext cx="201168" cy="20116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1444752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2608" y="144475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to GymPro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0" y="1444752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0" y="144475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JWT Token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2608" y="1993392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2608" y="199339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Plans &amp; Trainers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2608" y="2542032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92608" y="254203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Trainer &amp; Time Slot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30752" y="2542032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30752" y="254203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Slot Availability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730752" y="3090672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30752" y="309067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Booking (CONFIRMED)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49824" y="3090672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49824" y="309067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Payment (dummy)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68896" y="3090672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68896" y="309067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Email to Member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68896" y="3621024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68896" y="3621024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Email to Trainer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2608" y="4160520"/>
            <a:ext cx="14996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92608" y="4160520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Booking Confirmation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32688" y="4645152"/>
            <a:ext cx="201168" cy="20116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Flow: Login → JWT check → Browse → Select slot → Create booking → Pay → Email sent to member + trainer → Done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Diagram — Login &amp; Book Session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3716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49808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(Client)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987552"/>
            <a:ext cx="0" cy="3520440"/>
          </a:xfrm>
          <a:prstGeom prst="line">
            <a:avLst/>
          </a:prstGeom>
          <a:noFill/>
          <a:ln w="12700">
            <a:solidFill>
              <a:srgbClr val="C5D0D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194560" y="749808"/>
            <a:ext cx="13716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749808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987552"/>
            <a:ext cx="0" cy="3520440"/>
          </a:xfrm>
          <a:prstGeom prst="line">
            <a:avLst/>
          </a:prstGeom>
          <a:noFill/>
          <a:ln w="12700">
            <a:solidFill>
              <a:srgbClr val="C5D0D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931920" y="749808"/>
            <a:ext cx="13716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749808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987552"/>
            <a:ext cx="0" cy="3520440"/>
          </a:xfrm>
          <a:prstGeom prst="line">
            <a:avLst/>
          </a:prstGeom>
          <a:noFill/>
          <a:ln w="12700">
            <a:solidFill>
              <a:srgbClr val="C5D0D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669280" y="749808"/>
            <a:ext cx="13716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749808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55080" y="987552"/>
            <a:ext cx="0" cy="3520440"/>
          </a:xfrm>
          <a:prstGeom prst="line">
            <a:avLst/>
          </a:prstGeom>
          <a:noFill/>
          <a:ln w="12700">
            <a:solidFill>
              <a:srgbClr val="C5D0D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406640" y="749808"/>
            <a:ext cx="13716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749808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92440" y="987552"/>
            <a:ext cx="0" cy="3520440"/>
          </a:xfrm>
          <a:prstGeom prst="line">
            <a:avLst/>
          </a:prstGeom>
          <a:noFill/>
          <a:ln w="12700">
            <a:solidFill>
              <a:srgbClr val="C5D0DD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43000" y="1078992"/>
            <a:ext cx="173736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914400"/>
            <a:ext cx="1691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/auth/login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834640" y="1042416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1353312"/>
            <a:ext cx="173736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1188720"/>
            <a:ext cx="1691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validateCredentials(email, password)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1316736"/>
            <a:ext cx="73152" cy="73152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0360" y="1627632"/>
            <a:ext cx="1737360" cy="0"/>
          </a:xfrm>
          <a:prstGeom prst="line">
            <a:avLst/>
          </a:prstGeom>
          <a:noFill/>
          <a:ln w="12700">
            <a:solidFill>
              <a:srgbClr val="1B6B3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926080" y="1463040"/>
            <a:ext cx="1691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JWT token (role=ADMIN)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880360" y="1591056"/>
            <a:ext cx="73152" cy="7315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43000" y="1901952"/>
            <a:ext cx="1737360" cy="0"/>
          </a:xfrm>
          <a:prstGeom prst="line">
            <a:avLst/>
          </a:prstGeom>
          <a:noFill/>
          <a:ln w="12700">
            <a:solidFill>
              <a:srgbClr val="1B6B3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188720" y="1737360"/>
            <a:ext cx="1691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 OK + { token, role }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143000" y="1865376"/>
            <a:ext cx="73152" cy="7315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2176272"/>
            <a:ext cx="173736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2011680"/>
            <a:ext cx="1691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/bookings/create  [Bearer JWT]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34640" y="2139696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450592"/>
            <a:ext cx="0" cy="0"/>
          </a:xfrm>
          <a:prstGeom prst="line">
            <a:avLst/>
          </a:prstGeom>
          <a:noFill/>
          <a:ln w="12700">
            <a:solidFill>
              <a:srgbClr val="C45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2286000"/>
            <a:ext cx="45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validateJWT() → extract role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880360" y="2414016"/>
            <a:ext cx="73152" cy="73152"/>
          </a:xfrm>
          <a:prstGeom prst="ellipse">
            <a:avLst/>
          </a:prstGeom>
          <a:solidFill>
            <a:srgbClr val="C45C00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2724912"/>
            <a:ext cx="347472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2560320"/>
            <a:ext cx="34290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to booking-service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309360" y="2688336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2999232"/>
            <a:ext cx="173736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834640"/>
            <a:ext cx="1691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processPayment(amount, method)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046720" y="2962656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3273552"/>
            <a:ext cx="1737360" cy="0"/>
          </a:xfrm>
          <a:prstGeom prst="line">
            <a:avLst/>
          </a:prstGeom>
          <a:noFill/>
          <a:ln w="12700">
            <a:solidFill>
              <a:srgbClr val="1B6B3A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6400800" y="3108960"/>
            <a:ext cx="1691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paymentConfirmed + TXN-XXXXXX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55080" y="3236976"/>
            <a:ext cx="73152" cy="7315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80360" y="3547872"/>
            <a:ext cx="3474720" cy="0"/>
          </a:xfrm>
          <a:prstGeom prst="line">
            <a:avLst/>
          </a:prstGeom>
          <a:noFill/>
          <a:ln w="12700">
            <a:solidFill>
              <a:srgbClr val="1B6B3A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2926080" y="3383280"/>
            <a:ext cx="34290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 Booking CONFIRMED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880360" y="3511296"/>
            <a:ext cx="73152" cy="7315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0" y="3822192"/>
            <a:ext cx="1737360" cy="0"/>
          </a:xfrm>
          <a:prstGeom prst="line">
            <a:avLst/>
          </a:prstGeom>
          <a:noFill/>
          <a:ln w="12700">
            <a:solidFill>
              <a:srgbClr val="1B6B3A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1188720" y="3657600"/>
            <a:ext cx="16916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 OK + bookingId + status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143000" y="3785616"/>
            <a:ext cx="73152" cy="7315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Solid = request  |  Dashed = response  |  Gateway validates JWT before routing to any service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Diagram — Core Entities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74320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04672"/>
            <a:ext cx="2743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«entity»  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2743200" cy="1005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11556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id: Long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1752" y="131673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username: String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" y="151790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password: String (BCrypt)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" y="1719072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email: String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1752" y="1920240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role: String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121408"/>
            <a:ext cx="274320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28600" y="2121408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12140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register()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1752" y="232257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login(): JWT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54680" y="804672"/>
            <a:ext cx="274320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804672"/>
            <a:ext cx="2743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«entity»  Member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1115568"/>
            <a:ext cx="2743200" cy="1005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111556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id: Long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27832" y="131673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userId: Long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27832" y="151790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fullName: String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27832" y="1719072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phone: String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27832" y="1920240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status: String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54680" y="2121408"/>
            <a:ext cx="274320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154680" y="2121408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212140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createProfile()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27832" y="232257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updateProfile()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27832" y="252374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deactivate()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80760" y="804672"/>
            <a:ext cx="274320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804672"/>
            <a:ext cx="2743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«entity»  Trainer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1115568"/>
            <a:ext cx="2743200" cy="120700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111556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id: Long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53912" y="131673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fullName: String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53912" y="151790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email: String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53912" y="1719072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specialization: String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53912" y="1920240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experienceYears: int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53912" y="212140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status: String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80760" y="2322576"/>
            <a:ext cx="274320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080760" y="2322576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53912" y="232257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addSchedule()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53912" y="252374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getAvailableSlots()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8600" y="2834640"/>
            <a:ext cx="274320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2834640"/>
            <a:ext cx="2743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«entity»  MembershipPlan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" y="3145536"/>
            <a:ext cx="2743200" cy="1005840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314553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id: Long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01752" y="334670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planName: String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01752" y="3547872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durationType: String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01752" y="3749040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price: double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01752" y="395020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durationDays: int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4151376"/>
            <a:ext cx="274320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228600" y="4151376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" y="415137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createPlan()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01752" y="435254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deactivate()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154680" y="2834640"/>
            <a:ext cx="274320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54680" y="2834640"/>
            <a:ext cx="2743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«entity»  Booking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154680" y="3145536"/>
            <a:ext cx="2743200" cy="140817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27832" y="314553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id: Long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227832" y="334670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memberId: Long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227832" y="3547872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trainerId: Long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227832" y="3749040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scheduleId: Long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227832" y="395020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sessionDay: String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227832" y="415137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sessionTime: String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227832" y="435254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status: String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154680" y="4553712"/>
            <a:ext cx="274320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3154680" y="4553712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27832" y="4553712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createBooking()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227832" y="4754880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cancel()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227832" y="495604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complete()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080760" y="2834640"/>
            <a:ext cx="2743200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80760" y="2834640"/>
            <a:ext cx="2743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«entity»  Payment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080760" y="3145536"/>
            <a:ext cx="2743200" cy="1408176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53912" y="314553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id: Long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153912" y="334670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memberId: Long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153912" y="3547872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bookingId: Long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153912" y="3749040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amount: double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153912" y="3950208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paymentMethod: String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153912" y="4151376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status: String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153912" y="4352544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transactionId: String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080760" y="4553712"/>
            <a:ext cx="2743200" cy="0"/>
          </a:xfrm>
          <a:prstGeom prst="line">
            <a:avLst/>
          </a:prstGeom>
          <a:noFill/>
          <a:ln w="12700">
            <a:solidFill>
              <a:srgbClr val="1E6FBF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6080760" y="455371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53912" y="4553712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processPayment()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153912" y="4754880"/>
            <a:ext cx="2670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refund()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600200" y="1280160"/>
            <a:ext cx="132588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ysDash"/>
          </a:ln>
        </p:spPr>
      </p:sp>
      <p:sp>
        <p:nvSpPr>
          <p:cNvPr id="88" name="Text 86"/>
          <p:cNvSpPr/>
          <p:nvPr/>
        </p:nvSpPr>
        <p:spPr>
          <a:xfrm>
            <a:off x="1600200" y="1133856"/>
            <a:ext cx="13258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1:1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526280" y="1280160"/>
            <a:ext cx="155448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ysDash"/>
          </a:ln>
        </p:spPr>
      </p:sp>
      <p:sp>
        <p:nvSpPr>
          <p:cNvPr id="90" name="Text 88"/>
          <p:cNvSpPr/>
          <p:nvPr/>
        </p:nvSpPr>
        <p:spPr>
          <a:xfrm>
            <a:off x="4526280" y="1133856"/>
            <a:ext cx="15544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books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1600200" y="3200400"/>
            <a:ext cx="132588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ysDash"/>
          </a:ln>
        </p:spPr>
      </p:sp>
      <p:sp>
        <p:nvSpPr>
          <p:cNvPr id="92" name="Text 90"/>
          <p:cNvSpPr/>
          <p:nvPr/>
        </p:nvSpPr>
        <p:spPr>
          <a:xfrm>
            <a:off x="1600200" y="3054096"/>
            <a:ext cx="13258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subscribes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526280" y="3200400"/>
            <a:ext cx="155448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ysDash"/>
          </a:ln>
        </p:spPr>
      </p:sp>
      <p:sp>
        <p:nvSpPr>
          <p:cNvPr id="94" name="Text 92"/>
          <p:cNvSpPr/>
          <p:nvPr/>
        </p:nvSpPr>
        <p:spPr>
          <a:xfrm>
            <a:off x="4526280" y="3054096"/>
            <a:ext cx="15544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paid via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private fields   + public methods   Dashed lines = associations   «entity» = JPA entity stored in MySQL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 Diagram — Database Design (DB-per-Service)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834640" cy="2468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04672"/>
            <a:ext cx="2834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(auth_db)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051560"/>
            <a:ext cx="2834640" cy="246888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051560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id: BIGINT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298448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298448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name: VARCHAR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1545336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545336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email: VARCHAR UNIQUE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1792224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792224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password: VARCHAR (BCrypt)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2039112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039112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role: VARCHAR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804672"/>
            <a:ext cx="2834640" cy="2468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804672"/>
            <a:ext cx="2834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members (member_db)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1051560"/>
            <a:ext cx="2834640" cy="246888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051560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id: BIGINT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1298448"/>
            <a:ext cx="2834640" cy="246888"/>
          </a:xfrm>
          <a:prstGeom prst="rect">
            <a:avLst/>
          </a:prstGeom>
          <a:solidFill>
            <a:srgbClr val="FFF8DC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1298448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691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userId: BIGINT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1545336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1545336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fullName: VARCHAR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46120" y="1792224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1792224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phone: VARCHAR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46120" y="2039112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039112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status: VARCHAR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63640" y="804672"/>
            <a:ext cx="2834640" cy="2468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804672"/>
            <a:ext cx="2834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trainers (trainer_db)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1051560"/>
            <a:ext cx="2834640" cy="246888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1051560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id: BIGINT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63640" y="1298448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1298448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fullName: VARCHAR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63640" y="1545336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1545336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specialization: VARCHAR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1792224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1792224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experienceYears: INT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63640" y="2039112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2039112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status: VARCHAR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" y="2743200"/>
            <a:ext cx="2834640" cy="2468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2743200"/>
            <a:ext cx="2834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membership_plans (plan_db)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2990088"/>
            <a:ext cx="2834640" cy="246888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2990088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id: BIGINT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3236976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3236976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planName: VARCHAR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28600" y="3483864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" y="3483864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durationType: VARCHAR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" y="3730752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3730752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price: DOUBLE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3977640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3977640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durationDays: INT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" y="4224528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" y="4224528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active: TINYINT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46120" y="2743200"/>
            <a:ext cx="2834640" cy="2468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46120" y="2743200"/>
            <a:ext cx="2834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bookings (booking_db)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46120" y="2990088"/>
            <a:ext cx="2834640" cy="246888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10128" y="2990088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id: BIGINT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46120" y="3236976"/>
            <a:ext cx="2834640" cy="246888"/>
          </a:xfrm>
          <a:prstGeom prst="rect">
            <a:avLst/>
          </a:prstGeom>
          <a:solidFill>
            <a:srgbClr val="FFF8DC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10128" y="3236976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691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memberId: BIGINT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46120" y="3483864"/>
            <a:ext cx="2834640" cy="246888"/>
          </a:xfrm>
          <a:prstGeom prst="rect">
            <a:avLst/>
          </a:prstGeom>
          <a:solidFill>
            <a:srgbClr val="FFF8DC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10128" y="3483864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691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trainerId: BIGINT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246120" y="3730752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10128" y="3730752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sessionDay: VARCHAR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46120" y="3977640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10128" y="3977640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sessionTime: VARCHAR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46120" y="4224528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10128" y="4224528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status: VARCHAR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63640" y="2743200"/>
            <a:ext cx="2834640" cy="2468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63640" y="2743200"/>
            <a:ext cx="28346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payments (payment_db)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63640" y="2990088"/>
            <a:ext cx="2834640" cy="246888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27648" y="2990088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PK  id: BIGINT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263640" y="3236976"/>
            <a:ext cx="2834640" cy="246888"/>
          </a:xfrm>
          <a:prstGeom prst="rect">
            <a:avLst/>
          </a:prstGeom>
          <a:solidFill>
            <a:srgbClr val="FFF8DC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27648" y="3236976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691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memberId: BIGINT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263640" y="3483864"/>
            <a:ext cx="2834640" cy="246888"/>
          </a:xfrm>
          <a:prstGeom prst="rect">
            <a:avLst/>
          </a:prstGeom>
          <a:solidFill>
            <a:srgbClr val="FFF8DC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27648" y="3483864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691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FK  bookingId: BIGINT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263640" y="3730752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27648" y="3730752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amount: DOUBLE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263640" y="3977640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27648" y="3977640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paymentMethod: VARCHAR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263640" y="4224528"/>
            <a:ext cx="2834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27648" y="4224528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transactionId: VARCHAR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263640" y="4471416"/>
            <a:ext cx="283464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27648" y="4471416"/>
            <a:ext cx="277063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status: VARCHAR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00200" y="1051560"/>
            <a:ext cx="132588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ysDash"/>
          </a:ln>
        </p:spPr>
      </p:sp>
      <p:sp>
        <p:nvSpPr>
          <p:cNvPr id="89" name="Shape 87"/>
          <p:cNvSpPr/>
          <p:nvPr/>
        </p:nvSpPr>
        <p:spPr>
          <a:xfrm>
            <a:off x="4526280" y="1051560"/>
            <a:ext cx="132588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ysDash"/>
          </a:ln>
        </p:spPr>
      </p:sp>
      <p:sp>
        <p:nvSpPr>
          <p:cNvPr id="90" name="Shape 88"/>
          <p:cNvSpPr/>
          <p:nvPr/>
        </p:nvSpPr>
        <p:spPr>
          <a:xfrm>
            <a:off x="1600200" y="3108960"/>
            <a:ext cx="132588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ysDash"/>
          </a:ln>
        </p:spPr>
      </p:sp>
      <p:sp>
        <p:nvSpPr>
          <p:cNvPr id="91" name="Shape 89"/>
          <p:cNvSpPr/>
          <p:nvPr/>
        </p:nvSpPr>
        <p:spPr>
          <a:xfrm>
            <a:off x="4526280" y="3108960"/>
            <a:ext cx="132588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ysDash"/>
          </a:ln>
        </p:spPr>
      </p:sp>
      <p:sp>
        <p:nvSpPr>
          <p:cNvPr id="92" name="Shape 90"/>
          <p:cNvSpPr/>
          <p:nvPr/>
        </p:nvSpPr>
        <p:spPr>
          <a:xfrm>
            <a:off x="274320" y="4572000"/>
            <a:ext cx="256032" cy="146304"/>
          </a:xfrm>
          <a:prstGeom prst="rect">
            <a:avLst/>
          </a:prstGeom>
          <a:solidFill>
            <a:srgbClr val="D6E8F9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66928" y="4572000"/>
            <a:ext cx="12801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Primary Key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011680" y="4572000"/>
            <a:ext cx="256032" cy="146304"/>
          </a:xfrm>
          <a:prstGeom prst="rect">
            <a:avLst/>
          </a:prstGeom>
          <a:solidFill>
            <a:srgbClr val="FFF8DC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304288" y="4572000"/>
            <a:ext cx="65836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Foreign Key  |  Each service has its own isolated database — DB-per-Service pattern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Operations — Auth Service &amp; Member Service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86868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Service — /auth/**   (Port 8081)   No token required for register &amp; login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1155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11155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/auth/register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0" y="1143000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14300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51960" y="111556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new user  |  Body: { name, email, password, role }  |  Returns: JWT token + role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115568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444752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4447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" y="144475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/auth/login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66160" y="1472184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47218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51960" y="144475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with email + password  |  Returns: JWT token to use in all other requests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444752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1773936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77393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177393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/auth/test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66160" y="1801368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180136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51960" y="177393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check — returns 'Auth Service Working ✅'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1773936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2121408"/>
            <a:ext cx="86868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12140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Service — /members/**   (Port 8082)   Manages gym member profiles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2450592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45059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" y="245059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/members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566160" y="2478024"/>
            <a:ext cx="640080" cy="201168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247802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251960" y="245059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member profile  |  Body: { name, email, phone, address, gender }  |  Auto-sets status=ACTIVE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2450592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2779776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277977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" y="2779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/members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566160" y="2807208"/>
            <a:ext cx="640080" cy="201168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280720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251960" y="277977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all member profiles in the system  |  Returns: array of all members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2779776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3108960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310896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" y="31089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/members/{id}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566160" y="3136392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6160" y="313639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251960" y="310896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one member by ID  |  Replace {id} with the member's database ID e.g. /members/1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28600" y="310896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" y="3438144"/>
            <a:ext cx="502920" cy="256032"/>
          </a:xfrm>
          <a:prstGeom prst="rect">
            <a:avLst/>
          </a:prstGeom>
          <a:solidFill>
            <a:srgbClr val="FDE8CC"/>
          </a:solidFill>
          <a:ln w="12700">
            <a:solidFill>
              <a:srgbClr val="7A3B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343814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3B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" y="343814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/members/{id}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66160" y="3465576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346557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251960" y="343814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member profile  |  Body: { name, phone, address, gender }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3438144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" y="3767328"/>
            <a:ext cx="502920" cy="256032"/>
          </a:xfrm>
          <a:prstGeom prst="rect">
            <a:avLst/>
          </a:prstGeom>
          <a:solidFill>
            <a:srgbClr val="FDE8E8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376732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C1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DELETE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77240" y="37673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/members/{id}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566160" y="3794760"/>
            <a:ext cx="640080" cy="201168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66160" y="379476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251960" y="37673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Soft-deactivate a member — sets status=INACTIVE, record stays in DB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28600" y="3767328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8600" y="4142232"/>
            <a:ext cx="868680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187952"/>
            <a:ext cx="8503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verify after POST /members:  </a:t>
            </a:r>
            <a:r>
              <a:rPr lang="en-US" sz="85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 gympro_member;  SELECT id, name, email, status FROM members ORDER BY id;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errors:  </a:t>
            </a: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401 = missing/expired token  |  403 = wrong role  |  500 = check Eclipse console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Operations — Trainer Service &amp; Plan Service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86868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 Service — /trainers/**   (Port 8083)   Trainer CRUD + Schedule Management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1155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11155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/trainers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0" y="1143000"/>
            <a:ext cx="640080" cy="201168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14300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51960" y="111556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trainer  |  Body: { name, email, phone, specialization, experienceYears 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115568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380744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38074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" y="138074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/trainers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66160" y="1408176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40817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51960" y="138074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all trainers — returns list of all active trainers with their details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380744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1645920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6459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16459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/trainers/{id}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66160" y="1673352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167335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51960" y="16459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one trainer by ID — e.g. GET /trainers/1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164592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1911096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191109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" y="191109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/trainers/specialization/{spec}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66160" y="1938528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193852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251960" y="191109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trainers by specialization — e.g. /trainers/specialization/Weight Loss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1911096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2176272"/>
            <a:ext cx="502920" cy="256032"/>
          </a:xfrm>
          <a:prstGeom prst="rect">
            <a:avLst/>
          </a:prstGeom>
          <a:solidFill>
            <a:srgbClr val="FDE8CC"/>
          </a:solidFill>
          <a:ln w="12700">
            <a:solidFill>
              <a:srgbClr val="7A3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217627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3B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" y="217627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/trainers/{id}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566160" y="2203704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220370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251960" y="217627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trainer profile  |  Body: { name, phone, specialization, experienceYears }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2176272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2441448"/>
            <a:ext cx="502920" cy="256032"/>
          </a:xfrm>
          <a:prstGeom prst="rect">
            <a:avLst/>
          </a:prstGeom>
          <a:solidFill>
            <a:srgbClr val="FDE8E8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244144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C1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DELETE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7240" y="24414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/trainers/{id}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66160" y="2468880"/>
            <a:ext cx="640080" cy="201168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2468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251960" y="244144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Soft-deactivate trainer — sets status=INACTIVE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8600" y="2441448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2706624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27066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7240" y="270662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/trainers/schedule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566160" y="2734056"/>
            <a:ext cx="640080" cy="201168"/>
          </a:xfrm>
          <a:prstGeom prst="rect">
            <a:avLst/>
          </a:prstGeom>
          <a:solidFill>
            <a:srgbClr val="FDE8CC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0" y="273405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4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251960" y="270662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schedule slot  |  Body: { trainerId, dayOfWeek, startTime, endTime }  |  auto: available=true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28600" y="2706624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8600" y="2971800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" y="297180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77240" y="29718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/trainers/{id}/available-slots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566160" y="2999232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66160" y="299923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251960" y="297180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only open (available=true) slots for a trainer — use before booking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28600" y="297180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8600" y="3236976"/>
            <a:ext cx="502920" cy="256032"/>
          </a:xfrm>
          <a:prstGeom prst="rect">
            <a:avLst/>
          </a:prstGeom>
          <a:solidFill>
            <a:srgbClr val="FDE8CC"/>
          </a:solidFill>
          <a:ln w="12700">
            <a:solidFill>
              <a:srgbClr val="7A3B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" y="323697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3B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77240" y="32369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/trainers/schedule/{id}/book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566160" y="3264408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66160" y="326440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251960" y="323697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 a slot as booked (available=false) — called after creating a booking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28600" y="3236976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8600" y="3520440"/>
            <a:ext cx="8686800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3520440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Service — /plans/**   (Port 8084)   Membership Plans + Member Subscriptions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28600" y="3822192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382219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77240" y="382219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/plans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566160" y="3849624"/>
            <a:ext cx="640080" cy="201168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66160" y="384962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251960" y="382219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plan  |  Body: { planName, description, durationType, price }  |  MONTHLY=30d QUARTERLY=90d YEARLY=365d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28600" y="3822192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28600" y="4059936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" y="405993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77240" y="405993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/plans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566160" y="4087368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566160" y="408736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251960" y="405993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all active plans — members browse this before subscribing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28600" y="4059936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8600" y="4297680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" y="429768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77240" y="42976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/plans/subscribe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566160" y="4325112"/>
            <a:ext cx="640080" cy="201168"/>
          </a:xfrm>
          <a:prstGeom prst="rect">
            <a:avLst/>
          </a:prstGeom>
          <a:solidFill>
            <a:srgbClr val="D4EDD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66160" y="432511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4251960" y="429768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Subscribe  |  Params: memberId, memberEmail, planId  |  Auto-sets startDate + endDate + status=ACTIVE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28600" y="429768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28600" y="4535424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28600" y="45354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77240" y="453542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/plans/my/{memberId}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566160" y="4562856"/>
            <a:ext cx="640080" cy="201168"/>
          </a:xfrm>
          <a:prstGeom prst="rect">
            <a:avLst/>
          </a:prstGeom>
          <a:solidFill>
            <a:srgbClr val="D4EDD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66160" y="456285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251960" y="453542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all subscriptions for a member — e.g. GET /plans/my/1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28600" y="4535424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8600" y="4773168"/>
            <a:ext cx="502920" cy="256032"/>
          </a:xfrm>
          <a:prstGeom prst="rect">
            <a:avLst/>
          </a:prstGeom>
          <a:solidFill>
            <a:srgbClr val="FDE8E8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28600" y="4773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C1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DELETE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777240" y="47731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/plans/subscription/{id}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566160" y="4800600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566160" y="480060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4251960" y="477316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 a subscription — sets status=CANCELLED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28600" y="4773168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Operations — Booking · Payment · Notification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8686800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77240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Service — /bookings/**   (Port 8085)   Session Booking + Email Notification via Feign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078992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07899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107899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/bookings/create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0" y="1106424"/>
            <a:ext cx="640080" cy="201168"/>
          </a:xfrm>
          <a:prstGeom prst="rect">
            <a:avLst/>
          </a:prstGeom>
          <a:solidFill>
            <a:srgbClr val="D4EDD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10642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51960" y="107899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a session  |  Body: { memberId, memberEmail, trainerId, trainerEmail, scheduleId, sessionDay, sessionTime, notes }  |  status=CONFIRMED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344168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3441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" y="13441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/bookings/{id}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66160" y="1371600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37160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51960" y="134416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one booking by ID — returns full booking details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1344168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1609344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60934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160934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/bookings/member/{id}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66160" y="1636776"/>
            <a:ext cx="640080" cy="201168"/>
          </a:xfrm>
          <a:prstGeom prst="rect">
            <a:avLst/>
          </a:prstGeom>
          <a:solidFill>
            <a:srgbClr val="D4EDD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163677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51960" y="160934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bookings for a member — e.g. GET /bookings/member/1  |  Member sees own history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1609344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1874520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18745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" y="18745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/bookings/trainer/{id}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66160" y="1901952"/>
            <a:ext cx="640080" cy="201168"/>
          </a:xfrm>
          <a:prstGeom prst="rect">
            <a:avLst/>
          </a:prstGeom>
          <a:solidFill>
            <a:srgbClr val="FDE8CC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190195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4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251960" y="18745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bookings assigned to a trainer — e.g. GET /bookings/trainer/1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187452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2139696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213969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" y="213969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/bookings/cancel/{id}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566160" y="2167128"/>
            <a:ext cx="640080" cy="201168"/>
          </a:xfrm>
          <a:prstGeom prst="rect">
            <a:avLst/>
          </a:prstGeom>
          <a:solidFill>
            <a:srgbClr val="D4EDD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216712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251960" y="213969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 a booking — sets status=CANCELLED, sends cancellation email to member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2139696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2404872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240487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7240" y="240487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/bookings/complete/{id}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66160" y="2432304"/>
            <a:ext cx="640080" cy="201168"/>
          </a:xfrm>
          <a:prstGeom prst="rect">
            <a:avLst/>
          </a:prstGeom>
          <a:solidFill>
            <a:srgbClr val="FDE8CC"/>
          </a:solidFill>
          <a:ln w="12700">
            <a:solidFill>
              <a:srgbClr val="C45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243230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4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251960" y="240487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 session as COMPLETED — only TRAINER or ADMIN can do this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8600" y="2404872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2706624"/>
            <a:ext cx="8686800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2706624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Service — /payments/**   (Port 8087)   Dummy Payment Processing — UPI / Card / QR / Cash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28600" y="3017520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30175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" y="30175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/payments/pay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66160" y="3044952"/>
            <a:ext cx="640080" cy="201168"/>
          </a:xfrm>
          <a:prstGeom prst="rect">
            <a:avLst/>
          </a:prstGeom>
          <a:solidFill>
            <a:srgbClr val="D4EDD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304495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251960" y="30175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payment  |  Body: { memberId, memberEmail, bookingId, amount, paymentMethod, description }  |  Returns TXN-XXXXXXXX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301752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" y="3246120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32461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77240" y="32461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/payments/my/{memberId}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566160" y="3273552"/>
            <a:ext cx="640080" cy="201168"/>
          </a:xfrm>
          <a:prstGeom prst="rect">
            <a:avLst/>
          </a:prstGeom>
          <a:solidFill>
            <a:srgbClr val="D4EDD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66160" y="327355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251960" y="32461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payment history — all payments made by this member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28600" y="324612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8600" y="3474720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" y="34747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77240" y="34747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/payments/{id}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566160" y="3502152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66160" y="350215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251960" y="34747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one payment by its database ID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28600" y="347472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8600" y="3703320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37033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77240" y="37033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/payments/txn/{txnId}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566160" y="3730752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66160" y="373075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251960" y="3703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payment by transaction ID — e.g. GET /payments/txn/TXN-A1B2C3D4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28600" y="370332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28600" y="3931920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" y="39319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77240" y="39319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/payments/booking/{id}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566160" y="3959352"/>
            <a:ext cx="640080" cy="201168"/>
          </a:xfrm>
          <a:prstGeom prst="rect">
            <a:avLst/>
          </a:prstGeom>
          <a:solidFill>
            <a:srgbClr val="EEF2F7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566160" y="395935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251960" y="39319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payment linked to a booking — e.g. GET /payments/booking/1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28600" y="393192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8600" y="4160520"/>
            <a:ext cx="502920" cy="256032"/>
          </a:xfrm>
          <a:prstGeom prst="rect">
            <a:avLst/>
          </a:prstGeom>
          <a:solidFill>
            <a:srgbClr val="D6E8F9"/>
          </a:solidFill>
          <a:ln w="12700">
            <a:solidFill>
              <a:srgbClr val="1550A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" y="41605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0A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77240" y="41605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/payments/refund/{id}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566160" y="4187952"/>
            <a:ext cx="640080" cy="201168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66160" y="418795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4251960" y="41605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Refund a payment — sets status=REFUNDED, sends refund email to member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28600" y="416052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28600" y="4389120"/>
            <a:ext cx="502920" cy="256032"/>
          </a:xfrm>
          <a:prstGeom prst="rect">
            <a:avLst/>
          </a:prstGeom>
          <a:solidFill>
            <a:srgbClr val="D4EDD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28600" y="43891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77240" y="43891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/payments/all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566160" y="4416552"/>
            <a:ext cx="640080" cy="201168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66160" y="441655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251960" y="43891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all payments in the system — admin financial overview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28600" y="4389120"/>
            <a:ext cx="8686800" cy="0"/>
          </a:xfrm>
          <a:prstGeom prst="line">
            <a:avLst/>
          </a:prstGeom>
          <a:noFill/>
          <a:ln w="12700">
            <a:solidFill>
              <a:srgbClr val="C5D0D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8600" y="4645152"/>
            <a:ext cx="868680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4654296"/>
            <a:ext cx="8503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4C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— /notify/send?email=x&amp;subject=y&amp;message=z   (Port 8086)   Called automatically by booking-service and payment-service via OpenFeign — you don't call this directly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208483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777240"/>
            <a:ext cx="20848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24712"/>
            <a:ext cx="2084832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24712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124712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17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545336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545336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1545336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965960"/>
            <a:ext cx="2084832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965960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196596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Security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386584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386584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386584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Data JPA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807208"/>
            <a:ext cx="2084832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807208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807208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Hibernate ORM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227832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227832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227832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Lombok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23160" y="777240"/>
            <a:ext cx="208483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777240"/>
            <a:ext cx="20848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Cloud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1124712"/>
            <a:ext cx="2084832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3160" y="1124712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2888" y="1124712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Eureka Server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3160" y="1545336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1545336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2888" y="1545336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Cloud Gateway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23160" y="1965960"/>
            <a:ext cx="2084832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1965960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32888" y="196596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OpenFeign Client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23160" y="2386584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2386584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32888" y="2386584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Balancer (Ribbon)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777240"/>
            <a:ext cx="208483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777240"/>
            <a:ext cx="20848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17720" y="1124712"/>
            <a:ext cx="2084832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1124712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27448" y="1124712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(per service)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17720" y="1545336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1545336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27448" y="1545336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separate databases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17720" y="1965960"/>
            <a:ext cx="2084832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17720" y="1965960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196596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DB-per-Service pattern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17720" y="2386584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7720" y="2386584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27448" y="2386584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H2 (unit testing)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12280" y="777240"/>
            <a:ext cx="208483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12280" y="777240"/>
            <a:ext cx="20848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&amp; Docs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12280" y="1124712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22008" y="1124712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12280" y="1545336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12280" y="1545336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22008" y="1545336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Postman testing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12280" y="1965960"/>
            <a:ext cx="2084832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12280" y="1965960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22008" y="196596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build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812280" y="2386584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12280" y="2386584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22008" y="2386584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Eclipse IDE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812280" y="2807208"/>
            <a:ext cx="2084832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12280" y="2807208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22008" y="2807208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BCrypt passwords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812280" y="3227832"/>
            <a:ext cx="20848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0D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12280" y="3227832"/>
            <a:ext cx="54864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22008" y="3227832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(jjwt 0.11.5)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28600" y="4407408"/>
            <a:ext cx="8686800" cy="384048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8600" y="44074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Pattern: DB-per-Service  |  Security: JWT (24h expiry, BCrypt passwords)  |  Auth: Role-based (ADMIN / TRAINER / MEMBER)  |  Docs: Swagger UI  |  Methodology: Agile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to Run &amp; Test GymPro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91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 |  Shreyas V  |  Gym Membership &amp; Trainer Management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804672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— Startup Order (must follow this order)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170432"/>
            <a:ext cx="237744" cy="23774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7043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115568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Eureka Server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48840" y="1115568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:8761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111556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spring-boot:run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1517904"/>
            <a:ext cx="237744" cy="23774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51790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1463040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146304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:8080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146304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spring-boot:run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865376"/>
            <a:ext cx="237744" cy="23774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8653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1810512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Service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48840" y="181051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:8081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51760" y="1810512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spring-boot:run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212848"/>
            <a:ext cx="237744" cy="23774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2128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2157984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Service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48840" y="2157984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:8082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51760" y="215798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spring-boot:run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560320"/>
            <a:ext cx="237744" cy="23774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56032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2505456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 Service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48840" y="2505456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:8083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51760" y="2505456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spring-boot:run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1170432"/>
            <a:ext cx="237744" cy="23774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17043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1115568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Service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20840" y="1115568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:8084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23760" y="111556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spring-boot:run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1517904"/>
            <a:ext cx="237744" cy="23774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51790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74920" y="1463040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Service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20840" y="146304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:8085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23760" y="146304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spring-boot:run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1865376"/>
            <a:ext cx="237744" cy="23774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18653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74920" y="1810512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Service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20840" y="181051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:8087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23760" y="1810512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spring-boot:run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00600" y="2212848"/>
            <a:ext cx="237744" cy="23774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22128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74920" y="2157984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Service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720840" y="2157984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:8086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223760" y="2157984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mvn spring-boot:run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28600" y="2942590"/>
            <a:ext cx="8686800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55" name="Text 53"/>
          <p:cNvSpPr/>
          <p:nvPr/>
        </p:nvSpPr>
        <p:spPr>
          <a:xfrm>
            <a:off x="274320" y="2929255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— Postman Test Sequence  (Base URL: http://localhost:8080)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6032" y="3249295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420624" y="3231007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/auth/register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286000" y="3231007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admin, trainer, member  |  body: { name, email, password, role }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56032" y="3413887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420624" y="3395599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/auth/login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286000" y="3395599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as ADMIN → copy token → paste in Authorization: Bearer &lt;token&gt;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56032" y="3578479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20624" y="3560191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/trainers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286000" y="3560191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trainer (ADMIN token)  |  then POST /trainers/schedule to add slots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20624" y="3724783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/plans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2286000" y="3724783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Monthly/Quarterly/Yearly plan  |  then GET /plans to verify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20624" y="3889375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/members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286000" y="3889375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member profile  |  POST /plans/subscribe to subscribe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20624" y="4053967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/bookings/create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286000" y="4053967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session (MEMBER token)  |  email auto-sent to member + trainer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20624" y="4218559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/payments/pay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286000" y="4218559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for booking (method: UPI/CREDIT_CARD/QR_CODE)  |  get TXN-XXXXXX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20624" y="4383151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MySQL Verify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2286000" y="4383151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SELECT queries in MySQL Workbench to confirm every operation in DB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28600" y="5010912"/>
            <a:ext cx="8686800" cy="91440"/>
          </a:xfrm>
          <a:prstGeom prst="rect">
            <a:avLst/>
          </a:prstGeom>
          <a:solidFill>
            <a:srgbClr val="D6E8F9"/>
          </a:solidFill>
          <a:ln w="12700">
            <a:solidFill>
              <a:srgbClr val="D6E8F9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046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28016" cy="41148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560320" y="2103120"/>
            <a:ext cx="402336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6F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GymPro — Gym Membership &amp; Trainer Management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Shreyas V  |  Microservices  |  Spring Boot 3.x  |  Spring Cloud  |  Java 17  |  MySQL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3154680"/>
            <a:ext cx="2240280" cy="329184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54680"/>
            <a:ext cx="2240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Microservices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3154680"/>
            <a:ext cx="2240280" cy="329184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154680"/>
            <a:ext cx="2240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Role-Based Auth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3154680"/>
            <a:ext cx="2240280" cy="329184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3154680"/>
            <a:ext cx="2240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OpenFeign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611880"/>
            <a:ext cx="2240280" cy="329184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11880"/>
            <a:ext cx="2240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Eureka Discovery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3611880"/>
            <a:ext cx="2240280" cy="329184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611880"/>
            <a:ext cx="2240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DB-per-Service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611880"/>
            <a:ext cx="2240280" cy="329184"/>
          </a:xfrm>
          <a:prstGeom prst="rect">
            <a:avLst/>
          </a:prstGeom>
          <a:solidFill>
            <a:srgbClr val="D6E8F9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3611880"/>
            <a:ext cx="2240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Swagger Docs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13340</Words>
  <Application>WPS Presentation</Application>
  <PresentationFormat>On-screen Show (16:9)</PresentationFormat>
  <Paragraphs>1093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GymPro — Gym Membership &amp; Trainer Management System</dc:title>
  <dc:creator>Shreyas V</dc:creator>
  <dc:subject>PptxGenJS Presentation</dc:subject>
  <cp:lastModifiedBy>shrey</cp:lastModifiedBy>
  <cp:revision>2</cp:revision>
  <dcterms:created xsi:type="dcterms:W3CDTF">2026-04-06T03:46:00Z</dcterms:created>
  <dcterms:modified xsi:type="dcterms:W3CDTF">2026-04-06T03:52:55Z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0E636A5DE1A54E3C9E5535D8D87510FB_12</vt:lpwstr>
  </property>
  <property fmtid="{D5CDD505-2E9C-101B-9397-08002B2CF9AE}" pid="3" name="KSOProductBuildVer">
    <vt:lpwstr>2057-12.2.0.23197</vt:lpwstr>
  </property>
</Properties>
</file>