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Introduce yourself, your academic background, and that GymPro is a Capgemini-assigned case study built as a production-grade Spring Boot microservices platform — 9 backend services, a React frontend, RabbitMQ messaging, and a Gemini-powered chatbot, all built and run locally without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problem framing, architecture, the five core business flows, database and security design, all five mandatory UML diagrams, then engineering depth — challenges solved, patterns used, and testing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GymPro connects Members, Trainers, and Admins in one platform — role stored on the User entity in auth-service as MEMBER, TRAINER, or ADMIN, embedded in the JWT and enforced at both gateway and frontend routing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the concrete pain points GymPro was designed against — each maps directly to a GymPro module: booking-service replaces phone-call scheduling, payment-service with Razorpay replaces cash tracking, notification-service replaces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Non-functional requirements are directly evidenced in the code: RabbitMQConfig sets up dead-letter exchanges with a 3-retry interceptor, every service has its own SecurityConfig and OpenApiConfig, and the project was recently migrated off Docker to run natively on localhost ports 8080-8088 plus Eureka on 8761.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directly from the pom.xml files: Spring Boot 3.2.5, Java 17, Spring Cloud 2023.0.1 across every service. The frontend package.json shows React 18.3.1, Redux Toolkit 2.12, and Axios 1.7.2. The chatbot's GeminiConfig calls the gemini-2.5-flash generateContent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SPA never talks to services directly — every request goes through the Gateway on port 8080, which validates JWTs and routes via Eureka service discovery using lb:// URIs. Seven services own a MySQL schema; RabbitMQ decouples booking/payment/auth from notification delivery; Gemini and Razorpay are the two external third-party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@SpringBootApplication module in the repo. Booking-service is the most connected — it calls plan-service to check free-session eligibility, trainer-service for fee and schedule, auth-service for admin broadcast IDs, and publishes to RabbitMQ for notifications, all confirmed in BookingService.java's autowired Feign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ten-package structure repeats across auth, booking, member, trainer, plan, notification, and payment services — verified directly from the source tree. Not every service has every package: member-service, for instance, has no feign or messaging package since it doesn't call other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distinct paths: login itself bypasses JWT checking (it's in PUBLIC_URLS), while every other request is validated once at the gateway by JwtAuthFilter — a GlobalFilter with Ordered.getOrder()=-1, so it runs before all other gateway filters. It re-signs nothing; it just forwards trusted identity headers downstream, and every downstream SecurityConfig permits all because it trusts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BookingService.createBooking() verbatim: the free-vs-paid decision is made entirely on the backend by calling plan-service's free-session-check endpoint — the frontend cannot force a free session by tampering with the request. Trainer fees are similarly fetched server-side from trainer-service, never trusted from the client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PaymentController exposes /create-order and /pay as two separate calls, matching Razorpay's standard client-side checkout pattern. RazorpayService.createOrder() throws a clear PaymentException if Razorpay isn't configured, and suggests falling back to UPI/CASH for testing — that's a real safeguard in the code, not a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topology from RabbitMQConfig, mirrored identically in every producer and consumer service so RabbitMQ can idempotently reconcile the declarations on startup. Every consumed event does two independent things — email via EmailService and an in-app row via InAppNotificationService — and I fixed a real deduplication bug here using a unique constraint on (userId, eventType, referenceId).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recent and significant piece of work: migrating this service from Groq/OpenAI to Google Gemini, updating ChatbotService, GeminiConfig, and application.properties. GeminiConfig defines two RestTemplate beans with different timeouts — a 10s/30s tuned one for Gemini's latency and a tighter 5s/10s one for internal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owned schemas, confirmed by each entity's @Table annotation and each service's application.properties datasource URL. Cross-service data needs (e.g. booking-service needing a trainer's fee) go through Feign REST calls, never direct database joins — a strict microservices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decision here: JWT validation happens exactly once, at the gateway. Every downstream microservice's SecurityConfig permits all authenticated traffic because it implicitly trusts the network boundary — the gateway is the sole entry point and the only component holding the JWT secret consumer role at that layer, alongside auth-service which issues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reliability-engineered part of the codebase. I audited the RabbitMQ topology recently and confirmed plan-service is a deliberate architectural outlier — it uses Feign instead of the message queue, which is a design trade-off worth defending: plan subscription emails are synchronous business confirmations, less latency-tolerant than async booking/payment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Gateway runs on port 8080 — the only port the frontend ever calls. All 25 routes are declared in application.properties as indexed properties, not a routes.yml or Java RouteLocator bean, which is a valid and common Spring Cloud Gateway pattern for simpler route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nine other services — including the gateway itself — are Eureka clients. This is what made the Docker removal possible: instead of Docker Compose's internal DNS resolving service hostnames, Eureka now resolves everything to localhost:&lt;port&gt; for local development, with zero code changes to the Feign clients or Gateway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but telling detail: every controller has a /test health-check GET endpoint — a lightweight convention for verifying a service is reachable through the gateway during development and demos, separate from Spring Actuator's /actuator/health.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use case here maps to a real controller endpoint: Book Trainer Session → BookingController /bookings/create, Chat with GymBot → ChatbotController /chatbot/chat (available to all roles since it's a public route), Manage Members/Trainers/Plans → the respective CRUD controllers guarded by ADMIN-only frontend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BookingService.createBooking() exactly — the fork on free-session eligibility is a real decision node evaluated server-side, and the PAID branch's payment sub-flow reflects PaymentController's create-order → pay → signature verification sequence. Both branches converge on the same RabbitMQ publish step before reaching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here is a real call path: step 4 and 5 are BookingService's two Feign calls (PlanServiceClient, TrainerServiceClient); step 15 is RazorpayService's HMAC-SHA256 signature check; step 19 is the SSE stream at GET /notify/inapp/{userId}/stream that the frontend's notification bell subscribes to for live updates without polling.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faithful reduction of the real booking-service package: BookingController depends on BookingService, which is field-injected (@Autowired) with BookingRepository plus three Feign clients and NotificationPublisher — exactly as declared at the top of BookingService.java. BookingRepository extends JpaRepository&lt;Booking, Long&gt;, and Booking is the @Entity mapped to the bookings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each service owns its own MySQL schema, these are logical relationships enforced in application code (Feign lookups by ID/email), not physical cross-database foreign keys — a direct consequence of the database-per-service pattern. Omitted here for space: otp_entries (auth_db), member_free_session_usage (plan_db), and in_app_notifications (notification_db), which follow the same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generic lifecycle applies to every endpoint in the system — the LoggingAspect (an @Around advice on controller/service/util layers) times and logs each call, masking sensitive fields like passwords and tokens before writing to the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is a real bug or migration I personally worked through in this codebase — not hypothetical case-study filler. The notification deduplication fix in particular required understanding Lombok's boolean getter naming (isRead → not getRead), a subtle Java gotcha.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retrofitted labels — they're patterns naturally present in idiomatic Spring Boot code. Worth highlighting Publisher-Subscriber and Chain of Responsibility specifically, since they're the two patterns doing the most architectural work: decoupling notification delivery and centralizing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real test classes confirmed in the repository's src/test trees, spanning auth, booking, member, plan, trainer, payment, and notification services — every service that carries meaningful business logic has controller-level, service-level, and model/exception-level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explicitly not yet implemented — an honest roadmap, not a claim about current capability. The most immediate next step given the recent Docker removal is actually CI/CD: get local-dev confidence automated before reintroducing containers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reiterating that every number on this slide was pulled directly from the codebase — nine @SpringBootApplication modules, seven owned MySQL schemas, three RabbitMQ queues each with a matching DLQ, 31 test classes, 25 gateway routes, and the five UML diagrams just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Be ready to go deeper on: the free-session decision logic in BookingService, the RabbitMQ DLQ/retry design, the JWT gateway filter, or any of the five UML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slideLayout" Target="../slideLayouts/slideLayout1.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2345F"/>
          </a:solidFill>
          <a:ln/>
        </p:spPr>
      </p:sp>
      <p:sp>
        <p:nvSpPr>
          <p:cNvPr id="3" name="Shape 1"/>
          <p:cNvSpPr/>
          <p:nvPr/>
        </p:nvSpPr>
        <p:spPr>
          <a:xfrm>
            <a:off x="10241280" y="3840480"/>
            <a:ext cx="3840480" cy="3840480"/>
          </a:xfrm>
          <a:prstGeom prst="ellipse">
            <a:avLst/>
          </a:prstGeom>
          <a:solidFill>
            <a:srgbClr val="1B4F91"/>
          </a:solidFill>
          <a:ln/>
        </p:spPr>
      </p:sp>
      <p:sp>
        <p:nvSpPr>
          <p:cNvPr id="4" name="Shape 2"/>
          <p:cNvSpPr/>
          <p:nvPr/>
        </p:nvSpPr>
        <p:spPr>
          <a:xfrm>
            <a:off x="-1463040" y="5120640"/>
            <a:ext cx="3291840" cy="3291840"/>
          </a:xfrm>
          <a:prstGeom prst="ellipse">
            <a:avLst/>
          </a:prstGeom>
          <a:solidFill>
            <a:srgbClr val="12345F"/>
          </a:solidFill>
          <a:ln/>
        </p:spPr>
      </p:sp>
      <p:sp>
        <p:nvSpPr>
          <p:cNvPr id="5" name="Shape 3"/>
          <p:cNvSpPr/>
          <p:nvPr/>
        </p:nvSpPr>
        <p:spPr>
          <a:xfrm>
            <a:off x="822960" y="685800"/>
            <a:ext cx="868680" cy="868680"/>
          </a:xfrm>
          <a:prstGeom prst="ellipse">
            <a:avLst/>
          </a:prstGeom>
          <a:solidFill>
            <a:srgbClr val="1B4F91"/>
          </a:solidFill>
          <a:ln/>
        </p:spPr>
      </p:sp>
      <p:pic>
        <p:nvPicPr>
          <p:cNvPr id="6" name="Image 0" descr="preencoded.png">    </p:cNvPr>
          <p:cNvPicPr>
            <a:picLocks noChangeAspect="1"/>
          </p:cNvPicPr>
          <p:nvPr/>
        </p:nvPicPr>
        <p:blipFill>
          <a:blip r:embed="rId1"/>
          <a:stretch>
            <a:fillRect/>
          </a:stretch>
        </p:blipFill>
        <p:spPr>
          <a:xfrm>
            <a:off x="1048817" y="911657"/>
            <a:ext cx="416966" cy="416966"/>
          </a:xfrm>
          <a:prstGeom prst="rect">
            <a:avLst/>
          </a:prstGeom>
        </p:spPr>
      </p:pic>
      <p:sp>
        <p:nvSpPr>
          <p:cNvPr id="7" name="Text 4"/>
          <p:cNvSpPr/>
          <p:nvPr/>
        </p:nvSpPr>
        <p:spPr>
          <a:xfrm>
            <a:off x="822960" y="1965960"/>
            <a:ext cx="7315200" cy="320040"/>
          </a:xfrm>
          <a:prstGeom prst="rect">
            <a:avLst/>
          </a:prstGeom>
          <a:noFill/>
          <a:ln/>
        </p:spPr>
        <p:txBody>
          <a:bodyPr wrap="square" lIns="0" tIns="0" rIns="0" bIns="0" rtlCol="0" anchor="ctr"/>
          <a:lstStyle/>
          <a:p>
            <a:pPr indent="0" marL="0">
              <a:buNone/>
            </a:pPr>
            <a:r>
              <a:rPr lang="en-US" sz="1300" b="1" spc="300" kern="0" dirty="0">
                <a:solidFill>
                  <a:srgbClr val="00A9E0"/>
                </a:solidFill>
                <a:latin typeface="Calibri" pitchFamily="34" charset="0"/>
                <a:ea typeface="Calibri" pitchFamily="34" charset="-122"/>
                <a:cs typeface="Calibri" pitchFamily="34" charset="-120"/>
              </a:rPr>
              <a:t>CASE STUDY PRESENTATION</a:t>
            </a:r>
            <a:endParaRPr lang="en-US" sz="1300" dirty="0"/>
          </a:p>
        </p:txBody>
      </p:sp>
      <p:sp>
        <p:nvSpPr>
          <p:cNvPr id="8" name="Text 5"/>
          <p:cNvSpPr/>
          <p:nvPr/>
        </p:nvSpPr>
        <p:spPr>
          <a:xfrm>
            <a:off x="777240" y="2286000"/>
            <a:ext cx="9144000" cy="128016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GymPro</a:t>
            </a:r>
            <a:endParaRPr lang="en-US" sz="6600" dirty="0"/>
          </a:p>
        </p:txBody>
      </p:sp>
      <p:sp>
        <p:nvSpPr>
          <p:cNvPr id="9" name="Text 6"/>
          <p:cNvSpPr/>
          <p:nvPr/>
        </p:nvSpPr>
        <p:spPr>
          <a:xfrm>
            <a:off x="822960" y="3429000"/>
            <a:ext cx="9601200" cy="50292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Microservices-Based Gym Management System</a:t>
            </a:r>
            <a:endParaRPr lang="en-US" sz="2000" dirty="0"/>
          </a:p>
        </p:txBody>
      </p:sp>
      <p:sp>
        <p:nvSpPr>
          <p:cNvPr id="10" name="Shape 7"/>
          <p:cNvSpPr/>
          <p:nvPr/>
        </p:nvSpPr>
        <p:spPr>
          <a:xfrm>
            <a:off x="841248" y="4160520"/>
            <a:ext cx="2926080" cy="0"/>
          </a:xfrm>
          <a:prstGeom prst="line">
            <a:avLst/>
          </a:prstGeom>
          <a:noFill/>
          <a:ln w="12700">
            <a:solidFill>
              <a:srgbClr val="2E5FA3"/>
            </a:solidFill>
            <a:prstDash val="solid"/>
          </a:ln>
        </p:spPr>
      </p:sp>
      <p:sp>
        <p:nvSpPr>
          <p:cNvPr id="11" name="Text 8"/>
          <p:cNvSpPr/>
          <p:nvPr/>
        </p:nvSpPr>
        <p:spPr>
          <a:xfrm>
            <a:off x="822960" y="4434840"/>
            <a:ext cx="7315200" cy="320040"/>
          </a:xfrm>
          <a:prstGeom prst="rect">
            <a:avLst/>
          </a:prstGeom>
          <a:noFill/>
          <a:ln/>
        </p:spPr>
        <p:txBody>
          <a:bodyPr wrap="square" lIns="0" tIns="0" rIns="0" bIns="0" rtlCol="0" anchor="ctr"/>
          <a:lstStyle/>
          <a:p>
            <a:pPr indent="0" marL="0">
              <a:buNone/>
            </a:pPr>
            <a:r>
              <a:rPr lang="en-US" sz="1400" b="1" dirty="0">
                <a:solidFill>
                  <a:srgbClr val="00A9E0"/>
                </a:solidFill>
                <a:latin typeface="Calibri" pitchFamily="34" charset="0"/>
                <a:ea typeface="Calibri" pitchFamily="34" charset="-122"/>
                <a:cs typeface="Calibri" pitchFamily="34" charset="-120"/>
              </a:rPr>
              <a:t>Prepared By   </a:t>
            </a:r>
            <a:pPr indent="0" marL="0">
              <a:buNone/>
            </a:pPr>
            <a:r>
              <a:rPr lang="en-US" sz="1400" dirty="0">
                <a:solidFill>
                  <a:srgbClr val="FFFFFF"/>
                </a:solidFill>
                <a:latin typeface="Calibri" pitchFamily="34" charset="0"/>
                <a:ea typeface="Calibri" pitchFamily="34" charset="-122"/>
                <a:cs typeface="Calibri" pitchFamily="34" charset="-120"/>
              </a:rPr>
              <a:t>Shreyas</a:t>
            </a:r>
            <a:endParaRPr lang="en-US" sz="1400" dirty="0"/>
          </a:p>
        </p:txBody>
      </p:sp>
      <p:sp>
        <p:nvSpPr>
          <p:cNvPr id="12" name="Text 9"/>
          <p:cNvSpPr/>
          <p:nvPr/>
        </p:nvSpPr>
        <p:spPr>
          <a:xfrm>
            <a:off x="822960" y="4773168"/>
            <a:ext cx="9144000" cy="320040"/>
          </a:xfrm>
          <a:prstGeom prst="rect">
            <a:avLst/>
          </a:prstGeom>
          <a:noFill/>
          <a:ln/>
        </p:spPr>
        <p:txBody>
          <a:bodyPr wrap="square" lIns="0" tIns="0" rIns="0" bIns="0" rtlCol="0" anchor="ctr"/>
          <a:lstStyle/>
          <a:p>
            <a:pPr indent="0" marL="0">
              <a:buNone/>
            </a:pPr>
            <a:r>
              <a:rPr lang="en-US" sz="1400" b="1" dirty="0">
                <a:solidFill>
                  <a:srgbClr val="00A9E0"/>
                </a:solidFill>
                <a:latin typeface="Calibri" pitchFamily="34" charset="0"/>
                <a:ea typeface="Calibri" pitchFamily="34" charset="-122"/>
                <a:cs typeface="Calibri" pitchFamily="34" charset="-120"/>
              </a:rPr>
              <a:t>University      </a:t>
            </a:r>
            <a:pPr indent="0" marL="0">
              <a:buNone/>
            </a:pPr>
            <a:r>
              <a:rPr lang="en-US" sz="1400" dirty="0">
                <a:solidFill>
                  <a:srgbClr val="FFFFFF"/>
                </a:solidFill>
                <a:latin typeface="Calibri" pitchFamily="34" charset="0"/>
                <a:ea typeface="Calibri" pitchFamily="34" charset="-122"/>
                <a:cs typeface="Calibri" pitchFamily="34" charset="-120"/>
              </a:rPr>
              <a:t>Presidency University, Bengaluru — B.E. CSE (Data Science)</a:t>
            </a:r>
            <a:endParaRPr lang="en-US" sz="1400" dirty="0"/>
          </a:p>
        </p:txBody>
      </p:sp>
      <p:sp>
        <p:nvSpPr>
          <p:cNvPr id="13" name="Text 10"/>
          <p:cNvSpPr/>
          <p:nvPr/>
        </p:nvSpPr>
        <p:spPr>
          <a:xfrm>
            <a:off x="822960" y="5111496"/>
            <a:ext cx="10058400" cy="320040"/>
          </a:xfrm>
          <a:prstGeom prst="rect">
            <a:avLst/>
          </a:prstGeom>
          <a:noFill/>
          <a:ln/>
        </p:spPr>
        <p:txBody>
          <a:bodyPr wrap="square" lIns="0" tIns="0" rIns="0" bIns="0" rtlCol="0" anchor="ctr"/>
          <a:lstStyle/>
          <a:p>
            <a:pPr indent="0" marL="0">
              <a:buNone/>
            </a:pPr>
            <a:r>
              <a:rPr lang="en-US" sz="1400" b="1" dirty="0">
                <a:solidFill>
                  <a:srgbClr val="00A9E0"/>
                </a:solidFill>
                <a:latin typeface="Calibri" pitchFamily="34" charset="0"/>
                <a:ea typeface="Calibri" pitchFamily="34" charset="-122"/>
                <a:cs typeface="Calibri" pitchFamily="34" charset="-120"/>
              </a:rPr>
              <a:t>Company        </a:t>
            </a:r>
            <a:pPr indent="0" marL="0">
              <a:buNone/>
            </a:pPr>
            <a:r>
              <a:rPr lang="en-US" sz="1400" dirty="0">
                <a:solidFill>
                  <a:srgbClr val="FFFFFF"/>
                </a:solidFill>
                <a:latin typeface="Calibri" pitchFamily="34" charset="0"/>
                <a:ea typeface="Calibri" pitchFamily="34" charset="-122"/>
                <a:cs typeface="Calibri" pitchFamily="34" charset="-120"/>
              </a:rPr>
              <a:t>Capgemini Technology Services India Ltd. — Case Study (Tekstac)</a:t>
            </a:r>
            <a:endParaRPr lang="en-US" sz="1400" dirty="0"/>
          </a:p>
        </p:txBody>
      </p:sp>
      <p:sp>
        <p:nvSpPr>
          <p:cNvPr id="14" name="Text 11"/>
          <p:cNvSpPr/>
          <p:nvPr/>
        </p:nvSpPr>
        <p:spPr>
          <a:xfrm>
            <a:off x="822960" y="5449824"/>
            <a:ext cx="7315200" cy="320040"/>
          </a:xfrm>
          <a:prstGeom prst="rect">
            <a:avLst/>
          </a:prstGeom>
          <a:noFill/>
          <a:ln/>
        </p:spPr>
        <p:txBody>
          <a:bodyPr wrap="square" lIns="0" tIns="0" rIns="0" bIns="0" rtlCol="0" anchor="ctr"/>
          <a:lstStyle/>
          <a:p>
            <a:pPr indent="0" marL="0">
              <a:buNone/>
            </a:pPr>
            <a:r>
              <a:rPr lang="en-US" sz="1400" b="1" dirty="0">
                <a:solidFill>
                  <a:srgbClr val="00A9E0"/>
                </a:solidFill>
                <a:latin typeface="Calibri" pitchFamily="34" charset="0"/>
                <a:ea typeface="Calibri" pitchFamily="34" charset="-122"/>
                <a:cs typeface="Calibri" pitchFamily="34" charset="-120"/>
              </a:rPr>
              <a:t>Date              </a:t>
            </a:r>
            <a:pPr indent="0" marL="0">
              <a:buNone/>
            </a:pPr>
            <a:r>
              <a:rPr lang="en-US" sz="1400" dirty="0">
                <a:solidFill>
                  <a:srgbClr val="FFFFFF"/>
                </a:solidFill>
                <a:latin typeface="Calibri" pitchFamily="34" charset="0"/>
                <a:ea typeface="Calibri" pitchFamily="34" charset="-122"/>
                <a:cs typeface="Calibri" pitchFamily="34" charset="-120"/>
              </a:rPr>
              <a:t>Evaluation Presentation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2545"/>
          </a:solidFill>
          <a:ln/>
        </p:spPr>
      </p:sp>
      <p:sp>
        <p:nvSpPr>
          <p:cNvPr id="3" name="Text 1"/>
          <p:cNvSpPr/>
          <p:nvPr/>
        </p:nvSpPr>
        <p:spPr>
          <a:xfrm>
            <a:off x="502920" y="640080"/>
            <a:ext cx="3291840" cy="365760"/>
          </a:xfrm>
          <a:prstGeom prst="rect">
            <a:avLst/>
          </a:prstGeom>
          <a:noFill/>
          <a:ln/>
        </p:spPr>
        <p:txBody>
          <a:bodyPr wrap="square" lIns="0" tIns="0" rIns="0" bIns="0" rtlCol="0" anchor="ctr"/>
          <a:lstStyle/>
          <a:p>
            <a:pPr indent="0" marL="0">
              <a:buNone/>
            </a:pPr>
            <a:r>
              <a:rPr lang="en-US" sz="1300" b="1" spc="300" kern="0" dirty="0">
                <a:solidFill>
                  <a:srgbClr val="00A9E0"/>
                </a:solidFill>
                <a:latin typeface="Calibri" pitchFamily="34" charset="0"/>
                <a:ea typeface="Calibri" pitchFamily="34" charset="-122"/>
                <a:cs typeface="Calibri" pitchFamily="34" charset="-120"/>
              </a:rPr>
              <a:t>AGENDA</a:t>
            </a:r>
            <a:endParaRPr lang="en-US" sz="1300" dirty="0"/>
          </a:p>
        </p:txBody>
      </p:sp>
      <p:sp>
        <p:nvSpPr>
          <p:cNvPr id="4" name="Text 2"/>
          <p:cNvSpPr/>
          <p:nvPr/>
        </p:nvSpPr>
        <p:spPr>
          <a:xfrm>
            <a:off x="502920" y="1051560"/>
            <a:ext cx="3383280" cy="15544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We'll</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Cover Today</a:t>
            </a:r>
            <a:endParaRPr lang="en-US" sz="3200" dirty="0"/>
          </a:p>
        </p:txBody>
      </p:sp>
      <p:pic>
        <p:nvPicPr>
          <p:cNvPr id="5" name="Image 0" descr="preencoded.png">    </p:cNvPr>
          <p:cNvPicPr>
            <a:picLocks noChangeAspect="1"/>
          </p:cNvPicPr>
          <p:nvPr/>
        </p:nvPicPr>
        <p:blipFill>
          <a:blip r:embed="rId1">
            <a:alphaModFix amt="85000"/>
          </a:blip>
          <a:stretch>
            <a:fillRect/>
          </a:stretch>
        </p:blipFill>
        <p:spPr>
          <a:xfrm>
            <a:off x="548640" y="5212080"/>
            <a:ext cx="1188720" cy="1188720"/>
          </a:xfrm>
          <a:prstGeom prst="rect">
            <a:avLst/>
          </a:prstGeom>
        </p:spPr>
      </p:pic>
      <p:sp>
        <p:nvSpPr>
          <p:cNvPr id="6" name="Text 3"/>
          <p:cNvSpPr/>
          <p:nvPr/>
        </p:nvSpPr>
        <p:spPr>
          <a:xfrm>
            <a:off x="502920" y="5989320"/>
            <a:ext cx="3383280" cy="640080"/>
          </a:xfrm>
          <a:prstGeom prst="rect">
            <a:avLst/>
          </a:prstGeom>
          <a:noFill/>
          <a:ln/>
        </p:spPr>
        <p:txBody>
          <a:bodyPr wrap="square" lIns="0" tIns="0" rIns="0" bIns="0" rtlCol="0" anchor="ctr"/>
          <a:lstStyle/>
          <a:p>
            <a:pPr indent="0" marL="0">
              <a:buNone/>
            </a:pPr>
            <a:r>
              <a:rPr lang="en-US" sz="1150" i="1" dirty="0">
                <a:solidFill>
                  <a:srgbClr val="AFC3E0"/>
                </a:solidFill>
                <a:latin typeface="Calibri" pitchFamily="34" charset="0"/>
                <a:ea typeface="Calibri" pitchFamily="34" charset="-122"/>
                <a:cs typeface="Calibri" pitchFamily="34" charset="-120"/>
              </a:rPr>
              <a:t>32 slides · code-grounded architecture, security, messaging, and UML diagrams</a:t>
            </a:r>
            <a:endParaRPr lang="en-US" sz="1150" dirty="0"/>
          </a:p>
        </p:txBody>
      </p:sp>
      <p:sp>
        <p:nvSpPr>
          <p:cNvPr id="7" name="Text 4"/>
          <p:cNvSpPr/>
          <p:nvPr/>
        </p:nvSpPr>
        <p:spPr>
          <a:xfrm>
            <a:off x="4572000" y="621792"/>
            <a:ext cx="685800" cy="822960"/>
          </a:xfrm>
          <a:prstGeom prst="rect">
            <a:avLst/>
          </a:prstGeom>
          <a:noFill/>
          <a:ln/>
        </p:spPr>
        <p:txBody>
          <a:bodyPr wrap="square" lIns="0" tIns="0" rIns="0" bIns="0" rtlCol="0" anchor="ctr"/>
          <a:lstStyle/>
          <a:p>
            <a:pPr indent="0" marL="0">
              <a:buNone/>
            </a:pPr>
            <a:r>
              <a:rPr lang="en-US" sz="2600" b="1" dirty="0">
                <a:solidFill>
                  <a:srgbClr val="9FC1E8"/>
                </a:solidFill>
                <a:latin typeface="Cambria" pitchFamily="34" charset="0"/>
                <a:ea typeface="Cambria" pitchFamily="34" charset="-122"/>
                <a:cs typeface="Cambria" pitchFamily="34" charset="-120"/>
              </a:rPr>
              <a:t>01</a:t>
            </a:r>
            <a:endParaRPr lang="en-US" sz="2600" dirty="0"/>
          </a:p>
        </p:txBody>
      </p:sp>
      <p:sp>
        <p:nvSpPr>
          <p:cNvPr id="8" name="Text 5"/>
          <p:cNvSpPr/>
          <p:nvPr/>
        </p:nvSpPr>
        <p:spPr>
          <a:xfrm>
            <a:off x="5257800" y="640080"/>
            <a:ext cx="62179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Problem &amp; Requirements</a:t>
            </a:r>
            <a:endParaRPr lang="en-US" sz="1600" dirty="0"/>
          </a:p>
        </p:txBody>
      </p:sp>
      <p:sp>
        <p:nvSpPr>
          <p:cNvPr id="9" name="Text 6"/>
          <p:cNvSpPr/>
          <p:nvPr/>
        </p:nvSpPr>
        <p:spPr>
          <a:xfrm>
            <a:off x="5257800" y="987552"/>
            <a:ext cx="6217920" cy="36576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Why GymPro exists, functional &amp; non-functional needs</a:t>
            </a:r>
            <a:endParaRPr lang="en-US" sz="1150" dirty="0"/>
          </a:p>
        </p:txBody>
      </p:sp>
      <p:sp>
        <p:nvSpPr>
          <p:cNvPr id="10" name="Shape 7"/>
          <p:cNvSpPr/>
          <p:nvPr/>
        </p:nvSpPr>
        <p:spPr>
          <a:xfrm>
            <a:off x="4572000" y="1554480"/>
            <a:ext cx="6858000" cy="0"/>
          </a:xfrm>
          <a:prstGeom prst="line">
            <a:avLst/>
          </a:prstGeom>
          <a:noFill/>
          <a:ln w="12700">
            <a:solidFill>
              <a:srgbClr val="D7E3F3"/>
            </a:solidFill>
            <a:prstDash val="solid"/>
          </a:ln>
        </p:spPr>
      </p:sp>
      <p:sp>
        <p:nvSpPr>
          <p:cNvPr id="11" name="Text 8"/>
          <p:cNvSpPr/>
          <p:nvPr/>
        </p:nvSpPr>
        <p:spPr>
          <a:xfrm>
            <a:off x="4572000" y="1609344"/>
            <a:ext cx="685800" cy="822960"/>
          </a:xfrm>
          <a:prstGeom prst="rect">
            <a:avLst/>
          </a:prstGeom>
          <a:noFill/>
          <a:ln/>
        </p:spPr>
        <p:txBody>
          <a:bodyPr wrap="square" lIns="0" tIns="0" rIns="0" bIns="0" rtlCol="0" anchor="ctr"/>
          <a:lstStyle/>
          <a:p>
            <a:pPr indent="0" marL="0">
              <a:buNone/>
            </a:pPr>
            <a:r>
              <a:rPr lang="en-US" sz="2600" b="1" dirty="0">
                <a:solidFill>
                  <a:srgbClr val="9FC1E8"/>
                </a:solidFill>
                <a:latin typeface="Cambria" pitchFamily="34" charset="0"/>
                <a:ea typeface="Cambria" pitchFamily="34" charset="-122"/>
                <a:cs typeface="Cambria" pitchFamily="34" charset="-120"/>
              </a:rPr>
              <a:t>02</a:t>
            </a:r>
            <a:endParaRPr lang="en-US" sz="2600" dirty="0"/>
          </a:p>
        </p:txBody>
      </p:sp>
      <p:sp>
        <p:nvSpPr>
          <p:cNvPr id="12" name="Text 9"/>
          <p:cNvSpPr/>
          <p:nvPr/>
        </p:nvSpPr>
        <p:spPr>
          <a:xfrm>
            <a:off x="5257800" y="1627632"/>
            <a:ext cx="62179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Architecture &amp; Tech Stack</a:t>
            </a:r>
            <a:endParaRPr lang="en-US" sz="1600" dirty="0"/>
          </a:p>
        </p:txBody>
      </p:sp>
      <p:sp>
        <p:nvSpPr>
          <p:cNvPr id="13" name="Text 10"/>
          <p:cNvSpPr/>
          <p:nvPr/>
        </p:nvSpPr>
        <p:spPr>
          <a:xfrm>
            <a:off x="5257800" y="1975104"/>
            <a:ext cx="6217920" cy="36576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9 microservices, Gateway, Eureka, RabbitMQ</a:t>
            </a:r>
            <a:endParaRPr lang="en-US" sz="1150" dirty="0"/>
          </a:p>
        </p:txBody>
      </p:sp>
      <p:sp>
        <p:nvSpPr>
          <p:cNvPr id="14" name="Shape 11"/>
          <p:cNvSpPr/>
          <p:nvPr/>
        </p:nvSpPr>
        <p:spPr>
          <a:xfrm>
            <a:off x="4572000" y="2542032"/>
            <a:ext cx="6858000" cy="0"/>
          </a:xfrm>
          <a:prstGeom prst="line">
            <a:avLst/>
          </a:prstGeom>
          <a:noFill/>
          <a:ln w="12700">
            <a:solidFill>
              <a:srgbClr val="D7E3F3"/>
            </a:solidFill>
            <a:prstDash val="solid"/>
          </a:ln>
        </p:spPr>
      </p:sp>
      <p:sp>
        <p:nvSpPr>
          <p:cNvPr id="15" name="Text 12"/>
          <p:cNvSpPr/>
          <p:nvPr/>
        </p:nvSpPr>
        <p:spPr>
          <a:xfrm>
            <a:off x="4572000" y="2596896"/>
            <a:ext cx="685800" cy="822960"/>
          </a:xfrm>
          <a:prstGeom prst="rect">
            <a:avLst/>
          </a:prstGeom>
          <a:noFill/>
          <a:ln/>
        </p:spPr>
        <p:txBody>
          <a:bodyPr wrap="square" lIns="0" tIns="0" rIns="0" bIns="0" rtlCol="0" anchor="ctr"/>
          <a:lstStyle/>
          <a:p>
            <a:pPr indent="0" marL="0">
              <a:buNone/>
            </a:pPr>
            <a:r>
              <a:rPr lang="en-US" sz="2600" b="1" dirty="0">
                <a:solidFill>
                  <a:srgbClr val="9FC1E8"/>
                </a:solidFill>
                <a:latin typeface="Cambria" pitchFamily="34" charset="0"/>
                <a:ea typeface="Cambria" pitchFamily="34" charset="-122"/>
                <a:cs typeface="Cambria" pitchFamily="34" charset="-120"/>
              </a:rPr>
              <a:t>03</a:t>
            </a:r>
            <a:endParaRPr lang="en-US" sz="2600" dirty="0"/>
          </a:p>
        </p:txBody>
      </p:sp>
      <p:sp>
        <p:nvSpPr>
          <p:cNvPr id="16" name="Text 13"/>
          <p:cNvSpPr/>
          <p:nvPr/>
        </p:nvSpPr>
        <p:spPr>
          <a:xfrm>
            <a:off x="5257800" y="2615184"/>
            <a:ext cx="62179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Core Flows</a:t>
            </a:r>
            <a:endParaRPr lang="en-US" sz="1600" dirty="0"/>
          </a:p>
        </p:txBody>
      </p:sp>
      <p:sp>
        <p:nvSpPr>
          <p:cNvPr id="17" name="Text 14"/>
          <p:cNvSpPr/>
          <p:nvPr/>
        </p:nvSpPr>
        <p:spPr>
          <a:xfrm>
            <a:off x="5257800" y="2962656"/>
            <a:ext cx="6217920" cy="36576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Auth, Booking, Payment, Notification, Chatbot</a:t>
            </a:r>
            <a:endParaRPr lang="en-US" sz="1150" dirty="0"/>
          </a:p>
        </p:txBody>
      </p:sp>
      <p:sp>
        <p:nvSpPr>
          <p:cNvPr id="18" name="Shape 15"/>
          <p:cNvSpPr/>
          <p:nvPr/>
        </p:nvSpPr>
        <p:spPr>
          <a:xfrm>
            <a:off x="4572000" y="3529584"/>
            <a:ext cx="6858000" cy="0"/>
          </a:xfrm>
          <a:prstGeom prst="line">
            <a:avLst/>
          </a:prstGeom>
          <a:noFill/>
          <a:ln w="12700">
            <a:solidFill>
              <a:srgbClr val="D7E3F3"/>
            </a:solidFill>
            <a:prstDash val="solid"/>
          </a:ln>
        </p:spPr>
      </p:sp>
      <p:sp>
        <p:nvSpPr>
          <p:cNvPr id="19" name="Text 16"/>
          <p:cNvSpPr/>
          <p:nvPr/>
        </p:nvSpPr>
        <p:spPr>
          <a:xfrm>
            <a:off x="4572000" y="3584448"/>
            <a:ext cx="685800" cy="822960"/>
          </a:xfrm>
          <a:prstGeom prst="rect">
            <a:avLst/>
          </a:prstGeom>
          <a:noFill/>
          <a:ln/>
        </p:spPr>
        <p:txBody>
          <a:bodyPr wrap="square" lIns="0" tIns="0" rIns="0" bIns="0" rtlCol="0" anchor="ctr"/>
          <a:lstStyle/>
          <a:p>
            <a:pPr indent="0" marL="0">
              <a:buNone/>
            </a:pPr>
            <a:r>
              <a:rPr lang="en-US" sz="2600" b="1" dirty="0">
                <a:solidFill>
                  <a:srgbClr val="9FC1E8"/>
                </a:solidFill>
                <a:latin typeface="Cambria" pitchFamily="34" charset="0"/>
                <a:ea typeface="Cambria" pitchFamily="34" charset="-122"/>
                <a:cs typeface="Cambria" pitchFamily="34" charset="-120"/>
              </a:rPr>
              <a:t>04</a:t>
            </a:r>
            <a:endParaRPr lang="en-US" sz="2600" dirty="0"/>
          </a:p>
        </p:txBody>
      </p:sp>
      <p:sp>
        <p:nvSpPr>
          <p:cNvPr id="20" name="Text 17"/>
          <p:cNvSpPr/>
          <p:nvPr/>
        </p:nvSpPr>
        <p:spPr>
          <a:xfrm>
            <a:off x="5257800" y="3602736"/>
            <a:ext cx="62179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Database &amp; Security</a:t>
            </a:r>
            <a:endParaRPr lang="en-US" sz="1600" dirty="0"/>
          </a:p>
        </p:txBody>
      </p:sp>
      <p:sp>
        <p:nvSpPr>
          <p:cNvPr id="21" name="Text 18"/>
          <p:cNvSpPr/>
          <p:nvPr/>
        </p:nvSpPr>
        <p:spPr>
          <a:xfrm>
            <a:off x="5257800" y="3950208"/>
            <a:ext cx="6217920" cy="36576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DB-per-service, JWT, Spring Security, RBAC</a:t>
            </a:r>
            <a:endParaRPr lang="en-US" sz="1150" dirty="0"/>
          </a:p>
        </p:txBody>
      </p:sp>
      <p:sp>
        <p:nvSpPr>
          <p:cNvPr id="22" name="Shape 19"/>
          <p:cNvSpPr/>
          <p:nvPr/>
        </p:nvSpPr>
        <p:spPr>
          <a:xfrm>
            <a:off x="4572000" y="4517136"/>
            <a:ext cx="6858000" cy="0"/>
          </a:xfrm>
          <a:prstGeom prst="line">
            <a:avLst/>
          </a:prstGeom>
          <a:noFill/>
          <a:ln w="12700">
            <a:solidFill>
              <a:srgbClr val="D7E3F3"/>
            </a:solidFill>
            <a:prstDash val="solid"/>
          </a:ln>
        </p:spPr>
      </p:sp>
      <p:sp>
        <p:nvSpPr>
          <p:cNvPr id="23" name="Text 20"/>
          <p:cNvSpPr/>
          <p:nvPr/>
        </p:nvSpPr>
        <p:spPr>
          <a:xfrm>
            <a:off x="4572000" y="4572000"/>
            <a:ext cx="685800" cy="822960"/>
          </a:xfrm>
          <a:prstGeom prst="rect">
            <a:avLst/>
          </a:prstGeom>
          <a:noFill/>
          <a:ln/>
        </p:spPr>
        <p:txBody>
          <a:bodyPr wrap="square" lIns="0" tIns="0" rIns="0" bIns="0" rtlCol="0" anchor="ctr"/>
          <a:lstStyle/>
          <a:p>
            <a:pPr indent="0" marL="0">
              <a:buNone/>
            </a:pPr>
            <a:r>
              <a:rPr lang="en-US" sz="2600" b="1" dirty="0">
                <a:solidFill>
                  <a:srgbClr val="9FC1E8"/>
                </a:solidFill>
                <a:latin typeface="Cambria" pitchFamily="34" charset="0"/>
                <a:ea typeface="Cambria" pitchFamily="34" charset="-122"/>
                <a:cs typeface="Cambria" pitchFamily="34" charset="-120"/>
              </a:rPr>
              <a:t>05</a:t>
            </a:r>
            <a:endParaRPr lang="en-US" sz="2600" dirty="0"/>
          </a:p>
        </p:txBody>
      </p:sp>
      <p:sp>
        <p:nvSpPr>
          <p:cNvPr id="24" name="Text 21"/>
          <p:cNvSpPr/>
          <p:nvPr/>
        </p:nvSpPr>
        <p:spPr>
          <a:xfrm>
            <a:off x="5257800" y="4590288"/>
            <a:ext cx="62179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UML Diagrams</a:t>
            </a:r>
            <a:endParaRPr lang="en-US" sz="1600" dirty="0"/>
          </a:p>
        </p:txBody>
      </p:sp>
      <p:sp>
        <p:nvSpPr>
          <p:cNvPr id="25" name="Text 22"/>
          <p:cNvSpPr/>
          <p:nvPr/>
        </p:nvSpPr>
        <p:spPr>
          <a:xfrm>
            <a:off x="5257800" y="4937760"/>
            <a:ext cx="6217920" cy="36576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Use Case, Activity, Sequence, Class, ER</a:t>
            </a:r>
            <a:endParaRPr lang="en-US" sz="1150" dirty="0"/>
          </a:p>
        </p:txBody>
      </p:sp>
      <p:sp>
        <p:nvSpPr>
          <p:cNvPr id="26" name="Shape 23"/>
          <p:cNvSpPr/>
          <p:nvPr/>
        </p:nvSpPr>
        <p:spPr>
          <a:xfrm>
            <a:off x="4572000" y="5504688"/>
            <a:ext cx="6858000" cy="0"/>
          </a:xfrm>
          <a:prstGeom prst="line">
            <a:avLst/>
          </a:prstGeom>
          <a:noFill/>
          <a:ln w="12700">
            <a:solidFill>
              <a:srgbClr val="D7E3F3"/>
            </a:solidFill>
            <a:prstDash val="solid"/>
          </a:ln>
        </p:spPr>
      </p:sp>
      <p:sp>
        <p:nvSpPr>
          <p:cNvPr id="27" name="Text 24"/>
          <p:cNvSpPr/>
          <p:nvPr/>
        </p:nvSpPr>
        <p:spPr>
          <a:xfrm>
            <a:off x="4572000" y="5559552"/>
            <a:ext cx="685800" cy="822960"/>
          </a:xfrm>
          <a:prstGeom prst="rect">
            <a:avLst/>
          </a:prstGeom>
          <a:noFill/>
          <a:ln/>
        </p:spPr>
        <p:txBody>
          <a:bodyPr wrap="square" lIns="0" tIns="0" rIns="0" bIns="0" rtlCol="0" anchor="ctr"/>
          <a:lstStyle/>
          <a:p>
            <a:pPr indent="0" marL="0">
              <a:buNone/>
            </a:pPr>
            <a:r>
              <a:rPr lang="en-US" sz="2600" b="1" dirty="0">
                <a:solidFill>
                  <a:srgbClr val="9FC1E8"/>
                </a:solidFill>
                <a:latin typeface="Cambria" pitchFamily="34" charset="0"/>
                <a:ea typeface="Cambria" pitchFamily="34" charset="-122"/>
                <a:cs typeface="Cambria" pitchFamily="34" charset="-120"/>
              </a:rPr>
              <a:t>06</a:t>
            </a:r>
            <a:endParaRPr lang="en-US" sz="2600" dirty="0"/>
          </a:p>
        </p:txBody>
      </p:sp>
      <p:sp>
        <p:nvSpPr>
          <p:cNvPr id="28" name="Text 25"/>
          <p:cNvSpPr/>
          <p:nvPr/>
        </p:nvSpPr>
        <p:spPr>
          <a:xfrm>
            <a:off x="5257800" y="5577840"/>
            <a:ext cx="62179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Engineering Depth</a:t>
            </a:r>
            <a:endParaRPr lang="en-US" sz="1600" dirty="0"/>
          </a:p>
        </p:txBody>
      </p:sp>
      <p:sp>
        <p:nvSpPr>
          <p:cNvPr id="29" name="Text 26"/>
          <p:cNvSpPr/>
          <p:nvPr/>
        </p:nvSpPr>
        <p:spPr>
          <a:xfrm>
            <a:off x="5257800" y="5925312"/>
            <a:ext cx="6217920" cy="36576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Challenges, patterns, testing, future scope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What is GymPro?</a:t>
            </a:r>
            <a:endParaRPr lang="en-US" sz="2800" dirty="0"/>
          </a:p>
        </p:txBody>
      </p:sp>
      <p:sp>
        <p:nvSpPr>
          <p:cNvPr id="4" name="Text 2"/>
          <p:cNvSpPr/>
          <p:nvPr/>
        </p:nvSpPr>
        <p:spPr>
          <a:xfrm>
            <a:off x="502920" y="1280160"/>
            <a:ext cx="6675120" cy="1005840"/>
          </a:xfrm>
          <a:prstGeom prst="rect">
            <a:avLst/>
          </a:prstGeom>
          <a:noFill/>
          <a:ln/>
        </p:spPr>
        <p:txBody>
          <a:bodyPr wrap="square" lIns="0" tIns="0" rIns="0" bIns="0" rtlCol="0" anchor="ctr"/>
          <a:lstStyle/>
          <a:p>
            <a:pPr indent="0" marL="0">
              <a:lnSpc>
                <a:spcPct val="125000"/>
              </a:lnSpc>
              <a:buNone/>
            </a:pPr>
            <a:r>
              <a:rPr lang="en-US" sz="1450" dirty="0">
                <a:solidFill>
                  <a:srgbClr val="16233B"/>
                </a:solidFill>
                <a:latin typeface="Calibri" pitchFamily="34" charset="0"/>
                <a:ea typeface="Calibri" pitchFamily="34" charset="-122"/>
                <a:cs typeface="Calibri" pitchFamily="34" charset="-120"/>
              </a:rPr>
              <a:t>GymPro is a microservices-based gym management platform that connects three user roles — Members, Trainers, and Admins — through a single React web application backed by nine independent Spring Boot services.</a:t>
            </a:r>
            <a:endParaRPr lang="en-US" sz="1450" dirty="0"/>
          </a:p>
        </p:txBody>
      </p:sp>
      <p:sp>
        <p:nvSpPr>
          <p:cNvPr id="5" name="Shape 3"/>
          <p:cNvSpPr/>
          <p:nvPr/>
        </p:nvSpPr>
        <p:spPr>
          <a:xfrm>
            <a:off x="502920" y="2423160"/>
            <a:ext cx="566928" cy="566928"/>
          </a:xfrm>
          <a:prstGeom prst="ellipse">
            <a:avLst/>
          </a:prstGeom>
          <a:solidFill>
            <a:srgbClr val="EAF2FB"/>
          </a:solidFill>
          <a:ln/>
        </p:spPr>
      </p:sp>
      <p:pic>
        <p:nvPicPr>
          <p:cNvPr id="6" name="Image 0" descr="preencoded.png">    </p:cNvPr>
          <p:cNvPicPr>
            <a:picLocks noChangeAspect="1"/>
          </p:cNvPicPr>
          <p:nvPr/>
        </p:nvPicPr>
        <p:blipFill>
          <a:blip r:embed="rId1"/>
          <a:stretch>
            <a:fillRect/>
          </a:stretch>
        </p:blipFill>
        <p:spPr>
          <a:xfrm>
            <a:off x="650321" y="2570561"/>
            <a:ext cx="272125" cy="272125"/>
          </a:xfrm>
          <a:prstGeom prst="rect">
            <a:avLst/>
          </a:prstGeom>
        </p:spPr>
      </p:pic>
      <p:sp>
        <p:nvSpPr>
          <p:cNvPr id="7" name="Text 4"/>
          <p:cNvSpPr/>
          <p:nvPr/>
        </p:nvSpPr>
        <p:spPr>
          <a:xfrm>
            <a:off x="1234440" y="2404872"/>
            <a:ext cx="5120640" cy="3200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Purpose</a:t>
            </a:r>
            <a:endParaRPr lang="en-US" sz="1450" dirty="0"/>
          </a:p>
        </p:txBody>
      </p:sp>
      <p:sp>
        <p:nvSpPr>
          <p:cNvPr id="8" name="Text 5"/>
          <p:cNvSpPr/>
          <p:nvPr/>
        </p:nvSpPr>
        <p:spPr>
          <a:xfrm>
            <a:off x="1234440" y="2715768"/>
            <a:ext cx="5577840" cy="64008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Digitize membership plans, trainer bookings, payments, and notifications for a gym into one connected system.</a:t>
            </a:r>
            <a:endParaRPr lang="en-US" sz="1150" dirty="0"/>
          </a:p>
        </p:txBody>
      </p:sp>
      <p:sp>
        <p:nvSpPr>
          <p:cNvPr id="9" name="Shape 6"/>
          <p:cNvSpPr/>
          <p:nvPr/>
        </p:nvSpPr>
        <p:spPr>
          <a:xfrm>
            <a:off x="502920" y="3593592"/>
            <a:ext cx="566928" cy="566928"/>
          </a:xfrm>
          <a:prstGeom prst="ellipse">
            <a:avLst/>
          </a:prstGeom>
          <a:solidFill>
            <a:srgbClr val="EAF2FB"/>
          </a:solidFill>
          <a:ln/>
        </p:spPr>
      </p:sp>
      <p:pic>
        <p:nvPicPr>
          <p:cNvPr id="10" name="Image 1" descr="preencoded.png">    </p:cNvPr>
          <p:cNvPicPr>
            <a:picLocks noChangeAspect="1"/>
          </p:cNvPicPr>
          <p:nvPr/>
        </p:nvPicPr>
        <p:blipFill>
          <a:blip r:embed="rId2"/>
          <a:stretch>
            <a:fillRect/>
          </a:stretch>
        </p:blipFill>
        <p:spPr>
          <a:xfrm>
            <a:off x="650321" y="3740993"/>
            <a:ext cx="272125" cy="272125"/>
          </a:xfrm>
          <a:prstGeom prst="rect">
            <a:avLst/>
          </a:prstGeom>
        </p:spPr>
      </p:pic>
      <p:sp>
        <p:nvSpPr>
          <p:cNvPr id="11" name="Text 7"/>
          <p:cNvSpPr/>
          <p:nvPr/>
        </p:nvSpPr>
        <p:spPr>
          <a:xfrm>
            <a:off x="1234440" y="3575304"/>
            <a:ext cx="5120640" cy="3200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Target Users</a:t>
            </a:r>
            <a:endParaRPr lang="en-US" sz="1450" dirty="0"/>
          </a:p>
        </p:txBody>
      </p:sp>
      <p:sp>
        <p:nvSpPr>
          <p:cNvPr id="12" name="Text 8"/>
          <p:cNvSpPr/>
          <p:nvPr/>
        </p:nvSpPr>
        <p:spPr>
          <a:xfrm>
            <a:off x="1234440" y="3886200"/>
            <a:ext cx="5577840" cy="64008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Members booking sessions &amp; plans, Trainers managing schedules, Admins overseeing the whole operation.</a:t>
            </a:r>
            <a:endParaRPr lang="en-US" sz="1150" dirty="0"/>
          </a:p>
        </p:txBody>
      </p:sp>
      <p:sp>
        <p:nvSpPr>
          <p:cNvPr id="13" name="Shape 9"/>
          <p:cNvSpPr/>
          <p:nvPr/>
        </p:nvSpPr>
        <p:spPr>
          <a:xfrm>
            <a:off x="502920" y="4764024"/>
            <a:ext cx="566928" cy="566928"/>
          </a:xfrm>
          <a:prstGeom prst="ellipse">
            <a:avLst/>
          </a:prstGeom>
          <a:solidFill>
            <a:srgbClr val="EAF2FB"/>
          </a:solidFill>
          <a:ln/>
        </p:spPr>
      </p:sp>
      <p:pic>
        <p:nvPicPr>
          <p:cNvPr id="14" name="Image 2" descr="preencoded.png">    </p:cNvPr>
          <p:cNvPicPr>
            <a:picLocks noChangeAspect="1"/>
          </p:cNvPicPr>
          <p:nvPr/>
        </p:nvPicPr>
        <p:blipFill>
          <a:blip r:embed="rId3"/>
          <a:stretch>
            <a:fillRect/>
          </a:stretch>
        </p:blipFill>
        <p:spPr>
          <a:xfrm>
            <a:off x="650321" y="4911425"/>
            <a:ext cx="272125" cy="272125"/>
          </a:xfrm>
          <a:prstGeom prst="rect">
            <a:avLst/>
          </a:prstGeom>
        </p:spPr>
      </p:pic>
      <p:sp>
        <p:nvSpPr>
          <p:cNvPr id="15" name="Text 10"/>
          <p:cNvSpPr/>
          <p:nvPr/>
        </p:nvSpPr>
        <p:spPr>
          <a:xfrm>
            <a:off x="1234440" y="4745736"/>
            <a:ext cx="5120640" cy="3200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Why It Exists</a:t>
            </a:r>
            <a:endParaRPr lang="en-US" sz="1450" dirty="0"/>
          </a:p>
        </p:txBody>
      </p:sp>
      <p:sp>
        <p:nvSpPr>
          <p:cNvPr id="16" name="Text 11"/>
          <p:cNvSpPr/>
          <p:nvPr/>
        </p:nvSpPr>
        <p:spPr>
          <a:xfrm>
            <a:off x="1234440" y="5056632"/>
            <a:ext cx="5577840" cy="640080"/>
          </a:xfrm>
          <a:prstGeom prst="rect">
            <a:avLst/>
          </a:prstGeom>
          <a:noFill/>
          <a:ln/>
        </p:spPr>
        <p:txBody>
          <a:bodyPr wrap="square" lIns="0" tIns="0" rIns="0" bIns="0" rtlCol="0" anchor="ctr"/>
          <a:lstStyle/>
          <a:p>
            <a:pPr indent="0" marL="0">
              <a:buNone/>
            </a:pPr>
            <a:r>
              <a:rPr lang="en-US" sz="1150" dirty="0">
                <a:solidFill>
                  <a:srgbClr val="5B6B85"/>
                </a:solidFill>
                <a:latin typeface="Calibri" pitchFamily="34" charset="0"/>
                <a:ea typeface="Calibri" pitchFamily="34" charset="-122"/>
                <a:cs typeface="Calibri" pitchFamily="34" charset="-120"/>
              </a:rPr>
              <a:t>Manual gym operations (registers, phone calls, cash tracking) don't scale — GymPro replaces them with automated, auditable workflows.</a:t>
            </a:r>
            <a:endParaRPr lang="en-US" sz="1150" dirty="0"/>
          </a:p>
        </p:txBody>
      </p:sp>
      <p:sp>
        <p:nvSpPr>
          <p:cNvPr id="17" name="Shape 12"/>
          <p:cNvSpPr/>
          <p:nvPr/>
        </p:nvSpPr>
        <p:spPr>
          <a:xfrm>
            <a:off x="7452360" y="1280160"/>
            <a:ext cx="4251960" cy="4892040"/>
          </a:xfrm>
          <a:prstGeom prst="roundRect">
            <a:avLst>
              <a:gd name="adj" fmla="val 1505"/>
            </a:avLst>
          </a:prstGeom>
          <a:solidFill>
            <a:srgbClr val="0B2545"/>
          </a:solidFill>
          <a:ln/>
          <a:effectLst>
            <a:outerShdw sx="100000" sy="100000" kx="0" ky="0" algn="bl" rotWithShape="0" blurRad="101600" dist="25400" dir="5400000">
              <a:srgbClr val="0B2545">
                <a:alpha val="10000"/>
              </a:srgbClr>
            </a:outerShdw>
          </a:effectLst>
        </p:spPr>
      </p:sp>
      <p:sp>
        <p:nvSpPr>
          <p:cNvPr id="18" name="Text 13"/>
          <p:cNvSpPr/>
          <p:nvPr/>
        </p:nvSpPr>
        <p:spPr>
          <a:xfrm>
            <a:off x="7772400" y="1508760"/>
            <a:ext cx="3657600" cy="274320"/>
          </a:xfrm>
          <a:prstGeom prst="rect">
            <a:avLst/>
          </a:prstGeom>
          <a:noFill/>
          <a:ln/>
        </p:spPr>
        <p:txBody>
          <a:bodyPr wrap="square" lIns="0" tIns="0" rIns="0" bIns="0" rtlCol="0" anchor="ctr"/>
          <a:lstStyle/>
          <a:p>
            <a:pPr indent="0" marL="0">
              <a:buNone/>
            </a:pPr>
            <a:r>
              <a:rPr lang="en-US" sz="1100" b="1" spc="200" kern="0" dirty="0">
                <a:solidFill>
                  <a:srgbClr val="00A9E0"/>
                </a:solidFill>
                <a:latin typeface="Calibri" pitchFamily="34" charset="0"/>
                <a:ea typeface="Calibri" pitchFamily="34" charset="-122"/>
                <a:cs typeface="Calibri" pitchFamily="34" charset="-120"/>
              </a:rPr>
              <a:t>THREE ROLES, ONE PLATFORM</a:t>
            </a:r>
            <a:endParaRPr lang="en-US" sz="1100" dirty="0"/>
          </a:p>
        </p:txBody>
      </p:sp>
      <p:sp>
        <p:nvSpPr>
          <p:cNvPr id="19" name="Shape 14"/>
          <p:cNvSpPr/>
          <p:nvPr/>
        </p:nvSpPr>
        <p:spPr>
          <a:xfrm>
            <a:off x="7772400" y="1965960"/>
            <a:ext cx="512064" cy="512064"/>
          </a:xfrm>
          <a:prstGeom prst="ellipse">
            <a:avLst/>
          </a:prstGeom>
          <a:solidFill>
            <a:srgbClr val="12345F"/>
          </a:solidFill>
          <a:ln/>
        </p:spPr>
      </p:sp>
      <p:pic>
        <p:nvPicPr>
          <p:cNvPr id="20" name="Image 3" descr="preencoded.png">    </p:cNvPr>
          <p:cNvPicPr>
            <a:picLocks noChangeAspect="1"/>
          </p:cNvPicPr>
          <p:nvPr/>
        </p:nvPicPr>
        <p:blipFill>
          <a:blip r:embed="rId4"/>
          <a:stretch>
            <a:fillRect/>
          </a:stretch>
        </p:blipFill>
        <p:spPr>
          <a:xfrm>
            <a:off x="7905537" y="2099097"/>
            <a:ext cx="245791" cy="245791"/>
          </a:xfrm>
          <a:prstGeom prst="rect">
            <a:avLst/>
          </a:prstGeom>
        </p:spPr>
      </p:pic>
      <p:sp>
        <p:nvSpPr>
          <p:cNvPr id="21" name="Text 15"/>
          <p:cNvSpPr/>
          <p:nvPr/>
        </p:nvSpPr>
        <p:spPr>
          <a:xfrm>
            <a:off x="8458200" y="1947672"/>
            <a:ext cx="301752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MEMBER</a:t>
            </a:r>
            <a:endParaRPr lang="en-US" sz="1350" dirty="0"/>
          </a:p>
        </p:txBody>
      </p:sp>
      <p:sp>
        <p:nvSpPr>
          <p:cNvPr id="22" name="Text 16"/>
          <p:cNvSpPr/>
          <p:nvPr/>
        </p:nvSpPr>
        <p:spPr>
          <a:xfrm>
            <a:off x="8458200" y="2221992"/>
            <a:ext cx="3063240" cy="685800"/>
          </a:xfrm>
          <a:prstGeom prst="rect">
            <a:avLst/>
          </a:prstGeom>
          <a:noFill/>
          <a:ln/>
        </p:spPr>
        <p:txBody>
          <a:bodyPr wrap="square" lIns="0" tIns="0" rIns="0" bIns="0" rtlCol="0" anchor="ctr"/>
          <a:lstStyle/>
          <a:p>
            <a:pPr indent="0" marL="0">
              <a:buNone/>
            </a:pPr>
            <a:r>
              <a:rPr lang="en-US" sz="1050" dirty="0">
                <a:solidFill>
                  <a:srgbClr val="B9CBEA"/>
                </a:solidFill>
                <a:latin typeface="Calibri" pitchFamily="34" charset="0"/>
                <a:ea typeface="Calibri" pitchFamily="34" charset="-122"/>
                <a:cs typeface="Calibri" pitchFamily="34" charset="-120"/>
              </a:rPr>
              <a:t>Book sessions, subscribe to plans, pay online, track bookings</a:t>
            </a:r>
            <a:endParaRPr lang="en-US" sz="1050" dirty="0"/>
          </a:p>
        </p:txBody>
      </p:sp>
      <p:sp>
        <p:nvSpPr>
          <p:cNvPr id="23" name="Shape 17"/>
          <p:cNvSpPr/>
          <p:nvPr/>
        </p:nvSpPr>
        <p:spPr>
          <a:xfrm>
            <a:off x="7772400" y="3337560"/>
            <a:ext cx="512064" cy="512064"/>
          </a:xfrm>
          <a:prstGeom prst="ellipse">
            <a:avLst/>
          </a:prstGeom>
          <a:solidFill>
            <a:srgbClr val="12345F"/>
          </a:solidFill>
          <a:ln/>
        </p:spPr>
      </p:sp>
      <p:pic>
        <p:nvPicPr>
          <p:cNvPr id="24" name="Image 4" descr="preencoded.png">    </p:cNvPr>
          <p:cNvPicPr>
            <a:picLocks noChangeAspect="1"/>
          </p:cNvPicPr>
          <p:nvPr/>
        </p:nvPicPr>
        <p:blipFill>
          <a:blip r:embed="rId5"/>
          <a:stretch>
            <a:fillRect/>
          </a:stretch>
        </p:blipFill>
        <p:spPr>
          <a:xfrm>
            <a:off x="7905537" y="3470697"/>
            <a:ext cx="245791" cy="245791"/>
          </a:xfrm>
          <a:prstGeom prst="rect">
            <a:avLst/>
          </a:prstGeom>
        </p:spPr>
      </p:pic>
      <p:sp>
        <p:nvSpPr>
          <p:cNvPr id="25" name="Text 18"/>
          <p:cNvSpPr/>
          <p:nvPr/>
        </p:nvSpPr>
        <p:spPr>
          <a:xfrm>
            <a:off x="8458200" y="3319272"/>
            <a:ext cx="301752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TRAINER</a:t>
            </a:r>
            <a:endParaRPr lang="en-US" sz="1350" dirty="0"/>
          </a:p>
        </p:txBody>
      </p:sp>
      <p:sp>
        <p:nvSpPr>
          <p:cNvPr id="26" name="Text 19"/>
          <p:cNvSpPr/>
          <p:nvPr/>
        </p:nvSpPr>
        <p:spPr>
          <a:xfrm>
            <a:off x="8458200" y="3593592"/>
            <a:ext cx="3063240" cy="685800"/>
          </a:xfrm>
          <a:prstGeom prst="rect">
            <a:avLst/>
          </a:prstGeom>
          <a:noFill/>
          <a:ln/>
        </p:spPr>
        <p:txBody>
          <a:bodyPr wrap="square" lIns="0" tIns="0" rIns="0" bIns="0" rtlCol="0" anchor="ctr"/>
          <a:lstStyle/>
          <a:p>
            <a:pPr indent="0" marL="0">
              <a:buNone/>
            </a:pPr>
            <a:r>
              <a:rPr lang="en-US" sz="1050" dirty="0">
                <a:solidFill>
                  <a:srgbClr val="B9CBEA"/>
                </a:solidFill>
                <a:latin typeface="Calibri" pitchFamily="34" charset="0"/>
                <a:ea typeface="Calibri" pitchFamily="34" charset="-122"/>
                <a:cs typeface="Calibri" pitchFamily="34" charset="-120"/>
              </a:rPr>
              <a:t>Set weekly availability, view assigned sessions</a:t>
            </a:r>
            <a:endParaRPr lang="en-US" sz="1050" dirty="0"/>
          </a:p>
        </p:txBody>
      </p:sp>
      <p:sp>
        <p:nvSpPr>
          <p:cNvPr id="27" name="Shape 20"/>
          <p:cNvSpPr/>
          <p:nvPr/>
        </p:nvSpPr>
        <p:spPr>
          <a:xfrm>
            <a:off x="7772400" y="4709160"/>
            <a:ext cx="512064" cy="512064"/>
          </a:xfrm>
          <a:prstGeom prst="ellipse">
            <a:avLst/>
          </a:prstGeom>
          <a:solidFill>
            <a:srgbClr val="12345F"/>
          </a:solidFill>
          <a:ln/>
        </p:spPr>
      </p:sp>
      <p:pic>
        <p:nvPicPr>
          <p:cNvPr id="28" name="Image 5" descr="preencoded.png">    </p:cNvPr>
          <p:cNvPicPr>
            <a:picLocks noChangeAspect="1"/>
          </p:cNvPicPr>
          <p:nvPr/>
        </p:nvPicPr>
        <p:blipFill>
          <a:blip r:embed="rId6"/>
          <a:stretch>
            <a:fillRect/>
          </a:stretch>
        </p:blipFill>
        <p:spPr>
          <a:xfrm>
            <a:off x="7905537" y="4842297"/>
            <a:ext cx="245791" cy="245791"/>
          </a:xfrm>
          <a:prstGeom prst="rect">
            <a:avLst/>
          </a:prstGeom>
        </p:spPr>
      </p:pic>
      <p:sp>
        <p:nvSpPr>
          <p:cNvPr id="29" name="Text 21"/>
          <p:cNvSpPr/>
          <p:nvPr/>
        </p:nvSpPr>
        <p:spPr>
          <a:xfrm>
            <a:off x="8458200" y="4690872"/>
            <a:ext cx="301752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ADMIN</a:t>
            </a:r>
            <a:endParaRPr lang="en-US" sz="1350" dirty="0"/>
          </a:p>
        </p:txBody>
      </p:sp>
      <p:sp>
        <p:nvSpPr>
          <p:cNvPr id="30" name="Text 22"/>
          <p:cNvSpPr/>
          <p:nvPr/>
        </p:nvSpPr>
        <p:spPr>
          <a:xfrm>
            <a:off x="8458200" y="4965192"/>
            <a:ext cx="3063240" cy="685800"/>
          </a:xfrm>
          <a:prstGeom prst="rect">
            <a:avLst/>
          </a:prstGeom>
          <a:noFill/>
          <a:ln/>
        </p:spPr>
        <p:txBody>
          <a:bodyPr wrap="square" lIns="0" tIns="0" rIns="0" bIns="0" rtlCol="0" anchor="ctr"/>
          <a:lstStyle/>
          <a:p>
            <a:pPr indent="0" marL="0">
              <a:buNone/>
            </a:pPr>
            <a:r>
              <a:rPr lang="en-US" sz="1050" dirty="0">
                <a:solidFill>
                  <a:srgbClr val="B9CBEA"/>
                </a:solidFill>
                <a:latin typeface="Calibri" pitchFamily="34" charset="0"/>
                <a:ea typeface="Calibri" pitchFamily="34" charset="-122"/>
                <a:cs typeface="Calibri" pitchFamily="34" charset="-120"/>
              </a:rPr>
              <a:t>Manage members, trainers, plans, view all bookings &amp; payments</a:t>
            </a:r>
            <a:endParaRPr lang="en-US" sz="1050" dirty="0"/>
          </a:p>
        </p:txBody>
      </p:sp>
      <p:sp>
        <p:nvSpPr>
          <p:cNvPr id="31" name="Text 23"/>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32" name="Text 24"/>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Project Overview</a:t>
            </a:r>
            <a:endParaRPr lang="en-US" sz="900" dirty="0"/>
          </a:p>
        </p:txBody>
      </p:sp>
      <p:sp>
        <p:nvSpPr>
          <p:cNvPr id="33" name="Text 25"/>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THE BUSINESS PROBLEM</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Why Traditional Gym Management Breaks Down</a:t>
            </a:r>
            <a:endParaRPr lang="en-US" sz="2800" dirty="0"/>
          </a:p>
        </p:txBody>
      </p:sp>
      <p:sp>
        <p:nvSpPr>
          <p:cNvPr id="4" name="Shape 2"/>
          <p:cNvSpPr/>
          <p:nvPr/>
        </p:nvSpPr>
        <p:spPr>
          <a:xfrm>
            <a:off x="502920" y="1417320"/>
            <a:ext cx="3639312" cy="1965960"/>
          </a:xfrm>
          <a:prstGeom prst="roundRect">
            <a:avLst>
              <a:gd name="adj" fmla="val 3256"/>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5" name="Shape 3"/>
          <p:cNvSpPr/>
          <p:nvPr/>
        </p:nvSpPr>
        <p:spPr>
          <a:xfrm>
            <a:off x="731520" y="1645920"/>
            <a:ext cx="502920" cy="502920"/>
          </a:xfrm>
          <a:prstGeom prst="ellipse">
            <a:avLst/>
          </a:prstGeom>
          <a:solidFill>
            <a:srgbClr val="FCEBEA"/>
          </a:solidFill>
          <a:ln/>
        </p:spPr>
      </p:sp>
      <p:pic>
        <p:nvPicPr>
          <p:cNvPr id="6" name="Image 0" descr="preencoded.png">    </p:cNvPr>
          <p:cNvPicPr>
            <a:picLocks noChangeAspect="1"/>
          </p:cNvPicPr>
          <p:nvPr/>
        </p:nvPicPr>
        <p:blipFill>
          <a:blip r:embed="rId1"/>
          <a:stretch>
            <a:fillRect/>
          </a:stretch>
        </p:blipFill>
        <p:spPr>
          <a:xfrm>
            <a:off x="862279" y="1776679"/>
            <a:ext cx="241402" cy="241402"/>
          </a:xfrm>
          <a:prstGeom prst="rect">
            <a:avLst/>
          </a:prstGeom>
        </p:spPr>
      </p:pic>
      <p:sp>
        <p:nvSpPr>
          <p:cNvPr id="7" name="Text 4"/>
          <p:cNvSpPr/>
          <p:nvPr/>
        </p:nvSpPr>
        <p:spPr>
          <a:xfrm>
            <a:off x="731520" y="2286000"/>
            <a:ext cx="3182112" cy="3200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Manual Processes</a:t>
            </a:r>
            <a:endParaRPr lang="en-US" sz="1350" dirty="0"/>
          </a:p>
        </p:txBody>
      </p:sp>
      <p:sp>
        <p:nvSpPr>
          <p:cNvPr id="8" name="Text 5"/>
          <p:cNvSpPr/>
          <p:nvPr/>
        </p:nvSpPr>
        <p:spPr>
          <a:xfrm>
            <a:off x="731520" y="2624328"/>
            <a:ext cx="3182112" cy="6858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Paper registers and spreadsheets for membership, attendance, and scheduling — slow and error-prone.</a:t>
            </a:r>
            <a:endParaRPr lang="en-US" sz="1050" dirty="0"/>
          </a:p>
        </p:txBody>
      </p:sp>
      <p:sp>
        <p:nvSpPr>
          <p:cNvPr id="9" name="Shape 6"/>
          <p:cNvSpPr/>
          <p:nvPr/>
        </p:nvSpPr>
        <p:spPr>
          <a:xfrm>
            <a:off x="4398264" y="1417320"/>
            <a:ext cx="3639312" cy="1965960"/>
          </a:xfrm>
          <a:prstGeom prst="roundRect">
            <a:avLst>
              <a:gd name="adj" fmla="val 3256"/>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10" name="Shape 7"/>
          <p:cNvSpPr/>
          <p:nvPr/>
        </p:nvSpPr>
        <p:spPr>
          <a:xfrm>
            <a:off x="4626864" y="1645920"/>
            <a:ext cx="502920" cy="502920"/>
          </a:xfrm>
          <a:prstGeom prst="ellipse">
            <a:avLst/>
          </a:prstGeom>
          <a:solidFill>
            <a:srgbClr val="FCEBEA"/>
          </a:solidFill>
          <a:ln/>
        </p:spPr>
      </p:sp>
      <p:pic>
        <p:nvPicPr>
          <p:cNvPr id="11" name="Image 1" descr="preencoded.png">    </p:cNvPr>
          <p:cNvPicPr>
            <a:picLocks noChangeAspect="1"/>
          </p:cNvPicPr>
          <p:nvPr/>
        </p:nvPicPr>
        <p:blipFill>
          <a:blip r:embed="rId2"/>
          <a:stretch>
            <a:fillRect/>
          </a:stretch>
        </p:blipFill>
        <p:spPr>
          <a:xfrm>
            <a:off x="4757623" y="1776679"/>
            <a:ext cx="241402" cy="241402"/>
          </a:xfrm>
          <a:prstGeom prst="rect">
            <a:avLst/>
          </a:prstGeom>
        </p:spPr>
      </p:pic>
      <p:sp>
        <p:nvSpPr>
          <p:cNvPr id="12" name="Text 8"/>
          <p:cNvSpPr/>
          <p:nvPr/>
        </p:nvSpPr>
        <p:spPr>
          <a:xfrm>
            <a:off x="4626864" y="2286000"/>
            <a:ext cx="3182112" cy="3200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Payment Tracking</a:t>
            </a:r>
            <a:endParaRPr lang="en-US" sz="1350" dirty="0"/>
          </a:p>
        </p:txBody>
      </p:sp>
      <p:sp>
        <p:nvSpPr>
          <p:cNvPr id="13" name="Text 9"/>
          <p:cNvSpPr/>
          <p:nvPr/>
        </p:nvSpPr>
        <p:spPr>
          <a:xfrm>
            <a:off x="4626864" y="2624328"/>
            <a:ext cx="3182112" cy="6858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Cash and manual ledger payments are hard to reconcile, with no audit trail or receipts.</a:t>
            </a:r>
            <a:endParaRPr lang="en-US" sz="1050" dirty="0"/>
          </a:p>
        </p:txBody>
      </p:sp>
      <p:sp>
        <p:nvSpPr>
          <p:cNvPr id="14" name="Shape 10"/>
          <p:cNvSpPr/>
          <p:nvPr/>
        </p:nvSpPr>
        <p:spPr>
          <a:xfrm>
            <a:off x="8293608" y="1417320"/>
            <a:ext cx="3639312" cy="1965960"/>
          </a:xfrm>
          <a:prstGeom prst="roundRect">
            <a:avLst>
              <a:gd name="adj" fmla="val 3256"/>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15" name="Shape 11"/>
          <p:cNvSpPr/>
          <p:nvPr/>
        </p:nvSpPr>
        <p:spPr>
          <a:xfrm>
            <a:off x="8522208" y="1645920"/>
            <a:ext cx="502920" cy="502920"/>
          </a:xfrm>
          <a:prstGeom prst="ellipse">
            <a:avLst/>
          </a:prstGeom>
          <a:solidFill>
            <a:srgbClr val="FCEBEA"/>
          </a:solidFill>
          <a:ln/>
        </p:spPr>
      </p:sp>
      <p:pic>
        <p:nvPicPr>
          <p:cNvPr id="16" name="Image 2" descr="preencoded.png">    </p:cNvPr>
          <p:cNvPicPr>
            <a:picLocks noChangeAspect="1"/>
          </p:cNvPicPr>
          <p:nvPr/>
        </p:nvPicPr>
        <p:blipFill>
          <a:blip r:embed="rId3"/>
          <a:stretch>
            <a:fillRect/>
          </a:stretch>
        </p:blipFill>
        <p:spPr>
          <a:xfrm>
            <a:off x="8652967" y="1776679"/>
            <a:ext cx="241402" cy="241402"/>
          </a:xfrm>
          <a:prstGeom prst="rect">
            <a:avLst/>
          </a:prstGeom>
        </p:spPr>
      </p:pic>
      <p:sp>
        <p:nvSpPr>
          <p:cNvPr id="17" name="Text 12"/>
          <p:cNvSpPr/>
          <p:nvPr/>
        </p:nvSpPr>
        <p:spPr>
          <a:xfrm>
            <a:off x="8522208" y="2286000"/>
            <a:ext cx="3182112" cy="3200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Trainer Assignment</a:t>
            </a:r>
            <a:endParaRPr lang="en-US" sz="1350" dirty="0"/>
          </a:p>
        </p:txBody>
      </p:sp>
      <p:sp>
        <p:nvSpPr>
          <p:cNvPr id="18" name="Text 13"/>
          <p:cNvSpPr/>
          <p:nvPr/>
        </p:nvSpPr>
        <p:spPr>
          <a:xfrm>
            <a:off x="8522208" y="2624328"/>
            <a:ext cx="3182112" cy="6858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No systematic way to match members to trainer availability without double-booking slots.</a:t>
            </a:r>
            <a:endParaRPr lang="en-US" sz="1050" dirty="0"/>
          </a:p>
        </p:txBody>
      </p:sp>
      <p:sp>
        <p:nvSpPr>
          <p:cNvPr id="19" name="Shape 14"/>
          <p:cNvSpPr/>
          <p:nvPr/>
        </p:nvSpPr>
        <p:spPr>
          <a:xfrm>
            <a:off x="502920" y="3639312"/>
            <a:ext cx="3639312" cy="1965960"/>
          </a:xfrm>
          <a:prstGeom prst="roundRect">
            <a:avLst>
              <a:gd name="adj" fmla="val 3256"/>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20" name="Shape 15"/>
          <p:cNvSpPr/>
          <p:nvPr/>
        </p:nvSpPr>
        <p:spPr>
          <a:xfrm>
            <a:off x="731520" y="3867912"/>
            <a:ext cx="502920" cy="502920"/>
          </a:xfrm>
          <a:prstGeom prst="ellipse">
            <a:avLst/>
          </a:prstGeom>
          <a:solidFill>
            <a:srgbClr val="FCEBEA"/>
          </a:solidFill>
          <a:ln/>
        </p:spPr>
      </p:sp>
      <p:pic>
        <p:nvPicPr>
          <p:cNvPr id="21" name="Image 3" descr="preencoded.png">    </p:cNvPr>
          <p:cNvPicPr>
            <a:picLocks noChangeAspect="1"/>
          </p:cNvPicPr>
          <p:nvPr/>
        </p:nvPicPr>
        <p:blipFill>
          <a:blip r:embed="rId4"/>
          <a:stretch>
            <a:fillRect/>
          </a:stretch>
        </p:blipFill>
        <p:spPr>
          <a:xfrm>
            <a:off x="862279" y="3998671"/>
            <a:ext cx="241402" cy="241402"/>
          </a:xfrm>
          <a:prstGeom prst="rect">
            <a:avLst/>
          </a:prstGeom>
        </p:spPr>
      </p:pic>
      <p:sp>
        <p:nvSpPr>
          <p:cNvPr id="22" name="Text 16"/>
          <p:cNvSpPr/>
          <p:nvPr/>
        </p:nvSpPr>
        <p:spPr>
          <a:xfrm>
            <a:off x="731520" y="4507992"/>
            <a:ext cx="3182112" cy="3200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Booking Chaos</a:t>
            </a:r>
            <a:endParaRPr lang="en-US" sz="1350" dirty="0"/>
          </a:p>
        </p:txBody>
      </p:sp>
      <p:sp>
        <p:nvSpPr>
          <p:cNvPr id="23" name="Text 17"/>
          <p:cNvSpPr/>
          <p:nvPr/>
        </p:nvSpPr>
        <p:spPr>
          <a:xfrm>
            <a:off x="731520" y="4846320"/>
            <a:ext cx="3182112" cy="6858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Session bookings coordinated over phone calls/WhatsApp — no single source of truth.</a:t>
            </a:r>
            <a:endParaRPr lang="en-US" sz="1050" dirty="0"/>
          </a:p>
        </p:txBody>
      </p:sp>
      <p:sp>
        <p:nvSpPr>
          <p:cNvPr id="24" name="Shape 18"/>
          <p:cNvSpPr/>
          <p:nvPr/>
        </p:nvSpPr>
        <p:spPr>
          <a:xfrm>
            <a:off x="4398264" y="3639312"/>
            <a:ext cx="3639312" cy="1965960"/>
          </a:xfrm>
          <a:prstGeom prst="roundRect">
            <a:avLst>
              <a:gd name="adj" fmla="val 3256"/>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25" name="Shape 19"/>
          <p:cNvSpPr/>
          <p:nvPr/>
        </p:nvSpPr>
        <p:spPr>
          <a:xfrm>
            <a:off x="4626864" y="3867912"/>
            <a:ext cx="502920" cy="502920"/>
          </a:xfrm>
          <a:prstGeom prst="ellipse">
            <a:avLst/>
          </a:prstGeom>
          <a:solidFill>
            <a:srgbClr val="FCEBEA"/>
          </a:solidFill>
          <a:ln/>
        </p:spPr>
      </p:sp>
      <p:pic>
        <p:nvPicPr>
          <p:cNvPr id="26" name="Image 4" descr="preencoded.png">    </p:cNvPr>
          <p:cNvPicPr>
            <a:picLocks noChangeAspect="1"/>
          </p:cNvPicPr>
          <p:nvPr/>
        </p:nvPicPr>
        <p:blipFill>
          <a:blip r:embed="rId5"/>
          <a:stretch>
            <a:fillRect/>
          </a:stretch>
        </p:blipFill>
        <p:spPr>
          <a:xfrm>
            <a:off x="4757623" y="3998671"/>
            <a:ext cx="241402" cy="241402"/>
          </a:xfrm>
          <a:prstGeom prst="rect">
            <a:avLst/>
          </a:prstGeom>
        </p:spPr>
      </p:pic>
      <p:sp>
        <p:nvSpPr>
          <p:cNvPr id="27" name="Text 20"/>
          <p:cNvSpPr/>
          <p:nvPr/>
        </p:nvSpPr>
        <p:spPr>
          <a:xfrm>
            <a:off x="4626864" y="4507992"/>
            <a:ext cx="3182112" cy="3200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No Notifications</a:t>
            </a:r>
            <a:endParaRPr lang="en-US" sz="1350" dirty="0"/>
          </a:p>
        </p:txBody>
      </p:sp>
      <p:sp>
        <p:nvSpPr>
          <p:cNvPr id="28" name="Text 21"/>
          <p:cNvSpPr/>
          <p:nvPr/>
        </p:nvSpPr>
        <p:spPr>
          <a:xfrm>
            <a:off x="4626864" y="4846320"/>
            <a:ext cx="3182112" cy="6858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Members and trainers aren't proactively informed of confirmations, cancellations, or receipts.</a:t>
            </a:r>
            <a:endParaRPr lang="en-US" sz="1050" dirty="0"/>
          </a:p>
        </p:txBody>
      </p:sp>
      <p:sp>
        <p:nvSpPr>
          <p:cNvPr id="29" name="Shape 22"/>
          <p:cNvSpPr/>
          <p:nvPr/>
        </p:nvSpPr>
        <p:spPr>
          <a:xfrm>
            <a:off x="8293608" y="3639312"/>
            <a:ext cx="3639312" cy="1965960"/>
          </a:xfrm>
          <a:prstGeom prst="roundRect">
            <a:avLst>
              <a:gd name="adj" fmla="val 3256"/>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30" name="Shape 23"/>
          <p:cNvSpPr/>
          <p:nvPr/>
        </p:nvSpPr>
        <p:spPr>
          <a:xfrm>
            <a:off x="8522208" y="3867912"/>
            <a:ext cx="502920" cy="502920"/>
          </a:xfrm>
          <a:prstGeom prst="ellipse">
            <a:avLst/>
          </a:prstGeom>
          <a:solidFill>
            <a:srgbClr val="FCEBEA"/>
          </a:solidFill>
          <a:ln/>
        </p:spPr>
      </p:sp>
      <p:pic>
        <p:nvPicPr>
          <p:cNvPr id="31" name="Image 5" descr="preencoded.png">    </p:cNvPr>
          <p:cNvPicPr>
            <a:picLocks noChangeAspect="1"/>
          </p:cNvPicPr>
          <p:nvPr/>
        </p:nvPicPr>
        <p:blipFill>
          <a:blip r:embed="rId6"/>
          <a:stretch>
            <a:fillRect/>
          </a:stretch>
        </p:blipFill>
        <p:spPr>
          <a:xfrm>
            <a:off x="8652967" y="3998671"/>
            <a:ext cx="241402" cy="241402"/>
          </a:xfrm>
          <a:prstGeom prst="rect">
            <a:avLst/>
          </a:prstGeom>
        </p:spPr>
      </p:pic>
      <p:sp>
        <p:nvSpPr>
          <p:cNvPr id="32" name="Text 24"/>
          <p:cNvSpPr/>
          <p:nvPr/>
        </p:nvSpPr>
        <p:spPr>
          <a:xfrm>
            <a:off x="8522208" y="4507992"/>
            <a:ext cx="3182112" cy="3200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Scalability</a:t>
            </a:r>
            <a:endParaRPr lang="en-US" sz="1350" dirty="0"/>
          </a:p>
        </p:txBody>
      </p:sp>
      <p:sp>
        <p:nvSpPr>
          <p:cNvPr id="33" name="Text 25"/>
          <p:cNvSpPr/>
          <p:nvPr/>
        </p:nvSpPr>
        <p:spPr>
          <a:xfrm>
            <a:off x="8522208" y="4846320"/>
            <a:ext cx="3182112" cy="6858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A single-desk manual system cannot scale as membership and trainer headcount grows.</a:t>
            </a:r>
            <a:endParaRPr lang="en-US" sz="1050" dirty="0"/>
          </a:p>
        </p:txBody>
      </p:sp>
      <p:sp>
        <p:nvSpPr>
          <p:cNvPr id="34" name="Text 26"/>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35" name="Text 27"/>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Problem Statement</a:t>
            </a:r>
            <a:endParaRPr lang="en-US" sz="900" dirty="0"/>
          </a:p>
        </p:txBody>
      </p:sp>
      <p:sp>
        <p:nvSpPr>
          <p:cNvPr id="36" name="Text 28"/>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BUSINESS REQUIREMENTS</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Functional &amp; Non-Functional Requirements</a:t>
            </a:r>
            <a:endParaRPr lang="en-US" sz="2800" dirty="0"/>
          </a:p>
        </p:txBody>
      </p:sp>
      <p:sp>
        <p:nvSpPr>
          <p:cNvPr id="4" name="Shape 2"/>
          <p:cNvSpPr/>
          <p:nvPr/>
        </p:nvSpPr>
        <p:spPr>
          <a:xfrm>
            <a:off x="502920" y="1371600"/>
            <a:ext cx="5532120" cy="4846320"/>
          </a:xfrm>
          <a:prstGeom prst="roundRect">
            <a:avLst>
              <a:gd name="adj" fmla="val 1321"/>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5" name="Shape 3"/>
          <p:cNvSpPr/>
          <p:nvPr/>
        </p:nvSpPr>
        <p:spPr>
          <a:xfrm>
            <a:off x="502920" y="1371600"/>
            <a:ext cx="5532120" cy="502920"/>
          </a:xfrm>
          <a:prstGeom prst="rect">
            <a:avLst/>
          </a:prstGeom>
          <a:solidFill>
            <a:srgbClr val="0B2545"/>
          </a:solidFill>
          <a:ln/>
        </p:spPr>
      </p:sp>
      <p:sp>
        <p:nvSpPr>
          <p:cNvPr id="6" name="Text 4"/>
          <p:cNvSpPr/>
          <p:nvPr/>
        </p:nvSpPr>
        <p:spPr>
          <a:xfrm>
            <a:off x="731520" y="1371600"/>
            <a:ext cx="51206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FUNCTIONAL REQUIREMENTS</a:t>
            </a:r>
            <a:endParaRPr lang="en-US" sz="1300" dirty="0"/>
          </a:p>
        </p:txBody>
      </p:sp>
      <p:sp>
        <p:nvSpPr>
          <p:cNvPr id="7" name="Text 5"/>
          <p:cNvSpPr/>
          <p:nvPr/>
        </p:nvSpPr>
        <p:spPr>
          <a:xfrm>
            <a:off x="777240" y="2011680"/>
            <a:ext cx="5029200" cy="4114800"/>
          </a:xfrm>
          <a:prstGeom prst="rect">
            <a:avLst/>
          </a:prstGeom>
          <a:noFill/>
          <a:ln/>
        </p:spPr>
        <p:txBody>
          <a:bodyPr wrap="square" lIns="0" tIns="0" rIns="0" bIns="0" rtlCol="0" anchor="ctr"/>
          <a:lstStyle/>
          <a:p>
            <a:pPr marL="342900" indent="-342900">
              <a:spcAft>
                <a:spcPts val="900"/>
              </a:spcAft>
              <a:buSzPct val="100000"/>
              <a:buChar char="•"/>
            </a:pPr>
            <a:r>
              <a:rPr lang="en-US" sz="1150" dirty="0">
                <a:solidFill>
                  <a:srgbClr val="16233B"/>
                </a:solidFill>
                <a:latin typeface="Calibri" pitchFamily="34" charset="0"/>
                <a:ea typeface="Calibri" pitchFamily="34" charset="-122"/>
                <a:cs typeface="Calibri" pitchFamily="34" charset="-120"/>
              </a:rPr>
              <a:t>User registration &amp; login with role-based JWT (MEMBER / TRAINER / ADMIN)</a:t>
            </a:r>
            <a:endParaRPr lang="en-US" sz="1150" dirty="0"/>
          </a:p>
          <a:p>
            <a:pPr marL="342900" indent="-342900">
              <a:spcAft>
                <a:spcPts val="900"/>
              </a:spcAft>
              <a:buSzPct val="100000"/>
              <a:buChar char="•"/>
            </a:pPr>
            <a:r>
              <a:rPr lang="en-US" sz="1150" dirty="0">
                <a:solidFill>
                  <a:srgbClr val="16233B"/>
                </a:solidFill>
                <a:latin typeface="Calibri" pitchFamily="34" charset="0"/>
                <a:ea typeface="Calibri" pitchFamily="34" charset="-122"/>
                <a:cs typeface="Calibri" pitchFamily="34" charset="-120"/>
              </a:rPr>
              <a:t>Members browse and subscribe to membership plans</a:t>
            </a:r>
            <a:endParaRPr lang="en-US" sz="1150" dirty="0"/>
          </a:p>
          <a:p>
            <a:pPr marL="342900" indent="-342900">
              <a:spcAft>
                <a:spcPts val="900"/>
              </a:spcAft>
              <a:buSzPct val="100000"/>
              <a:buChar char="•"/>
            </a:pPr>
            <a:r>
              <a:rPr lang="en-US" sz="1150" dirty="0">
                <a:solidFill>
                  <a:srgbClr val="16233B"/>
                </a:solidFill>
                <a:latin typeface="Calibri" pitchFamily="34" charset="0"/>
                <a:ea typeface="Calibri" pitchFamily="34" charset="-122"/>
                <a:cs typeface="Calibri" pitchFamily="34" charset="-120"/>
              </a:rPr>
              <a:t>Members book trainer sessions against a live weekly schedule</a:t>
            </a:r>
            <a:endParaRPr lang="en-US" sz="1150" dirty="0"/>
          </a:p>
          <a:p>
            <a:pPr marL="342900" indent="-342900">
              <a:spcAft>
                <a:spcPts val="900"/>
              </a:spcAft>
              <a:buSzPct val="100000"/>
              <a:buChar char="•"/>
            </a:pPr>
            <a:r>
              <a:rPr lang="en-US" sz="1150" dirty="0">
                <a:solidFill>
                  <a:srgbClr val="16233B"/>
                </a:solidFill>
                <a:latin typeface="Calibri" pitchFamily="34" charset="0"/>
                <a:ea typeface="Calibri" pitchFamily="34" charset="-122"/>
                <a:cs typeface="Calibri" pitchFamily="34" charset="-120"/>
              </a:rPr>
              <a:t>Backend decides FREE vs PAID session automatically per member quota</a:t>
            </a:r>
            <a:endParaRPr lang="en-US" sz="1150" dirty="0"/>
          </a:p>
          <a:p>
            <a:pPr marL="342900" indent="-342900">
              <a:spcAft>
                <a:spcPts val="900"/>
              </a:spcAft>
              <a:buSzPct val="100000"/>
              <a:buChar char="•"/>
            </a:pPr>
            <a:r>
              <a:rPr lang="en-US" sz="1150" dirty="0">
                <a:solidFill>
                  <a:srgbClr val="16233B"/>
                </a:solidFill>
                <a:latin typeface="Calibri" pitchFamily="34" charset="0"/>
                <a:ea typeface="Calibri" pitchFamily="34" charset="-122"/>
                <a:cs typeface="Calibri" pitchFamily="34" charset="-120"/>
              </a:rPr>
              <a:t>Razorpay-integrated online payments with signature verification</a:t>
            </a:r>
            <a:endParaRPr lang="en-US" sz="1150" dirty="0"/>
          </a:p>
          <a:p>
            <a:pPr marL="342900" indent="-342900">
              <a:spcAft>
                <a:spcPts val="900"/>
              </a:spcAft>
              <a:buSzPct val="100000"/>
              <a:buChar char="•"/>
            </a:pPr>
            <a:r>
              <a:rPr lang="en-US" sz="1150" dirty="0">
                <a:solidFill>
                  <a:srgbClr val="16233B"/>
                </a:solidFill>
                <a:latin typeface="Calibri" pitchFamily="34" charset="0"/>
                <a:ea typeface="Calibri" pitchFamily="34" charset="-122"/>
                <a:cs typeface="Calibri" pitchFamily="34" charset="-120"/>
              </a:rPr>
              <a:t>Real-time in-app notifications (SSE) + email for every event</a:t>
            </a:r>
            <a:endParaRPr lang="en-US" sz="1150" dirty="0"/>
          </a:p>
          <a:p>
            <a:pPr marL="342900" indent="-342900">
              <a:spcAft>
                <a:spcPts val="900"/>
              </a:spcAft>
              <a:buSzPct val="100000"/>
              <a:buChar char="•"/>
            </a:pPr>
            <a:r>
              <a:rPr lang="en-US" sz="1150" dirty="0">
                <a:solidFill>
                  <a:srgbClr val="16233B"/>
                </a:solidFill>
                <a:latin typeface="Calibri" pitchFamily="34" charset="0"/>
                <a:ea typeface="Calibri" pitchFamily="34" charset="-122"/>
                <a:cs typeface="Calibri" pitchFamily="34" charset="-120"/>
              </a:rPr>
              <a:t>Admin CRUD over members, trainers, plans, and global visibility</a:t>
            </a:r>
            <a:endParaRPr lang="en-US" sz="1150" dirty="0"/>
          </a:p>
          <a:p>
            <a:pPr marL="342900" indent="-342900">
              <a:spcAft>
                <a:spcPts val="900"/>
              </a:spcAft>
              <a:buSzPct val="100000"/>
              <a:buChar char="•"/>
            </a:pPr>
            <a:r>
              <a:rPr lang="en-US" sz="1150" dirty="0">
                <a:solidFill>
                  <a:srgbClr val="16233B"/>
                </a:solidFill>
                <a:latin typeface="Calibri" pitchFamily="34" charset="0"/>
                <a:ea typeface="Calibri" pitchFamily="34" charset="-122"/>
                <a:cs typeface="Calibri" pitchFamily="34" charset="-120"/>
              </a:rPr>
              <a:t>AI chatbot (GymBot) for member/trainer/admin self-service Q&amp;A</a:t>
            </a:r>
            <a:endParaRPr lang="en-US" sz="1150" dirty="0"/>
          </a:p>
        </p:txBody>
      </p:sp>
      <p:sp>
        <p:nvSpPr>
          <p:cNvPr id="8" name="Shape 6"/>
          <p:cNvSpPr/>
          <p:nvPr/>
        </p:nvSpPr>
        <p:spPr>
          <a:xfrm>
            <a:off x="6309360" y="1371600"/>
            <a:ext cx="5394960" cy="4846320"/>
          </a:xfrm>
          <a:prstGeom prst="roundRect">
            <a:avLst>
              <a:gd name="adj" fmla="val 1321"/>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9" name="Shape 7"/>
          <p:cNvSpPr/>
          <p:nvPr/>
        </p:nvSpPr>
        <p:spPr>
          <a:xfrm>
            <a:off x="6309360" y="1371600"/>
            <a:ext cx="5394960" cy="502920"/>
          </a:xfrm>
          <a:prstGeom prst="rect">
            <a:avLst/>
          </a:prstGeom>
          <a:solidFill>
            <a:srgbClr val="1B4F91"/>
          </a:solidFill>
          <a:ln/>
        </p:spPr>
      </p:sp>
      <p:sp>
        <p:nvSpPr>
          <p:cNvPr id="10" name="Text 8"/>
          <p:cNvSpPr/>
          <p:nvPr/>
        </p:nvSpPr>
        <p:spPr>
          <a:xfrm>
            <a:off x="6537960" y="1371600"/>
            <a:ext cx="502920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NON-FUNCTIONAL REQUIREMENTS</a:t>
            </a:r>
            <a:endParaRPr lang="en-US" sz="1300" dirty="0"/>
          </a:p>
        </p:txBody>
      </p:sp>
      <p:sp>
        <p:nvSpPr>
          <p:cNvPr id="11" name="Text 9"/>
          <p:cNvSpPr/>
          <p:nvPr/>
        </p:nvSpPr>
        <p:spPr>
          <a:xfrm>
            <a:off x="6583680" y="2011680"/>
            <a:ext cx="4892040" cy="411480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16233B"/>
                </a:solidFill>
                <a:latin typeface="Calibri" pitchFamily="34" charset="0"/>
                <a:ea typeface="Calibri" pitchFamily="34" charset="-122"/>
                <a:cs typeface="Calibri" pitchFamily="34" charset="-120"/>
              </a:rPr>
              <a:t>Scalability — independently deployable, horizontally scalable services via Eureka + Gateway load balancing</a:t>
            </a:r>
            <a:endParaRPr lang="en-US" sz="1100" dirty="0"/>
          </a:p>
          <a:p>
            <a:pPr marL="342900" indent="-342900">
              <a:spcAft>
                <a:spcPts val="900"/>
              </a:spcAft>
              <a:buSzPct val="100000"/>
              <a:buChar char="•"/>
            </a:pPr>
            <a:r>
              <a:rPr lang="en-US" sz="1100" dirty="0">
                <a:solidFill>
                  <a:srgbClr val="16233B"/>
                </a:solidFill>
                <a:latin typeface="Calibri" pitchFamily="34" charset="0"/>
                <a:ea typeface="Calibri" pitchFamily="34" charset="-122"/>
                <a:cs typeface="Calibri" pitchFamily="34" charset="-120"/>
              </a:rPr>
              <a:t>Security — stateless JWT auth, BCrypt password hashing, gateway-level filtering</a:t>
            </a:r>
            <a:endParaRPr lang="en-US" sz="1100" dirty="0"/>
          </a:p>
          <a:p>
            <a:pPr marL="342900" indent="-342900">
              <a:spcAft>
                <a:spcPts val="900"/>
              </a:spcAft>
              <a:buSzPct val="100000"/>
              <a:buChar char="•"/>
            </a:pPr>
            <a:r>
              <a:rPr lang="en-US" sz="1100" dirty="0">
                <a:solidFill>
                  <a:srgbClr val="16233B"/>
                </a:solidFill>
                <a:latin typeface="Calibri" pitchFamily="34" charset="0"/>
                <a:ea typeface="Calibri" pitchFamily="34" charset="-122"/>
                <a:cs typeface="Calibri" pitchFamily="34" charset="-120"/>
              </a:rPr>
              <a:t>Reliability — RabbitMQ dead-letter queues with retry + backoff for guaranteed notification delivery</a:t>
            </a:r>
            <a:endParaRPr lang="en-US" sz="1100" dirty="0"/>
          </a:p>
          <a:p>
            <a:pPr marL="342900" indent="-342900">
              <a:spcAft>
                <a:spcPts val="900"/>
              </a:spcAft>
              <a:buSzPct val="100000"/>
              <a:buChar char="•"/>
            </a:pPr>
            <a:r>
              <a:rPr lang="en-US" sz="1100" dirty="0">
                <a:solidFill>
                  <a:srgbClr val="16233B"/>
                </a:solidFill>
                <a:latin typeface="Calibri" pitchFamily="34" charset="0"/>
                <a:ea typeface="Calibri" pitchFamily="34" charset="-122"/>
                <a:cs typeface="Calibri" pitchFamily="34" charset="-120"/>
              </a:rPr>
              <a:t>Maintainability — clean layered packages (controller/service/repository/entity/dto) per service</a:t>
            </a:r>
            <a:endParaRPr lang="en-US" sz="1100" dirty="0"/>
          </a:p>
          <a:p>
            <a:pPr marL="342900" indent="-342900">
              <a:spcAft>
                <a:spcPts val="900"/>
              </a:spcAft>
              <a:buSzPct val="100000"/>
              <a:buChar char="•"/>
            </a:pPr>
            <a:r>
              <a:rPr lang="en-US" sz="1100" dirty="0">
                <a:solidFill>
                  <a:srgbClr val="16233B"/>
                </a:solidFill>
                <a:latin typeface="Calibri" pitchFamily="34" charset="0"/>
                <a:ea typeface="Calibri" pitchFamily="34" charset="-122"/>
                <a:cs typeface="Calibri" pitchFamily="34" charset="-120"/>
              </a:rPr>
              <a:t>Observability — AOP logging &amp; performance aspects, Swagger/OpenAPI docs per service</a:t>
            </a:r>
            <a:endParaRPr lang="en-US" sz="1100" dirty="0"/>
          </a:p>
          <a:p>
            <a:pPr marL="342900" indent="-342900">
              <a:spcAft>
                <a:spcPts val="900"/>
              </a:spcAft>
              <a:buSzPct val="100000"/>
              <a:buChar char="•"/>
            </a:pPr>
            <a:r>
              <a:rPr lang="en-US" sz="1100" dirty="0">
                <a:solidFill>
                  <a:srgbClr val="16233B"/>
                </a:solidFill>
                <a:latin typeface="Calibri" pitchFamily="34" charset="0"/>
                <a:ea typeface="Calibri" pitchFamily="34" charset="-122"/>
                <a:cs typeface="Calibri" pitchFamily="34" charset="-120"/>
              </a:rPr>
              <a:t>Data Isolation — one MySQL schema per microservice (database-per-service pattern)</a:t>
            </a:r>
            <a:endParaRPr lang="en-US" sz="1100" dirty="0"/>
          </a:p>
          <a:p>
            <a:pPr marL="342900" indent="-342900">
              <a:spcAft>
                <a:spcPts val="900"/>
              </a:spcAft>
              <a:buSzPct val="100000"/>
              <a:buChar char="•"/>
            </a:pPr>
            <a:r>
              <a:rPr lang="en-US" sz="1100" dirty="0">
                <a:solidFill>
                  <a:srgbClr val="16233B"/>
                </a:solidFill>
                <a:latin typeface="Calibri" pitchFamily="34" charset="0"/>
                <a:ea typeface="Calibri" pitchFamily="34" charset="-122"/>
                <a:cs typeface="Calibri" pitchFamily="34" charset="-120"/>
              </a:rPr>
              <a:t>Portability — Docker-free local run using localhost service discovery</a:t>
            </a:r>
            <a:endParaRPr lang="en-US" sz="1100" dirty="0"/>
          </a:p>
        </p:txBody>
      </p:sp>
      <p:sp>
        <p:nvSpPr>
          <p:cNvPr id="12" name="Text 10"/>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13" name="Text 11"/>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Business Requirements</a:t>
            </a:r>
            <a:endParaRPr lang="en-US" sz="900" dirty="0"/>
          </a:p>
        </p:txBody>
      </p:sp>
      <p:sp>
        <p:nvSpPr>
          <p:cNvPr id="14" name="Text 12"/>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What GymPro Is Built With</a:t>
            </a:r>
            <a:endParaRPr lang="en-US" sz="2800" dirty="0"/>
          </a:p>
        </p:txBody>
      </p:sp>
      <p:sp>
        <p:nvSpPr>
          <p:cNvPr id="4" name="Shape 2"/>
          <p:cNvSpPr/>
          <p:nvPr/>
        </p:nvSpPr>
        <p:spPr>
          <a:xfrm>
            <a:off x="502920" y="1417320"/>
            <a:ext cx="3639312" cy="2331720"/>
          </a:xfrm>
          <a:prstGeom prst="roundRect">
            <a:avLst>
              <a:gd name="adj" fmla="val 2745"/>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5" name="Shape 3"/>
          <p:cNvSpPr/>
          <p:nvPr/>
        </p:nvSpPr>
        <p:spPr>
          <a:xfrm>
            <a:off x="704088" y="1618488"/>
            <a:ext cx="457200" cy="457200"/>
          </a:xfrm>
          <a:prstGeom prst="ellipse">
            <a:avLst/>
          </a:prstGeom>
          <a:solidFill>
            <a:srgbClr val="EAF2FB"/>
          </a:solidFill>
          <a:ln/>
        </p:spPr>
      </p:sp>
      <p:pic>
        <p:nvPicPr>
          <p:cNvPr id="6" name="Image 0" descr="preencoded.png">    </p:cNvPr>
          <p:cNvPicPr>
            <a:picLocks noChangeAspect="1"/>
          </p:cNvPicPr>
          <p:nvPr/>
        </p:nvPicPr>
        <p:blipFill>
          <a:blip r:embed="rId1"/>
          <a:stretch>
            <a:fillRect/>
          </a:stretch>
        </p:blipFill>
        <p:spPr>
          <a:xfrm>
            <a:off x="822960" y="1737360"/>
            <a:ext cx="219456" cy="219456"/>
          </a:xfrm>
          <a:prstGeom prst="rect">
            <a:avLst/>
          </a:prstGeom>
        </p:spPr>
      </p:pic>
      <p:sp>
        <p:nvSpPr>
          <p:cNvPr id="7" name="Text 4"/>
          <p:cNvSpPr/>
          <p:nvPr/>
        </p:nvSpPr>
        <p:spPr>
          <a:xfrm>
            <a:off x="1280160" y="1645920"/>
            <a:ext cx="2724912" cy="41148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Frontend</a:t>
            </a:r>
            <a:endParaRPr lang="en-US" sz="1500" dirty="0"/>
          </a:p>
        </p:txBody>
      </p:sp>
      <p:sp>
        <p:nvSpPr>
          <p:cNvPr id="8" name="Text 5"/>
          <p:cNvSpPr/>
          <p:nvPr/>
        </p:nvSpPr>
        <p:spPr>
          <a:xfrm>
            <a:off x="758952" y="2194560"/>
            <a:ext cx="3136392" cy="1417320"/>
          </a:xfrm>
          <a:prstGeom prst="rect">
            <a:avLst/>
          </a:prstGeom>
          <a:noFill/>
          <a:ln/>
        </p:spPr>
        <p:txBody>
          <a:bodyPr wrap="square" lIns="0" tIns="0" rIns="0" bIns="0" rtlCol="0" anchor="ctr"/>
          <a:lstStyle/>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React 18.3 + Vite 5</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Redux Toolkit 2.12 (state)</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React Router DOM 6.23</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Axios (HTTP client)</a:t>
            </a:r>
            <a:endParaRPr lang="en-US" sz="1030" dirty="0"/>
          </a:p>
        </p:txBody>
      </p:sp>
      <p:sp>
        <p:nvSpPr>
          <p:cNvPr id="9" name="Shape 6"/>
          <p:cNvSpPr/>
          <p:nvPr/>
        </p:nvSpPr>
        <p:spPr>
          <a:xfrm>
            <a:off x="4398264" y="1417320"/>
            <a:ext cx="3639312" cy="2331720"/>
          </a:xfrm>
          <a:prstGeom prst="roundRect">
            <a:avLst>
              <a:gd name="adj" fmla="val 2745"/>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10" name="Shape 7"/>
          <p:cNvSpPr/>
          <p:nvPr/>
        </p:nvSpPr>
        <p:spPr>
          <a:xfrm>
            <a:off x="4599432" y="1618488"/>
            <a:ext cx="457200" cy="457200"/>
          </a:xfrm>
          <a:prstGeom prst="ellipse">
            <a:avLst/>
          </a:prstGeom>
          <a:solidFill>
            <a:srgbClr val="EAF2FB"/>
          </a:solidFill>
          <a:ln/>
        </p:spPr>
      </p:sp>
      <p:pic>
        <p:nvPicPr>
          <p:cNvPr id="11" name="Image 1" descr="preencoded.png">    </p:cNvPr>
          <p:cNvPicPr>
            <a:picLocks noChangeAspect="1"/>
          </p:cNvPicPr>
          <p:nvPr/>
        </p:nvPicPr>
        <p:blipFill>
          <a:blip r:embed="rId2"/>
          <a:stretch>
            <a:fillRect/>
          </a:stretch>
        </p:blipFill>
        <p:spPr>
          <a:xfrm>
            <a:off x="4718304" y="1737360"/>
            <a:ext cx="219456" cy="219456"/>
          </a:xfrm>
          <a:prstGeom prst="rect">
            <a:avLst/>
          </a:prstGeom>
        </p:spPr>
      </p:pic>
      <p:sp>
        <p:nvSpPr>
          <p:cNvPr id="12" name="Text 8"/>
          <p:cNvSpPr/>
          <p:nvPr/>
        </p:nvSpPr>
        <p:spPr>
          <a:xfrm>
            <a:off x="5175504" y="1645920"/>
            <a:ext cx="2724912" cy="41148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Backend Core</a:t>
            </a:r>
            <a:endParaRPr lang="en-US" sz="1500" dirty="0"/>
          </a:p>
        </p:txBody>
      </p:sp>
      <p:sp>
        <p:nvSpPr>
          <p:cNvPr id="13" name="Text 9"/>
          <p:cNvSpPr/>
          <p:nvPr/>
        </p:nvSpPr>
        <p:spPr>
          <a:xfrm>
            <a:off x="4654296" y="2194560"/>
            <a:ext cx="3136392" cy="1417320"/>
          </a:xfrm>
          <a:prstGeom prst="rect">
            <a:avLst/>
          </a:prstGeom>
          <a:noFill/>
          <a:ln/>
        </p:spPr>
        <p:txBody>
          <a:bodyPr wrap="square" lIns="0" tIns="0" rIns="0" bIns="0" rtlCol="0" anchor="ctr"/>
          <a:lstStyle/>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Spring Boot 3.2.5 (Java 17)</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Spring Cloud 2023.0.1</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Spring MVC / Spring Data JPA</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Lombok</a:t>
            </a:r>
            <a:endParaRPr lang="en-US" sz="1030" dirty="0"/>
          </a:p>
        </p:txBody>
      </p:sp>
      <p:sp>
        <p:nvSpPr>
          <p:cNvPr id="14" name="Shape 10"/>
          <p:cNvSpPr/>
          <p:nvPr/>
        </p:nvSpPr>
        <p:spPr>
          <a:xfrm>
            <a:off x="8293608" y="1417320"/>
            <a:ext cx="3639312" cy="2331720"/>
          </a:xfrm>
          <a:prstGeom prst="roundRect">
            <a:avLst>
              <a:gd name="adj" fmla="val 2745"/>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15" name="Shape 11"/>
          <p:cNvSpPr/>
          <p:nvPr/>
        </p:nvSpPr>
        <p:spPr>
          <a:xfrm>
            <a:off x="8494776" y="1618488"/>
            <a:ext cx="457200" cy="457200"/>
          </a:xfrm>
          <a:prstGeom prst="ellipse">
            <a:avLst/>
          </a:prstGeom>
          <a:solidFill>
            <a:srgbClr val="EAF2FB"/>
          </a:solidFill>
          <a:ln/>
        </p:spPr>
      </p:sp>
      <p:pic>
        <p:nvPicPr>
          <p:cNvPr id="16" name="Image 2" descr="preencoded.png">    </p:cNvPr>
          <p:cNvPicPr>
            <a:picLocks noChangeAspect="1"/>
          </p:cNvPicPr>
          <p:nvPr/>
        </p:nvPicPr>
        <p:blipFill>
          <a:blip r:embed="rId3"/>
          <a:stretch>
            <a:fillRect/>
          </a:stretch>
        </p:blipFill>
        <p:spPr>
          <a:xfrm>
            <a:off x="8613648" y="1737360"/>
            <a:ext cx="219456" cy="219456"/>
          </a:xfrm>
          <a:prstGeom prst="rect">
            <a:avLst/>
          </a:prstGeom>
        </p:spPr>
      </p:pic>
      <p:sp>
        <p:nvSpPr>
          <p:cNvPr id="17" name="Text 12"/>
          <p:cNvSpPr/>
          <p:nvPr/>
        </p:nvSpPr>
        <p:spPr>
          <a:xfrm>
            <a:off x="9070848" y="1645920"/>
            <a:ext cx="2724912" cy="41148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Security</a:t>
            </a:r>
            <a:endParaRPr lang="en-US" sz="1500" dirty="0"/>
          </a:p>
        </p:txBody>
      </p:sp>
      <p:sp>
        <p:nvSpPr>
          <p:cNvPr id="18" name="Text 13"/>
          <p:cNvSpPr/>
          <p:nvPr/>
        </p:nvSpPr>
        <p:spPr>
          <a:xfrm>
            <a:off x="8549640" y="2194560"/>
            <a:ext cx="3136392" cy="1417320"/>
          </a:xfrm>
          <a:prstGeom prst="rect">
            <a:avLst/>
          </a:prstGeom>
          <a:noFill/>
          <a:ln/>
        </p:spPr>
        <p:txBody>
          <a:bodyPr wrap="square" lIns="0" tIns="0" rIns="0" bIns="0" rtlCol="0" anchor="ctr"/>
          <a:lstStyle/>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Spring Security 6</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JWT (jjwt / HS256)</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BCryptPasswordEncoder</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Gateway JWT Global Filter</a:t>
            </a:r>
            <a:endParaRPr lang="en-US" sz="1030" dirty="0"/>
          </a:p>
        </p:txBody>
      </p:sp>
      <p:sp>
        <p:nvSpPr>
          <p:cNvPr id="19" name="Shape 14"/>
          <p:cNvSpPr/>
          <p:nvPr/>
        </p:nvSpPr>
        <p:spPr>
          <a:xfrm>
            <a:off x="502920" y="4005072"/>
            <a:ext cx="3639312" cy="2331720"/>
          </a:xfrm>
          <a:prstGeom prst="roundRect">
            <a:avLst>
              <a:gd name="adj" fmla="val 2745"/>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20" name="Shape 15"/>
          <p:cNvSpPr/>
          <p:nvPr/>
        </p:nvSpPr>
        <p:spPr>
          <a:xfrm>
            <a:off x="704088" y="4206240"/>
            <a:ext cx="457200" cy="457200"/>
          </a:xfrm>
          <a:prstGeom prst="ellipse">
            <a:avLst/>
          </a:prstGeom>
          <a:solidFill>
            <a:srgbClr val="EAF2FB"/>
          </a:solidFill>
          <a:ln/>
        </p:spPr>
      </p:sp>
      <p:pic>
        <p:nvPicPr>
          <p:cNvPr id="21" name="Image 3" descr="preencoded.png">    </p:cNvPr>
          <p:cNvPicPr>
            <a:picLocks noChangeAspect="1"/>
          </p:cNvPicPr>
          <p:nvPr/>
        </p:nvPicPr>
        <p:blipFill>
          <a:blip r:embed="rId4"/>
          <a:stretch>
            <a:fillRect/>
          </a:stretch>
        </p:blipFill>
        <p:spPr>
          <a:xfrm>
            <a:off x="822960" y="4325112"/>
            <a:ext cx="219456" cy="219456"/>
          </a:xfrm>
          <a:prstGeom prst="rect">
            <a:avLst/>
          </a:prstGeom>
        </p:spPr>
      </p:pic>
      <p:sp>
        <p:nvSpPr>
          <p:cNvPr id="22" name="Text 16"/>
          <p:cNvSpPr/>
          <p:nvPr/>
        </p:nvSpPr>
        <p:spPr>
          <a:xfrm>
            <a:off x="1280160" y="4233672"/>
            <a:ext cx="2724912" cy="41148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Messaging</a:t>
            </a:r>
            <a:endParaRPr lang="en-US" sz="1500" dirty="0"/>
          </a:p>
        </p:txBody>
      </p:sp>
      <p:sp>
        <p:nvSpPr>
          <p:cNvPr id="23" name="Text 17"/>
          <p:cNvSpPr/>
          <p:nvPr/>
        </p:nvSpPr>
        <p:spPr>
          <a:xfrm>
            <a:off x="758952" y="4782312"/>
            <a:ext cx="3136392" cy="1417320"/>
          </a:xfrm>
          <a:prstGeom prst="rect">
            <a:avLst/>
          </a:prstGeom>
          <a:noFill/>
          <a:ln/>
        </p:spPr>
        <p:txBody>
          <a:bodyPr wrap="square" lIns="0" tIns="0" rIns="0" bIns="0" rtlCol="0" anchor="ctr"/>
          <a:lstStyle/>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RabbitMQ (Topic Exchange)</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Spring AMQP</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Dead-Letter Queues + Retry</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Jackson JSON Converter</a:t>
            </a:r>
            <a:endParaRPr lang="en-US" sz="1030" dirty="0"/>
          </a:p>
        </p:txBody>
      </p:sp>
      <p:sp>
        <p:nvSpPr>
          <p:cNvPr id="24" name="Shape 18"/>
          <p:cNvSpPr/>
          <p:nvPr/>
        </p:nvSpPr>
        <p:spPr>
          <a:xfrm>
            <a:off x="4398264" y="4005072"/>
            <a:ext cx="3639312" cy="2331720"/>
          </a:xfrm>
          <a:prstGeom prst="roundRect">
            <a:avLst>
              <a:gd name="adj" fmla="val 2745"/>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25" name="Shape 19"/>
          <p:cNvSpPr/>
          <p:nvPr/>
        </p:nvSpPr>
        <p:spPr>
          <a:xfrm>
            <a:off x="4599432" y="4206240"/>
            <a:ext cx="457200" cy="457200"/>
          </a:xfrm>
          <a:prstGeom prst="ellipse">
            <a:avLst/>
          </a:prstGeom>
          <a:solidFill>
            <a:srgbClr val="EAF2FB"/>
          </a:solidFill>
          <a:ln/>
        </p:spPr>
      </p:sp>
      <p:pic>
        <p:nvPicPr>
          <p:cNvPr id="26" name="Image 4" descr="preencoded.png">    </p:cNvPr>
          <p:cNvPicPr>
            <a:picLocks noChangeAspect="1"/>
          </p:cNvPicPr>
          <p:nvPr/>
        </p:nvPicPr>
        <p:blipFill>
          <a:blip r:embed="rId5"/>
          <a:stretch>
            <a:fillRect/>
          </a:stretch>
        </p:blipFill>
        <p:spPr>
          <a:xfrm>
            <a:off x="4718304" y="4325112"/>
            <a:ext cx="219456" cy="219456"/>
          </a:xfrm>
          <a:prstGeom prst="rect">
            <a:avLst/>
          </a:prstGeom>
        </p:spPr>
      </p:pic>
      <p:sp>
        <p:nvSpPr>
          <p:cNvPr id="27" name="Text 20"/>
          <p:cNvSpPr/>
          <p:nvPr/>
        </p:nvSpPr>
        <p:spPr>
          <a:xfrm>
            <a:off x="5175504" y="4233672"/>
            <a:ext cx="2724912" cy="41148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Service Mesh</a:t>
            </a:r>
            <a:endParaRPr lang="en-US" sz="1500" dirty="0"/>
          </a:p>
        </p:txBody>
      </p:sp>
      <p:sp>
        <p:nvSpPr>
          <p:cNvPr id="28" name="Text 21"/>
          <p:cNvSpPr/>
          <p:nvPr/>
        </p:nvSpPr>
        <p:spPr>
          <a:xfrm>
            <a:off x="4654296" y="4782312"/>
            <a:ext cx="3136392" cy="1417320"/>
          </a:xfrm>
          <a:prstGeom prst="rect">
            <a:avLst/>
          </a:prstGeom>
          <a:noFill/>
          <a:ln/>
        </p:spPr>
        <p:txBody>
          <a:bodyPr wrap="square" lIns="0" tIns="0" rIns="0" bIns="0" rtlCol="0" anchor="ctr"/>
          <a:lstStyle/>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Netflix Eureka (Discovery)</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Spring Cloud Gateway</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OpenFeign (inter-service)</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Load-balanced routing (lb://)</a:t>
            </a:r>
            <a:endParaRPr lang="en-US" sz="1030" dirty="0"/>
          </a:p>
        </p:txBody>
      </p:sp>
      <p:sp>
        <p:nvSpPr>
          <p:cNvPr id="29" name="Shape 22"/>
          <p:cNvSpPr/>
          <p:nvPr/>
        </p:nvSpPr>
        <p:spPr>
          <a:xfrm>
            <a:off x="8293608" y="4005072"/>
            <a:ext cx="3639312" cy="2331720"/>
          </a:xfrm>
          <a:prstGeom prst="roundRect">
            <a:avLst>
              <a:gd name="adj" fmla="val 2745"/>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30" name="Shape 23"/>
          <p:cNvSpPr/>
          <p:nvPr/>
        </p:nvSpPr>
        <p:spPr>
          <a:xfrm>
            <a:off x="8494776" y="4206240"/>
            <a:ext cx="457200" cy="457200"/>
          </a:xfrm>
          <a:prstGeom prst="ellipse">
            <a:avLst/>
          </a:prstGeom>
          <a:solidFill>
            <a:srgbClr val="EAF2FB"/>
          </a:solidFill>
          <a:ln/>
        </p:spPr>
      </p:sp>
      <p:pic>
        <p:nvPicPr>
          <p:cNvPr id="31" name="Image 5" descr="preencoded.png">    </p:cNvPr>
          <p:cNvPicPr>
            <a:picLocks noChangeAspect="1"/>
          </p:cNvPicPr>
          <p:nvPr/>
        </p:nvPicPr>
        <p:blipFill>
          <a:blip r:embed="rId6"/>
          <a:stretch>
            <a:fillRect/>
          </a:stretch>
        </p:blipFill>
        <p:spPr>
          <a:xfrm>
            <a:off x="8613648" y="4325112"/>
            <a:ext cx="219456" cy="219456"/>
          </a:xfrm>
          <a:prstGeom prst="rect">
            <a:avLst/>
          </a:prstGeom>
        </p:spPr>
      </p:pic>
      <p:sp>
        <p:nvSpPr>
          <p:cNvPr id="32" name="Text 24"/>
          <p:cNvSpPr/>
          <p:nvPr/>
        </p:nvSpPr>
        <p:spPr>
          <a:xfrm>
            <a:off x="9070848" y="4233672"/>
            <a:ext cx="2724912" cy="41148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Data &amp; Docs</a:t>
            </a:r>
            <a:endParaRPr lang="en-US" sz="1500" dirty="0"/>
          </a:p>
        </p:txBody>
      </p:sp>
      <p:sp>
        <p:nvSpPr>
          <p:cNvPr id="33" name="Text 25"/>
          <p:cNvSpPr/>
          <p:nvPr/>
        </p:nvSpPr>
        <p:spPr>
          <a:xfrm>
            <a:off x="8549640" y="4782312"/>
            <a:ext cx="3136392" cy="1417320"/>
          </a:xfrm>
          <a:prstGeom prst="rect">
            <a:avLst/>
          </a:prstGeom>
          <a:noFill/>
          <a:ln/>
        </p:spPr>
        <p:txBody>
          <a:bodyPr wrap="square" lIns="0" tIns="0" rIns="0" bIns="0" rtlCol="0" anchor="ctr"/>
          <a:lstStyle/>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MySQL (DB-per-service)</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Maven (build)</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Swagger / OpenAPI 3</a:t>
            </a:r>
            <a:endParaRPr lang="en-US" sz="1030" dirty="0"/>
          </a:p>
          <a:p>
            <a:pPr marL="342900" indent="-342900">
              <a:spcAft>
                <a:spcPts val="500"/>
              </a:spcAft>
              <a:buSzPct val="100000"/>
              <a:buChar char="•"/>
            </a:pPr>
            <a:r>
              <a:rPr lang="en-US" sz="1030" dirty="0">
                <a:solidFill>
                  <a:srgbClr val="16233B"/>
                </a:solidFill>
                <a:latin typeface="Calibri" pitchFamily="34" charset="0"/>
                <a:ea typeface="Calibri" pitchFamily="34" charset="-122"/>
                <a:cs typeface="Calibri" pitchFamily="34" charset="-120"/>
              </a:rPr>
              <a:t>Google Gemini 2.5 Flash API</a:t>
            </a:r>
            <a:endParaRPr lang="en-US" sz="1030" dirty="0"/>
          </a:p>
        </p:txBody>
      </p:sp>
      <p:sp>
        <p:nvSpPr>
          <p:cNvPr id="34" name="Text 26"/>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35" name="Text 27"/>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Technology Stack</a:t>
            </a:r>
            <a:endParaRPr lang="en-US" sz="900" dirty="0"/>
          </a:p>
        </p:txBody>
      </p:sp>
      <p:sp>
        <p:nvSpPr>
          <p:cNvPr id="36" name="Text 28"/>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Overall System Architecture</a:t>
            </a:r>
            <a:endParaRPr lang="en-US" sz="2800" dirty="0"/>
          </a:p>
        </p:txBody>
      </p:sp>
      <p:sp>
        <p:nvSpPr>
          <p:cNvPr id="4" name="Shape 2"/>
          <p:cNvSpPr/>
          <p:nvPr/>
        </p:nvSpPr>
        <p:spPr>
          <a:xfrm>
            <a:off x="4480560" y="1325880"/>
            <a:ext cx="3200400" cy="457200"/>
          </a:xfrm>
          <a:prstGeom prst="roundRect">
            <a:avLst>
              <a:gd name="adj" fmla="val 12000"/>
            </a:avLst>
          </a:prstGeom>
          <a:solidFill>
            <a:srgbClr val="0B2545"/>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5" name="Text 3"/>
          <p:cNvSpPr/>
          <p:nvPr/>
        </p:nvSpPr>
        <p:spPr>
          <a:xfrm>
            <a:off x="4480560" y="1325880"/>
            <a:ext cx="3200400" cy="45720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React Frontend  (Vite · Redux Toolkit)</a:t>
            </a:r>
            <a:endParaRPr lang="en-US" sz="1100" dirty="0"/>
          </a:p>
        </p:txBody>
      </p:sp>
      <p:sp>
        <p:nvSpPr>
          <p:cNvPr id="6" name="Shape 4"/>
          <p:cNvSpPr/>
          <p:nvPr/>
        </p:nvSpPr>
        <p:spPr>
          <a:xfrm>
            <a:off x="6080760" y="1783080"/>
            <a:ext cx="0" cy="256032"/>
          </a:xfrm>
          <a:prstGeom prst="line">
            <a:avLst/>
          </a:prstGeom>
          <a:noFill/>
          <a:ln w="25400">
            <a:solidFill>
              <a:srgbClr val="3E7CC9"/>
            </a:solidFill>
            <a:prstDash val="solid"/>
            <a:tailEnd type="triangle"/>
          </a:ln>
        </p:spPr>
      </p:sp>
      <p:sp>
        <p:nvSpPr>
          <p:cNvPr id="7" name="Shape 5"/>
          <p:cNvSpPr/>
          <p:nvPr/>
        </p:nvSpPr>
        <p:spPr>
          <a:xfrm>
            <a:off x="4251960" y="2039112"/>
            <a:ext cx="3657600" cy="457200"/>
          </a:xfrm>
          <a:prstGeom prst="roundRect">
            <a:avLst>
              <a:gd name="adj" fmla="val 12000"/>
            </a:avLst>
          </a:prstGeom>
          <a:solidFill>
            <a:srgbClr val="1B4F91"/>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8" name="Text 6"/>
          <p:cNvSpPr/>
          <p:nvPr/>
        </p:nvSpPr>
        <p:spPr>
          <a:xfrm>
            <a:off x="4251960" y="2039112"/>
            <a:ext cx="365760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API Gateway  :8080  (JWT Filter · CORS · Routing)</a:t>
            </a:r>
            <a:endParaRPr lang="en-US" sz="1050" dirty="0"/>
          </a:p>
        </p:txBody>
      </p:sp>
      <p:sp>
        <p:nvSpPr>
          <p:cNvPr id="9" name="Shape 7"/>
          <p:cNvSpPr/>
          <p:nvPr/>
        </p:nvSpPr>
        <p:spPr>
          <a:xfrm>
            <a:off x="6080760" y="2496312"/>
            <a:ext cx="0" cy="237744"/>
          </a:xfrm>
          <a:prstGeom prst="line">
            <a:avLst/>
          </a:prstGeom>
          <a:noFill/>
          <a:ln w="25400">
            <a:solidFill>
              <a:srgbClr val="3E7CC9"/>
            </a:solidFill>
            <a:prstDash val="solid"/>
            <a:tailEnd type="triangle"/>
          </a:ln>
        </p:spPr>
      </p:sp>
      <p:sp>
        <p:nvSpPr>
          <p:cNvPr id="10" name="Shape 8"/>
          <p:cNvSpPr/>
          <p:nvPr/>
        </p:nvSpPr>
        <p:spPr>
          <a:xfrm>
            <a:off x="9966960" y="1965960"/>
            <a:ext cx="1691640" cy="603504"/>
          </a:xfrm>
          <a:prstGeom prst="roundRect">
            <a:avLst>
              <a:gd name="adj" fmla="val 9091"/>
            </a:avLst>
          </a:prstGeom>
          <a:solidFill>
            <a:srgbClr val="12345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1" name="Text 9"/>
          <p:cNvSpPr/>
          <p:nvPr/>
        </p:nvSpPr>
        <p:spPr>
          <a:xfrm>
            <a:off x="9966960" y="1965960"/>
            <a:ext cx="1691640" cy="603504"/>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Eureka Server</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:8761</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(Discovery)</a:t>
            </a:r>
            <a:endParaRPr lang="en-US" sz="950" dirty="0"/>
          </a:p>
        </p:txBody>
      </p:sp>
      <p:sp>
        <p:nvSpPr>
          <p:cNvPr id="12" name="Shape 10"/>
          <p:cNvSpPr/>
          <p:nvPr/>
        </p:nvSpPr>
        <p:spPr>
          <a:xfrm>
            <a:off x="7909560" y="2267712"/>
            <a:ext cx="2057400" cy="0"/>
          </a:xfrm>
          <a:prstGeom prst="line">
            <a:avLst/>
          </a:prstGeom>
          <a:noFill/>
          <a:ln w="19050">
            <a:solidFill>
              <a:srgbClr val="00A9E0"/>
            </a:solidFill>
            <a:prstDash val="dash"/>
            <a:tailEnd type="triangle"/>
          </a:ln>
        </p:spPr>
      </p:sp>
      <p:sp>
        <p:nvSpPr>
          <p:cNvPr id="13" name="Shape 11"/>
          <p:cNvSpPr/>
          <p:nvPr/>
        </p:nvSpPr>
        <p:spPr>
          <a:xfrm>
            <a:off x="518922" y="2743200"/>
            <a:ext cx="1298448" cy="566928"/>
          </a:xfrm>
          <a:prstGeom prst="roundRect">
            <a:avLst>
              <a:gd name="adj" fmla="val 9677"/>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4" name="Text 12"/>
          <p:cNvSpPr/>
          <p:nvPr/>
        </p:nvSpPr>
        <p:spPr>
          <a:xfrm>
            <a:off x="518922" y="2743200"/>
            <a:ext cx="1298448" cy="566928"/>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Auth</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:8081</a:t>
            </a:r>
            <a:endParaRPr lang="en-US" sz="900" dirty="0"/>
          </a:p>
        </p:txBody>
      </p:sp>
      <p:sp>
        <p:nvSpPr>
          <p:cNvPr id="15" name="Shape 13"/>
          <p:cNvSpPr/>
          <p:nvPr/>
        </p:nvSpPr>
        <p:spPr>
          <a:xfrm>
            <a:off x="1922526" y="2743200"/>
            <a:ext cx="1298448" cy="566928"/>
          </a:xfrm>
          <a:prstGeom prst="roundRect">
            <a:avLst>
              <a:gd name="adj" fmla="val 9677"/>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6" name="Text 14"/>
          <p:cNvSpPr/>
          <p:nvPr/>
        </p:nvSpPr>
        <p:spPr>
          <a:xfrm>
            <a:off x="1922526" y="2743200"/>
            <a:ext cx="1298448" cy="566928"/>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Member</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:8082</a:t>
            </a:r>
            <a:endParaRPr lang="en-US" sz="900" dirty="0"/>
          </a:p>
        </p:txBody>
      </p:sp>
      <p:sp>
        <p:nvSpPr>
          <p:cNvPr id="17" name="Shape 15"/>
          <p:cNvSpPr/>
          <p:nvPr/>
        </p:nvSpPr>
        <p:spPr>
          <a:xfrm>
            <a:off x="3326130" y="2743200"/>
            <a:ext cx="1298448" cy="566928"/>
          </a:xfrm>
          <a:prstGeom prst="roundRect">
            <a:avLst>
              <a:gd name="adj" fmla="val 9677"/>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8" name="Text 16"/>
          <p:cNvSpPr/>
          <p:nvPr/>
        </p:nvSpPr>
        <p:spPr>
          <a:xfrm>
            <a:off x="3326130" y="2743200"/>
            <a:ext cx="1298448" cy="566928"/>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Trainer</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:8083</a:t>
            </a:r>
            <a:endParaRPr lang="en-US" sz="900" dirty="0"/>
          </a:p>
        </p:txBody>
      </p:sp>
      <p:sp>
        <p:nvSpPr>
          <p:cNvPr id="19" name="Shape 17"/>
          <p:cNvSpPr/>
          <p:nvPr/>
        </p:nvSpPr>
        <p:spPr>
          <a:xfrm>
            <a:off x="4729734" y="2743200"/>
            <a:ext cx="1298448" cy="566928"/>
          </a:xfrm>
          <a:prstGeom prst="roundRect">
            <a:avLst>
              <a:gd name="adj" fmla="val 9677"/>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0" name="Text 18"/>
          <p:cNvSpPr/>
          <p:nvPr/>
        </p:nvSpPr>
        <p:spPr>
          <a:xfrm>
            <a:off x="4729734" y="2743200"/>
            <a:ext cx="1298448" cy="566928"/>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Plan</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:8084</a:t>
            </a:r>
            <a:endParaRPr lang="en-US" sz="900" dirty="0"/>
          </a:p>
        </p:txBody>
      </p:sp>
      <p:sp>
        <p:nvSpPr>
          <p:cNvPr id="21" name="Shape 19"/>
          <p:cNvSpPr/>
          <p:nvPr/>
        </p:nvSpPr>
        <p:spPr>
          <a:xfrm>
            <a:off x="6133338" y="2743200"/>
            <a:ext cx="1298448" cy="566928"/>
          </a:xfrm>
          <a:prstGeom prst="roundRect">
            <a:avLst>
              <a:gd name="adj" fmla="val 9677"/>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2" name="Text 20"/>
          <p:cNvSpPr/>
          <p:nvPr/>
        </p:nvSpPr>
        <p:spPr>
          <a:xfrm>
            <a:off x="6133338" y="2743200"/>
            <a:ext cx="1298448" cy="566928"/>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Booking</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:8085</a:t>
            </a:r>
            <a:endParaRPr lang="en-US" sz="900" dirty="0"/>
          </a:p>
        </p:txBody>
      </p:sp>
      <p:sp>
        <p:nvSpPr>
          <p:cNvPr id="23" name="Shape 21"/>
          <p:cNvSpPr/>
          <p:nvPr/>
        </p:nvSpPr>
        <p:spPr>
          <a:xfrm>
            <a:off x="7536942" y="2743200"/>
            <a:ext cx="1298448" cy="566928"/>
          </a:xfrm>
          <a:prstGeom prst="roundRect">
            <a:avLst>
              <a:gd name="adj" fmla="val 9677"/>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4" name="Text 22"/>
          <p:cNvSpPr/>
          <p:nvPr/>
        </p:nvSpPr>
        <p:spPr>
          <a:xfrm>
            <a:off x="7536942" y="2743200"/>
            <a:ext cx="1298448" cy="566928"/>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Notification</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:8086</a:t>
            </a:r>
            <a:endParaRPr lang="en-US" sz="900" dirty="0"/>
          </a:p>
        </p:txBody>
      </p:sp>
      <p:sp>
        <p:nvSpPr>
          <p:cNvPr id="25" name="Shape 23"/>
          <p:cNvSpPr/>
          <p:nvPr/>
        </p:nvSpPr>
        <p:spPr>
          <a:xfrm>
            <a:off x="8940546" y="2743200"/>
            <a:ext cx="1298448" cy="566928"/>
          </a:xfrm>
          <a:prstGeom prst="roundRect">
            <a:avLst>
              <a:gd name="adj" fmla="val 9677"/>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6" name="Text 24"/>
          <p:cNvSpPr/>
          <p:nvPr/>
        </p:nvSpPr>
        <p:spPr>
          <a:xfrm>
            <a:off x="8940546" y="2743200"/>
            <a:ext cx="1298448" cy="566928"/>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Payment</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:8087</a:t>
            </a:r>
            <a:endParaRPr lang="en-US" sz="900" dirty="0"/>
          </a:p>
        </p:txBody>
      </p:sp>
      <p:sp>
        <p:nvSpPr>
          <p:cNvPr id="27" name="Shape 25"/>
          <p:cNvSpPr/>
          <p:nvPr/>
        </p:nvSpPr>
        <p:spPr>
          <a:xfrm>
            <a:off x="10344150" y="2743200"/>
            <a:ext cx="1298448" cy="566928"/>
          </a:xfrm>
          <a:prstGeom prst="roundRect">
            <a:avLst>
              <a:gd name="adj" fmla="val 9677"/>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8" name="Text 26"/>
          <p:cNvSpPr/>
          <p:nvPr/>
        </p:nvSpPr>
        <p:spPr>
          <a:xfrm>
            <a:off x="10344150" y="2743200"/>
            <a:ext cx="1298448" cy="566928"/>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Chatbot</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:8088</a:t>
            </a:r>
            <a:endParaRPr lang="en-US" sz="900" dirty="0"/>
          </a:p>
        </p:txBody>
      </p:sp>
      <p:sp>
        <p:nvSpPr>
          <p:cNvPr id="29" name="Shape 27"/>
          <p:cNvSpPr/>
          <p:nvPr/>
        </p:nvSpPr>
        <p:spPr>
          <a:xfrm>
            <a:off x="6080760" y="2953512"/>
            <a:ext cx="0" cy="246888"/>
          </a:xfrm>
          <a:prstGeom prst="line">
            <a:avLst/>
          </a:prstGeom>
          <a:noFill/>
          <a:ln w="25400">
            <a:solidFill>
              <a:srgbClr val="3E7CC9"/>
            </a:solidFill>
            <a:prstDash val="solid"/>
            <a:tailEnd type="triangle"/>
          </a:ln>
        </p:spPr>
      </p:sp>
      <p:sp>
        <p:nvSpPr>
          <p:cNvPr id="30" name="Shape 28"/>
          <p:cNvSpPr/>
          <p:nvPr/>
        </p:nvSpPr>
        <p:spPr>
          <a:xfrm>
            <a:off x="1168146" y="2542032"/>
            <a:ext cx="9825228" cy="0"/>
          </a:xfrm>
          <a:prstGeom prst="line">
            <a:avLst/>
          </a:prstGeom>
          <a:noFill/>
          <a:ln w="19050">
            <a:solidFill>
              <a:srgbClr val="3E7CC9"/>
            </a:solidFill>
            <a:prstDash val="solid"/>
          </a:ln>
        </p:spPr>
      </p:sp>
      <p:sp>
        <p:nvSpPr>
          <p:cNvPr id="31" name="Shape 29"/>
          <p:cNvSpPr/>
          <p:nvPr/>
        </p:nvSpPr>
        <p:spPr>
          <a:xfrm>
            <a:off x="6080760" y="2496312"/>
            <a:ext cx="0" cy="246888"/>
          </a:xfrm>
          <a:prstGeom prst="line">
            <a:avLst/>
          </a:prstGeom>
          <a:noFill/>
          <a:ln w="25400">
            <a:solidFill>
              <a:srgbClr val="3E7CC9"/>
            </a:solidFill>
            <a:prstDash val="solid"/>
            <a:tailEnd type="triangle"/>
          </a:ln>
        </p:spPr>
      </p:sp>
      <p:sp>
        <p:nvSpPr>
          <p:cNvPr id="32" name="Shape 30"/>
          <p:cNvSpPr/>
          <p:nvPr/>
        </p:nvSpPr>
        <p:spPr>
          <a:xfrm>
            <a:off x="6080760" y="3310128"/>
            <a:ext cx="0" cy="219456"/>
          </a:xfrm>
          <a:prstGeom prst="line">
            <a:avLst/>
          </a:prstGeom>
          <a:noFill/>
          <a:ln w="25400">
            <a:solidFill>
              <a:srgbClr val="3E7CC9"/>
            </a:solidFill>
            <a:prstDash val="solid"/>
            <a:tailEnd type="triangle"/>
          </a:ln>
        </p:spPr>
      </p:sp>
      <p:sp>
        <p:nvSpPr>
          <p:cNvPr id="33" name="Shape 31"/>
          <p:cNvSpPr/>
          <p:nvPr/>
        </p:nvSpPr>
        <p:spPr>
          <a:xfrm>
            <a:off x="3063240" y="3566160"/>
            <a:ext cx="6035040" cy="502920"/>
          </a:xfrm>
          <a:prstGeom prst="roundRect">
            <a:avLst>
              <a:gd name="adj" fmla="val 1090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34" name="Text 32"/>
          <p:cNvSpPr/>
          <p:nvPr/>
        </p:nvSpPr>
        <p:spPr>
          <a:xfrm>
            <a:off x="3063240" y="3566160"/>
            <a:ext cx="6035040" cy="502920"/>
          </a:xfrm>
          <a:prstGeom prst="rect">
            <a:avLst/>
          </a:prstGeom>
          <a:noFill/>
          <a:ln/>
        </p:spPr>
        <p:txBody>
          <a:bodyPr wrap="square" lIns="25400" tIns="25400" rIns="25400" bIns="254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MySQL — one database per microservice  (auth_db · member_db · trainer_db · plan_db · booking_db · notification_db · payment_db)</a:t>
            </a:r>
            <a:endParaRPr lang="en-US" sz="900" dirty="0"/>
          </a:p>
        </p:txBody>
      </p:sp>
      <p:sp>
        <p:nvSpPr>
          <p:cNvPr id="35" name="Shape 33"/>
          <p:cNvSpPr/>
          <p:nvPr/>
        </p:nvSpPr>
        <p:spPr>
          <a:xfrm>
            <a:off x="6080760" y="4069080"/>
            <a:ext cx="0" cy="219456"/>
          </a:xfrm>
          <a:prstGeom prst="line">
            <a:avLst/>
          </a:prstGeom>
          <a:noFill/>
          <a:ln w="25400">
            <a:solidFill>
              <a:srgbClr val="3E7CC9"/>
            </a:solidFill>
            <a:prstDash val="solid"/>
            <a:tailEnd type="triangle"/>
          </a:ln>
        </p:spPr>
      </p:sp>
      <p:sp>
        <p:nvSpPr>
          <p:cNvPr id="36" name="Shape 34"/>
          <p:cNvSpPr/>
          <p:nvPr/>
        </p:nvSpPr>
        <p:spPr>
          <a:xfrm>
            <a:off x="4480560" y="4325112"/>
            <a:ext cx="3200400" cy="502920"/>
          </a:xfrm>
          <a:prstGeom prst="roundRect">
            <a:avLst>
              <a:gd name="adj" fmla="val 10909"/>
            </a:avLst>
          </a:prstGeom>
          <a:solidFill>
            <a:srgbClr val="C9781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37" name="Text 35"/>
          <p:cNvSpPr/>
          <p:nvPr/>
        </p:nvSpPr>
        <p:spPr>
          <a:xfrm>
            <a:off x="4480560" y="4325112"/>
            <a:ext cx="3200400" cy="50292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RabbitMQ Broker — gympro.exchange (Topic)</a:t>
            </a:r>
            <a:endParaRPr lang="en-US" sz="1050" dirty="0"/>
          </a:p>
        </p:txBody>
      </p:sp>
      <p:sp>
        <p:nvSpPr>
          <p:cNvPr id="38" name="Shape 36"/>
          <p:cNvSpPr/>
          <p:nvPr/>
        </p:nvSpPr>
        <p:spPr>
          <a:xfrm>
            <a:off x="6080760" y="4828032"/>
            <a:ext cx="0" cy="219456"/>
          </a:xfrm>
          <a:prstGeom prst="line">
            <a:avLst/>
          </a:prstGeom>
          <a:noFill/>
          <a:ln w="25400">
            <a:solidFill>
              <a:srgbClr val="3E7CC9"/>
            </a:solidFill>
            <a:prstDash val="solid"/>
            <a:tailEnd type="triangle"/>
          </a:ln>
        </p:spPr>
      </p:sp>
      <p:sp>
        <p:nvSpPr>
          <p:cNvPr id="39" name="Shape 37"/>
          <p:cNvSpPr/>
          <p:nvPr/>
        </p:nvSpPr>
        <p:spPr>
          <a:xfrm>
            <a:off x="1965960" y="5074920"/>
            <a:ext cx="2697480" cy="658368"/>
          </a:xfrm>
          <a:prstGeom prst="roundRect">
            <a:avLst>
              <a:gd name="adj" fmla="val 8333"/>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40" name="Text 38"/>
          <p:cNvSpPr/>
          <p:nvPr/>
        </p:nvSpPr>
        <p:spPr>
          <a:xfrm>
            <a:off x="1965960" y="5074920"/>
            <a:ext cx="2697480" cy="658368"/>
          </a:xfrm>
          <a:prstGeom prst="rect">
            <a:avLst/>
          </a:prstGeom>
          <a:noFill/>
          <a:ln/>
        </p:spPr>
        <p:txBody>
          <a:bodyPr wrap="square" lIns="25400" tIns="25400" rIns="25400" bIns="254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Notification Service</a:t>
            </a:r>
            <a:endParaRPr lang="en-US" sz="950" dirty="0"/>
          </a:p>
          <a:p>
            <a:pPr algn="ctr" indent="0" marL="0">
              <a:buNone/>
            </a:pPr>
            <a:r>
              <a:rPr lang="en-US" sz="950" b="1" dirty="0">
                <a:solidFill>
                  <a:srgbClr val="0B2545"/>
                </a:solidFill>
                <a:latin typeface="Calibri" pitchFamily="34" charset="0"/>
                <a:ea typeface="Calibri" pitchFamily="34" charset="-122"/>
                <a:cs typeface="Calibri" pitchFamily="34" charset="-120"/>
              </a:rPr>
              <a:t>Email (SMTP) + SSE push + DB</a:t>
            </a:r>
            <a:endParaRPr lang="en-US" sz="950" dirty="0"/>
          </a:p>
        </p:txBody>
      </p:sp>
      <p:sp>
        <p:nvSpPr>
          <p:cNvPr id="41" name="Shape 39"/>
          <p:cNvSpPr/>
          <p:nvPr/>
        </p:nvSpPr>
        <p:spPr>
          <a:xfrm>
            <a:off x="4800600" y="5074920"/>
            <a:ext cx="2697480" cy="658368"/>
          </a:xfrm>
          <a:prstGeom prst="roundRect">
            <a:avLst>
              <a:gd name="adj" fmla="val 8333"/>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42" name="Text 40"/>
          <p:cNvSpPr/>
          <p:nvPr/>
        </p:nvSpPr>
        <p:spPr>
          <a:xfrm>
            <a:off x="4800600" y="5074920"/>
            <a:ext cx="2697480" cy="658368"/>
          </a:xfrm>
          <a:prstGeom prst="rect">
            <a:avLst/>
          </a:prstGeom>
          <a:noFill/>
          <a:ln/>
        </p:spPr>
        <p:txBody>
          <a:bodyPr wrap="square" lIns="25400" tIns="25400" rIns="25400" bIns="254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Gemini API (external)</a:t>
            </a:r>
            <a:endParaRPr lang="en-US" sz="950" dirty="0"/>
          </a:p>
          <a:p>
            <a:pPr algn="ctr" indent="0" marL="0">
              <a:buNone/>
            </a:pPr>
            <a:r>
              <a:rPr lang="en-US" sz="950" b="1" dirty="0">
                <a:solidFill>
                  <a:srgbClr val="0B2545"/>
                </a:solidFill>
                <a:latin typeface="Calibri" pitchFamily="34" charset="0"/>
                <a:ea typeface="Calibri" pitchFamily="34" charset="-122"/>
                <a:cs typeface="Calibri" pitchFamily="34" charset="-120"/>
              </a:rPr>
              <a:t>gemini-2.5-flash generateContent</a:t>
            </a:r>
            <a:endParaRPr lang="en-US" sz="950" dirty="0"/>
          </a:p>
        </p:txBody>
      </p:sp>
      <p:sp>
        <p:nvSpPr>
          <p:cNvPr id="43" name="Shape 41"/>
          <p:cNvSpPr/>
          <p:nvPr/>
        </p:nvSpPr>
        <p:spPr>
          <a:xfrm>
            <a:off x="7635240" y="5074920"/>
            <a:ext cx="2697480" cy="658368"/>
          </a:xfrm>
          <a:prstGeom prst="roundRect">
            <a:avLst>
              <a:gd name="adj" fmla="val 8333"/>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44" name="Text 42"/>
          <p:cNvSpPr/>
          <p:nvPr/>
        </p:nvSpPr>
        <p:spPr>
          <a:xfrm>
            <a:off x="7635240" y="5074920"/>
            <a:ext cx="2697480" cy="658368"/>
          </a:xfrm>
          <a:prstGeom prst="rect">
            <a:avLst/>
          </a:prstGeom>
          <a:noFill/>
          <a:ln/>
        </p:spPr>
        <p:txBody>
          <a:bodyPr wrap="square" lIns="25400" tIns="25400" rIns="25400" bIns="254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Razorpay API (external)</a:t>
            </a:r>
            <a:endParaRPr lang="en-US" sz="950" dirty="0"/>
          </a:p>
          <a:p>
            <a:pPr algn="ctr" indent="0" marL="0">
              <a:buNone/>
            </a:pPr>
            <a:r>
              <a:rPr lang="en-US" sz="950" b="1" dirty="0">
                <a:solidFill>
                  <a:srgbClr val="0B2545"/>
                </a:solidFill>
                <a:latin typeface="Calibri" pitchFamily="34" charset="0"/>
                <a:ea typeface="Calibri" pitchFamily="34" charset="-122"/>
                <a:cs typeface="Calibri" pitchFamily="34" charset="-120"/>
              </a:rPr>
              <a:t>Order + signature verification</a:t>
            </a:r>
            <a:endParaRPr lang="en-US" sz="950" dirty="0"/>
          </a:p>
        </p:txBody>
      </p:sp>
      <p:sp>
        <p:nvSpPr>
          <p:cNvPr id="45" name="Text 43"/>
          <p:cNvSpPr/>
          <p:nvPr/>
        </p:nvSpPr>
        <p:spPr>
          <a:xfrm>
            <a:off x="502920" y="5943600"/>
            <a:ext cx="7315200" cy="274320"/>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Synchronous (REST / Feign)   </a:t>
            </a:r>
            <a:pPr indent="0" marL="0">
              <a:buNone/>
            </a:pPr>
            <a:r>
              <a:rPr lang="en-US" sz="950" dirty="0">
                <a:solidFill>
                  <a:srgbClr val="C9781F"/>
                </a:solidFill>
                <a:latin typeface="Calibri" pitchFamily="34" charset="0"/>
                <a:ea typeface="Calibri" pitchFamily="34" charset="-122"/>
                <a:cs typeface="Calibri" pitchFamily="34" charset="-120"/>
              </a:rPr>
              <a:t>Asynchronous (RabbitMQ)   </a:t>
            </a:r>
            <a:pPr indent="0" marL="0">
              <a:buNone/>
            </a:pPr>
            <a:r>
              <a:rPr lang="en-US" sz="950" dirty="0">
                <a:solidFill>
                  <a:srgbClr val="0086B3"/>
                </a:solidFill>
                <a:latin typeface="Calibri" pitchFamily="34" charset="0"/>
                <a:ea typeface="Calibri" pitchFamily="34" charset="-122"/>
                <a:cs typeface="Calibri" pitchFamily="34" charset="-120"/>
              </a:rPr>
              <a:t>Service Discovery</a:t>
            </a:r>
            <a:endParaRPr lang="en-US" sz="950" dirty="0"/>
          </a:p>
        </p:txBody>
      </p:sp>
      <p:sp>
        <p:nvSpPr>
          <p:cNvPr id="46" name="Text 44"/>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47" name="Text 45"/>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System Architecture</a:t>
            </a:r>
            <a:endParaRPr lang="en-US" sz="900" dirty="0"/>
          </a:p>
        </p:txBody>
      </p:sp>
      <p:sp>
        <p:nvSpPr>
          <p:cNvPr id="48" name="Text 46"/>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MICROSERVICES ARCHITECTURE</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Nine Services, Each With a Single Responsibility</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247120" cy="914400"/>
        </p:xfrm>
        <a:graphic>
          <a:graphicData uri="http://schemas.openxmlformats.org/drawingml/2006/table">
            <a:tbl>
              <a:tblPr/>
              <a:tblGrid>
                <a:gridCol w="2331720"/>
                <a:gridCol w="777240"/>
                <a:gridCol w="4937760"/>
                <a:gridCol w="3200400"/>
              </a:tblGrid>
              <a:tr h="402336">
                <a:tc>
                  <a:txBody>
                    <a:bodyPr/>
                    <a:lstStyle/>
                    <a:p>
                      <a:pPr algn="l" indent="0" marL="0">
                        <a:buNone/>
                      </a:pPr>
                      <a:r>
                        <a:rPr lang="en-US" sz="1100" b="1" dirty="0">
                          <a:solidFill>
                            <a:srgbClr val="FFFFFF"/>
                          </a:solidFill>
                        </a:rPr>
                        <a:t>Service</a:t>
                      </a:r>
                      <a:endParaRPr lang="en-US" sz="110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rPr>
                        <a:t>Port</a:t>
                      </a:r>
                      <a:endParaRPr lang="en-US" sz="110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rPr>
                        <a:t>Responsibility</a:t>
                      </a:r>
                      <a:endParaRPr lang="en-US" sz="110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0B2545"/>
                    </a:solidFill>
                  </a:tcPr>
                </a:tc>
                <a:tc>
                  <a:txBody>
                    <a:bodyPr/>
                    <a:lstStyle/>
                    <a:p>
                      <a:pPr algn="l" indent="0" marL="0">
                        <a:buNone/>
                      </a:pPr>
                      <a:r>
                        <a:rPr lang="en-US" sz="1100" b="1" dirty="0">
                          <a:solidFill>
                            <a:srgbClr val="FFFFFF"/>
                          </a:solidFill>
                        </a:rPr>
                        <a:t>Talks To</a:t>
                      </a:r>
                      <a:endParaRPr lang="en-US" sz="110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0B2545"/>
                    </a:solidFill>
                  </a:tcPr>
                </a:tc>
              </a:tr>
              <a:tr h="402336">
                <a:tc>
                  <a:txBody>
                    <a:bodyPr/>
                    <a:lstStyle/>
                    <a:p>
                      <a:pPr algn="l" indent="0" marL="0">
                        <a:buNone/>
                      </a:pPr>
                      <a:r>
                        <a:rPr lang="en-US" sz="1030" dirty="0">
                          <a:solidFill>
                            <a:srgbClr val="16233B"/>
                          </a:solidFill>
                        </a:rPr>
                        <a:t>eureka-server</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ctr" indent="0" marL="0">
                        <a:buNone/>
                      </a:pPr>
                      <a:r>
                        <a:rPr lang="en-US" sz="1030" dirty="0">
                          <a:solidFill>
                            <a:srgbClr val="16233B"/>
                          </a:solidFill>
                        </a:rPr>
                        <a:t>8761</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Service registry &amp; discovery</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r>
              <a:tr h="402336">
                <a:tc>
                  <a:txBody>
                    <a:bodyPr/>
                    <a:lstStyle/>
                    <a:p>
                      <a:pPr algn="l" indent="0" marL="0">
                        <a:buNone/>
                      </a:pPr>
                      <a:r>
                        <a:rPr lang="en-US" sz="1030" dirty="0">
                          <a:solidFill>
                            <a:srgbClr val="16233B"/>
                          </a:solidFill>
                        </a:rPr>
                        <a:t>gateway-service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16233B"/>
                          </a:solidFill>
                        </a:rPr>
                        <a:t>8080</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JWT validation, routing, CORS</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All services (via Eureka)</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r>
              <a:tr h="402336">
                <a:tc>
                  <a:txBody>
                    <a:bodyPr/>
                    <a:lstStyle/>
                    <a:p>
                      <a:pPr algn="l" indent="0" marL="0">
                        <a:buNone/>
                      </a:pPr>
                      <a:r>
                        <a:rPr lang="en-US" sz="1030" dirty="0">
                          <a:solidFill>
                            <a:srgbClr val="16233B"/>
                          </a:solidFill>
                        </a:rPr>
                        <a:t>auth-service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ctr" indent="0" marL="0">
                        <a:buNone/>
                      </a:pPr>
                      <a:r>
                        <a:rPr lang="en-US" sz="1030" dirty="0">
                          <a:solidFill>
                            <a:srgbClr val="16233B"/>
                          </a:solidFill>
                        </a:rPr>
                        <a:t>8081</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Register/login, JWT issue, OTP reset</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trainer-service (Feign)</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r>
              <a:tr h="402336">
                <a:tc>
                  <a:txBody>
                    <a:bodyPr/>
                    <a:lstStyle/>
                    <a:p>
                      <a:pPr algn="l" indent="0" marL="0">
                        <a:buNone/>
                      </a:pPr>
                      <a:r>
                        <a:rPr lang="en-US" sz="1030" dirty="0">
                          <a:solidFill>
                            <a:srgbClr val="16233B"/>
                          </a:solidFill>
                        </a:rPr>
                        <a:t>member-service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16233B"/>
                          </a:solidFill>
                        </a:rPr>
                        <a:t>8082</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Member profile CRUD</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r>
              <a:tr h="402336">
                <a:tc>
                  <a:txBody>
                    <a:bodyPr/>
                    <a:lstStyle/>
                    <a:p>
                      <a:pPr algn="l" indent="0" marL="0">
                        <a:buNone/>
                      </a:pPr>
                      <a:r>
                        <a:rPr lang="en-US" sz="1030" dirty="0">
                          <a:solidFill>
                            <a:srgbClr val="16233B"/>
                          </a:solidFill>
                        </a:rPr>
                        <a:t>trainer-service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ctr" indent="0" marL="0">
                        <a:buNone/>
                      </a:pPr>
                      <a:r>
                        <a:rPr lang="en-US" sz="1030" dirty="0">
                          <a:solidFill>
                            <a:srgbClr val="16233B"/>
                          </a:solidFill>
                        </a:rPr>
                        <a:t>8083</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Trainer profiles &amp; weekly schedule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r>
              <a:tr h="402336">
                <a:tc>
                  <a:txBody>
                    <a:bodyPr/>
                    <a:lstStyle/>
                    <a:p>
                      <a:pPr algn="l" indent="0" marL="0">
                        <a:buNone/>
                      </a:pPr>
                      <a:r>
                        <a:rPr lang="en-US" sz="1030" dirty="0">
                          <a:solidFill>
                            <a:srgbClr val="16233B"/>
                          </a:solidFill>
                        </a:rPr>
                        <a:t>plan-service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16233B"/>
                          </a:solidFill>
                        </a:rPr>
                        <a:t>8084</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Membership plans, subscriptions, free-session quota</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notification (Feign)</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r>
              <a:tr h="402336">
                <a:tc>
                  <a:txBody>
                    <a:bodyPr/>
                    <a:lstStyle/>
                    <a:p>
                      <a:pPr algn="l" indent="0" marL="0">
                        <a:buNone/>
                      </a:pPr>
                      <a:r>
                        <a:rPr lang="en-US" sz="1030" dirty="0">
                          <a:solidFill>
                            <a:srgbClr val="16233B"/>
                          </a:solidFill>
                        </a:rPr>
                        <a:t>booking-service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ctr" indent="0" marL="0">
                        <a:buNone/>
                      </a:pPr>
                      <a:r>
                        <a:rPr lang="en-US" sz="1030" dirty="0">
                          <a:solidFill>
                            <a:srgbClr val="16233B"/>
                          </a:solidFill>
                        </a:rPr>
                        <a:t>8085</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Session bookings, free/paid decision</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plan, trainer, auth, notification (Feign)</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r>
              <a:tr h="402336">
                <a:tc>
                  <a:txBody>
                    <a:bodyPr/>
                    <a:lstStyle/>
                    <a:p>
                      <a:pPr algn="l" indent="0" marL="0">
                        <a:buNone/>
                      </a:pPr>
                      <a:r>
                        <a:rPr lang="en-US" sz="1030" dirty="0">
                          <a:solidFill>
                            <a:srgbClr val="16233B"/>
                          </a:solidFill>
                        </a:rPr>
                        <a:t>notification-service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16233B"/>
                          </a:solidFill>
                        </a:rPr>
                        <a:t>8086</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Email + in-app (SSE) notifications</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RabbitMQ consumer</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r>
              <a:tr h="402336">
                <a:tc>
                  <a:txBody>
                    <a:bodyPr/>
                    <a:lstStyle/>
                    <a:p>
                      <a:pPr algn="l" indent="0" marL="0">
                        <a:buNone/>
                      </a:pPr>
                      <a:r>
                        <a:rPr lang="en-US" sz="1030" dirty="0">
                          <a:solidFill>
                            <a:srgbClr val="16233B"/>
                          </a:solidFill>
                        </a:rPr>
                        <a:t>payment-service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ctr" indent="0" marL="0">
                        <a:buNone/>
                      </a:pPr>
                      <a:r>
                        <a:rPr lang="en-US" sz="1030" dirty="0">
                          <a:solidFill>
                            <a:srgbClr val="16233B"/>
                          </a:solidFill>
                        </a:rPr>
                        <a:t>8087</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Razorpay orders, payment records, refunds</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algn="l" indent="0" marL="0">
                        <a:buNone/>
                      </a:pPr>
                      <a:r>
                        <a:rPr lang="en-US" sz="1030" dirty="0">
                          <a:solidFill>
                            <a:srgbClr val="16233B"/>
                          </a:solidFill>
                        </a:rPr>
                        <a:t>auth, notification (Feign)</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r>
              <a:tr h="402336">
                <a:tc>
                  <a:txBody>
                    <a:bodyPr/>
                    <a:lstStyle/>
                    <a:p>
                      <a:pPr algn="l" indent="0" marL="0">
                        <a:buNone/>
                      </a:pPr>
                      <a:r>
                        <a:rPr lang="en-US" sz="1030" dirty="0">
                          <a:solidFill>
                            <a:srgbClr val="16233B"/>
                          </a:solidFill>
                        </a:rPr>
                        <a:t>chatbot-service</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16233B"/>
                          </a:solidFill>
                        </a:rPr>
                        <a:t>8088</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GymBot AI assistant (Gemini)</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6233B"/>
                          </a:solidFill>
                        </a:rPr>
                        <a:t>Google Gemini API</a:t>
                      </a:r>
                      <a:endParaRPr lang="en-US" sz="1030" dirty="0"/>
                    </a:p>
                  </a:txBody>
                  <a:tcPr marL="91440" marR="91440" marT="45720" marB="45720" anchor="ctr">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6" name="Text 3"/>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Microservices Architecture</a:t>
            </a:r>
            <a:endParaRPr lang="en-US" sz="900" dirty="0"/>
          </a:p>
        </p:txBody>
      </p:sp>
      <p:sp>
        <p:nvSpPr>
          <p:cNvPr id="7" name="Text 4"/>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CODE ORGANIZATION</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Layered Package Structure (Per Service)</a:t>
            </a:r>
            <a:endParaRPr lang="en-US" sz="2800" dirty="0"/>
          </a:p>
        </p:txBody>
      </p:sp>
      <p:sp>
        <p:nvSpPr>
          <p:cNvPr id="4" name="Shape 2"/>
          <p:cNvSpPr/>
          <p:nvPr/>
        </p:nvSpPr>
        <p:spPr>
          <a:xfrm>
            <a:off x="502920" y="1371600"/>
            <a:ext cx="5486400" cy="896112"/>
          </a:xfrm>
          <a:prstGeom prst="roundRect">
            <a:avLst>
              <a:gd name="adj" fmla="val 7143"/>
            </a:avLst>
          </a:prstGeom>
          <a:solidFill>
            <a:srgbClr val="FFFFFF"/>
          </a:solidFill>
          <a:ln w="12700">
            <a:solidFill>
              <a:srgbClr val="D7E3F3"/>
            </a:solidFill>
            <a:prstDash val="solid"/>
          </a:ln>
        </p:spPr>
      </p:sp>
      <p:sp>
        <p:nvSpPr>
          <p:cNvPr id="5" name="Shape 3"/>
          <p:cNvSpPr/>
          <p:nvPr/>
        </p:nvSpPr>
        <p:spPr>
          <a:xfrm>
            <a:off x="667512" y="1545336"/>
            <a:ext cx="548640" cy="548640"/>
          </a:xfrm>
          <a:prstGeom prst="ellipse">
            <a:avLst/>
          </a:prstGeom>
          <a:solidFill>
            <a:srgbClr val="EAF2FB"/>
          </a:solidFill>
          <a:ln/>
        </p:spPr>
      </p:sp>
      <p:pic>
        <p:nvPicPr>
          <p:cNvPr id="6" name="Image 0" descr="preencoded.png">    </p:cNvPr>
          <p:cNvPicPr>
            <a:picLocks noChangeAspect="1"/>
          </p:cNvPicPr>
          <p:nvPr/>
        </p:nvPicPr>
        <p:blipFill>
          <a:blip r:embed="rId1"/>
          <a:stretch>
            <a:fillRect/>
          </a:stretch>
        </p:blipFill>
        <p:spPr>
          <a:xfrm>
            <a:off x="810158" y="1687982"/>
            <a:ext cx="263347" cy="263347"/>
          </a:xfrm>
          <a:prstGeom prst="rect">
            <a:avLst/>
          </a:prstGeom>
        </p:spPr>
      </p:pic>
      <p:sp>
        <p:nvSpPr>
          <p:cNvPr id="7" name="Text 4"/>
          <p:cNvSpPr/>
          <p:nvPr/>
        </p:nvSpPr>
        <p:spPr>
          <a:xfrm>
            <a:off x="1371600" y="1463040"/>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controller</a:t>
            </a:r>
            <a:endParaRPr lang="en-US" sz="1300" dirty="0"/>
          </a:p>
        </p:txBody>
      </p:sp>
      <p:sp>
        <p:nvSpPr>
          <p:cNvPr id="8" name="Text 5"/>
          <p:cNvSpPr/>
          <p:nvPr/>
        </p:nvSpPr>
        <p:spPr>
          <a:xfrm>
            <a:off x="1371600" y="1773936"/>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@RestController — REST endpoints, request validation, Swagger annotations</a:t>
            </a:r>
            <a:endParaRPr lang="en-US" sz="1000" dirty="0"/>
          </a:p>
        </p:txBody>
      </p:sp>
      <p:sp>
        <p:nvSpPr>
          <p:cNvPr id="9" name="Shape 6"/>
          <p:cNvSpPr/>
          <p:nvPr/>
        </p:nvSpPr>
        <p:spPr>
          <a:xfrm>
            <a:off x="6263640" y="1371600"/>
            <a:ext cx="5486400" cy="896112"/>
          </a:xfrm>
          <a:prstGeom prst="roundRect">
            <a:avLst>
              <a:gd name="adj" fmla="val 7143"/>
            </a:avLst>
          </a:prstGeom>
          <a:solidFill>
            <a:srgbClr val="FFFFFF"/>
          </a:solidFill>
          <a:ln w="12700">
            <a:solidFill>
              <a:srgbClr val="D7E3F3"/>
            </a:solidFill>
            <a:prstDash val="solid"/>
          </a:ln>
        </p:spPr>
      </p:sp>
      <p:sp>
        <p:nvSpPr>
          <p:cNvPr id="10" name="Shape 7"/>
          <p:cNvSpPr/>
          <p:nvPr/>
        </p:nvSpPr>
        <p:spPr>
          <a:xfrm>
            <a:off x="6428232" y="1545336"/>
            <a:ext cx="548640" cy="548640"/>
          </a:xfrm>
          <a:prstGeom prst="ellipse">
            <a:avLst/>
          </a:prstGeom>
          <a:solidFill>
            <a:srgbClr val="EAF2FB"/>
          </a:solidFill>
          <a:ln/>
        </p:spPr>
      </p:sp>
      <p:pic>
        <p:nvPicPr>
          <p:cNvPr id="11" name="Image 1" descr="preencoded.png">    </p:cNvPr>
          <p:cNvPicPr>
            <a:picLocks noChangeAspect="1"/>
          </p:cNvPicPr>
          <p:nvPr/>
        </p:nvPicPr>
        <p:blipFill>
          <a:blip r:embed="rId2"/>
          <a:stretch>
            <a:fillRect/>
          </a:stretch>
        </p:blipFill>
        <p:spPr>
          <a:xfrm>
            <a:off x="6570878" y="1687982"/>
            <a:ext cx="263347" cy="263347"/>
          </a:xfrm>
          <a:prstGeom prst="rect">
            <a:avLst/>
          </a:prstGeom>
        </p:spPr>
      </p:pic>
      <p:sp>
        <p:nvSpPr>
          <p:cNvPr id="12" name="Text 8"/>
          <p:cNvSpPr/>
          <p:nvPr/>
        </p:nvSpPr>
        <p:spPr>
          <a:xfrm>
            <a:off x="7132320" y="1463040"/>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service</a:t>
            </a:r>
            <a:endParaRPr lang="en-US" sz="1300" dirty="0"/>
          </a:p>
        </p:txBody>
      </p:sp>
      <p:sp>
        <p:nvSpPr>
          <p:cNvPr id="13" name="Text 9"/>
          <p:cNvSpPr/>
          <p:nvPr/>
        </p:nvSpPr>
        <p:spPr>
          <a:xfrm>
            <a:off x="7132320" y="1773936"/>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Business logic — e.g. BookingService's free-vs-paid decision engine</a:t>
            </a:r>
            <a:endParaRPr lang="en-US" sz="1000" dirty="0"/>
          </a:p>
        </p:txBody>
      </p:sp>
      <p:sp>
        <p:nvSpPr>
          <p:cNvPr id="14" name="Shape 10"/>
          <p:cNvSpPr/>
          <p:nvPr/>
        </p:nvSpPr>
        <p:spPr>
          <a:xfrm>
            <a:off x="502920" y="2395728"/>
            <a:ext cx="5486400" cy="896112"/>
          </a:xfrm>
          <a:prstGeom prst="roundRect">
            <a:avLst>
              <a:gd name="adj" fmla="val 7143"/>
            </a:avLst>
          </a:prstGeom>
          <a:solidFill>
            <a:srgbClr val="FFFFFF"/>
          </a:solidFill>
          <a:ln w="12700">
            <a:solidFill>
              <a:srgbClr val="D7E3F3"/>
            </a:solidFill>
            <a:prstDash val="solid"/>
          </a:ln>
        </p:spPr>
      </p:sp>
      <p:sp>
        <p:nvSpPr>
          <p:cNvPr id="15" name="Shape 11"/>
          <p:cNvSpPr/>
          <p:nvPr/>
        </p:nvSpPr>
        <p:spPr>
          <a:xfrm>
            <a:off x="667512" y="2569464"/>
            <a:ext cx="548640" cy="548640"/>
          </a:xfrm>
          <a:prstGeom prst="ellipse">
            <a:avLst/>
          </a:prstGeom>
          <a:solidFill>
            <a:srgbClr val="EAF2FB"/>
          </a:solidFill>
          <a:ln/>
        </p:spPr>
      </p:sp>
      <p:pic>
        <p:nvPicPr>
          <p:cNvPr id="16" name="Image 2" descr="preencoded.png">    </p:cNvPr>
          <p:cNvPicPr>
            <a:picLocks noChangeAspect="1"/>
          </p:cNvPicPr>
          <p:nvPr/>
        </p:nvPicPr>
        <p:blipFill>
          <a:blip r:embed="rId3"/>
          <a:stretch>
            <a:fillRect/>
          </a:stretch>
        </p:blipFill>
        <p:spPr>
          <a:xfrm>
            <a:off x="810158" y="2712110"/>
            <a:ext cx="263347" cy="263347"/>
          </a:xfrm>
          <a:prstGeom prst="rect">
            <a:avLst/>
          </a:prstGeom>
        </p:spPr>
      </p:pic>
      <p:sp>
        <p:nvSpPr>
          <p:cNvPr id="17" name="Text 12"/>
          <p:cNvSpPr/>
          <p:nvPr/>
        </p:nvSpPr>
        <p:spPr>
          <a:xfrm>
            <a:off x="1371600" y="2487168"/>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repository</a:t>
            </a:r>
            <a:endParaRPr lang="en-US" sz="1300" dirty="0"/>
          </a:p>
        </p:txBody>
      </p:sp>
      <p:sp>
        <p:nvSpPr>
          <p:cNvPr id="18" name="Text 13"/>
          <p:cNvSpPr/>
          <p:nvPr/>
        </p:nvSpPr>
        <p:spPr>
          <a:xfrm>
            <a:off x="1371600" y="2798064"/>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Spring Data JPA interfaces (findByMemberId, findByEmail, ...)</a:t>
            </a:r>
            <a:endParaRPr lang="en-US" sz="1000" dirty="0"/>
          </a:p>
        </p:txBody>
      </p:sp>
      <p:sp>
        <p:nvSpPr>
          <p:cNvPr id="19" name="Shape 14"/>
          <p:cNvSpPr/>
          <p:nvPr/>
        </p:nvSpPr>
        <p:spPr>
          <a:xfrm>
            <a:off x="6263640" y="2395728"/>
            <a:ext cx="5486400" cy="896112"/>
          </a:xfrm>
          <a:prstGeom prst="roundRect">
            <a:avLst>
              <a:gd name="adj" fmla="val 7143"/>
            </a:avLst>
          </a:prstGeom>
          <a:solidFill>
            <a:srgbClr val="FFFFFF"/>
          </a:solidFill>
          <a:ln w="12700">
            <a:solidFill>
              <a:srgbClr val="D7E3F3"/>
            </a:solidFill>
            <a:prstDash val="solid"/>
          </a:ln>
        </p:spPr>
      </p:sp>
      <p:sp>
        <p:nvSpPr>
          <p:cNvPr id="20" name="Shape 15"/>
          <p:cNvSpPr/>
          <p:nvPr/>
        </p:nvSpPr>
        <p:spPr>
          <a:xfrm>
            <a:off x="6428232" y="2569464"/>
            <a:ext cx="548640" cy="548640"/>
          </a:xfrm>
          <a:prstGeom prst="ellipse">
            <a:avLst/>
          </a:prstGeom>
          <a:solidFill>
            <a:srgbClr val="EAF2FB"/>
          </a:solidFill>
          <a:ln/>
        </p:spPr>
      </p:sp>
      <p:pic>
        <p:nvPicPr>
          <p:cNvPr id="21" name="Image 3" descr="preencoded.png">    </p:cNvPr>
          <p:cNvPicPr>
            <a:picLocks noChangeAspect="1"/>
          </p:cNvPicPr>
          <p:nvPr/>
        </p:nvPicPr>
        <p:blipFill>
          <a:blip r:embed="rId4"/>
          <a:stretch>
            <a:fillRect/>
          </a:stretch>
        </p:blipFill>
        <p:spPr>
          <a:xfrm>
            <a:off x="6570878" y="2712110"/>
            <a:ext cx="263347" cy="263347"/>
          </a:xfrm>
          <a:prstGeom prst="rect">
            <a:avLst/>
          </a:prstGeom>
        </p:spPr>
      </p:pic>
      <p:sp>
        <p:nvSpPr>
          <p:cNvPr id="22" name="Text 16"/>
          <p:cNvSpPr/>
          <p:nvPr/>
        </p:nvSpPr>
        <p:spPr>
          <a:xfrm>
            <a:off x="7132320" y="2487168"/>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entity</a:t>
            </a:r>
            <a:endParaRPr lang="en-US" sz="1300" dirty="0"/>
          </a:p>
        </p:txBody>
      </p:sp>
      <p:sp>
        <p:nvSpPr>
          <p:cNvPr id="23" name="Text 17"/>
          <p:cNvSpPr/>
          <p:nvPr/>
        </p:nvSpPr>
        <p:spPr>
          <a:xfrm>
            <a:off x="7132320" y="2798064"/>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@Entity JPA models mapped to MySQL tables (Lombok @Data)</a:t>
            </a:r>
            <a:endParaRPr lang="en-US" sz="1000" dirty="0"/>
          </a:p>
        </p:txBody>
      </p:sp>
      <p:sp>
        <p:nvSpPr>
          <p:cNvPr id="24" name="Shape 18"/>
          <p:cNvSpPr/>
          <p:nvPr/>
        </p:nvSpPr>
        <p:spPr>
          <a:xfrm>
            <a:off x="502920" y="3419856"/>
            <a:ext cx="5486400" cy="896112"/>
          </a:xfrm>
          <a:prstGeom prst="roundRect">
            <a:avLst>
              <a:gd name="adj" fmla="val 7143"/>
            </a:avLst>
          </a:prstGeom>
          <a:solidFill>
            <a:srgbClr val="FFFFFF"/>
          </a:solidFill>
          <a:ln w="12700">
            <a:solidFill>
              <a:srgbClr val="D7E3F3"/>
            </a:solidFill>
            <a:prstDash val="solid"/>
          </a:ln>
        </p:spPr>
      </p:sp>
      <p:sp>
        <p:nvSpPr>
          <p:cNvPr id="25" name="Shape 19"/>
          <p:cNvSpPr/>
          <p:nvPr/>
        </p:nvSpPr>
        <p:spPr>
          <a:xfrm>
            <a:off x="667512" y="3593592"/>
            <a:ext cx="548640" cy="548640"/>
          </a:xfrm>
          <a:prstGeom prst="ellipse">
            <a:avLst/>
          </a:prstGeom>
          <a:solidFill>
            <a:srgbClr val="EAF2FB"/>
          </a:solidFill>
          <a:ln/>
        </p:spPr>
      </p:sp>
      <p:pic>
        <p:nvPicPr>
          <p:cNvPr id="26" name="Image 4" descr="preencoded.png">    </p:cNvPr>
          <p:cNvPicPr>
            <a:picLocks noChangeAspect="1"/>
          </p:cNvPicPr>
          <p:nvPr/>
        </p:nvPicPr>
        <p:blipFill>
          <a:blip r:embed="rId5"/>
          <a:stretch>
            <a:fillRect/>
          </a:stretch>
        </p:blipFill>
        <p:spPr>
          <a:xfrm>
            <a:off x="810158" y="3736238"/>
            <a:ext cx="263347" cy="263347"/>
          </a:xfrm>
          <a:prstGeom prst="rect">
            <a:avLst/>
          </a:prstGeom>
        </p:spPr>
      </p:pic>
      <p:sp>
        <p:nvSpPr>
          <p:cNvPr id="27" name="Text 20"/>
          <p:cNvSpPr/>
          <p:nvPr/>
        </p:nvSpPr>
        <p:spPr>
          <a:xfrm>
            <a:off x="1371600" y="3511296"/>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dto</a:t>
            </a:r>
            <a:endParaRPr lang="en-US" sz="1300" dirty="0"/>
          </a:p>
        </p:txBody>
      </p:sp>
      <p:sp>
        <p:nvSpPr>
          <p:cNvPr id="28" name="Text 21"/>
          <p:cNvSpPr/>
          <p:nvPr/>
        </p:nvSpPr>
        <p:spPr>
          <a:xfrm>
            <a:off x="1371600" y="3822192"/>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Request/response payloads decoupled from entities (e.g. BookingRequest)</a:t>
            </a:r>
            <a:endParaRPr lang="en-US" sz="1000" dirty="0"/>
          </a:p>
        </p:txBody>
      </p:sp>
      <p:sp>
        <p:nvSpPr>
          <p:cNvPr id="29" name="Shape 22"/>
          <p:cNvSpPr/>
          <p:nvPr/>
        </p:nvSpPr>
        <p:spPr>
          <a:xfrm>
            <a:off x="6263640" y="3419856"/>
            <a:ext cx="5486400" cy="896112"/>
          </a:xfrm>
          <a:prstGeom prst="roundRect">
            <a:avLst>
              <a:gd name="adj" fmla="val 7143"/>
            </a:avLst>
          </a:prstGeom>
          <a:solidFill>
            <a:srgbClr val="FFFFFF"/>
          </a:solidFill>
          <a:ln w="12700">
            <a:solidFill>
              <a:srgbClr val="D7E3F3"/>
            </a:solidFill>
            <a:prstDash val="solid"/>
          </a:ln>
        </p:spPr>
      </p:sp>
      <p:sp>
        <p:nvSpPr>
          <p:cNvPr id="30" name="Shape 23"/>
          <p:cNvSpPr/>
          <p:nvPr/>
        </p:nvSpPr>
        <p:spPr>
          <a:xfrm>
            <a:off x="6428232" y="3593592"/>
            <a:ext cx="548640" cy="548640"/>
          </a:xfrm>
          <a:prstGeom prst="ellipse">
            <a:avLst/>
          </a:prstGeom>
          <a:solidFill>
            <a:srgbClr val="EAF2FB"/>
          </a:solidFill>
          <a:ln/>
        </p:spPr>
      </p:sp>
      <p:pic>
        <p:nvPicPr>
          <p:cNvPr id="31" name="Image 5" descr="preencoded.png">    </p:cNvPr>
          <p:cNvPicPr>
            <a:picLocks noChangeAspect="1"/>
          </p:cNvPicPr>
          <p:nvPr/>
        </p:nvPicPr>
        <p:blipFill>
          <a:blip r:embed="rId6"/>
          <a:stretch>
            <a:fillRect/>
          </a:stretch>
        </p:blipFill>
        <p:spPr>
          <a:xfrm>
            <a:off x="6570878" y="3736238"/>
            <a:ext cx="263347" cy="263347"/>
          </a:xfrm>
          <a:prstGeom prst="rect">
            <a:avLst/>
          </a:prstGeom>
        </p:spPr>
      </p:pic>
      <p:sp>
        <p:nvSpPr>
          <p:cNvPr id="32" name="Text 24"/>
          <p:cNvSpPr/>
          <p:nvPr/>
        </p:nvSpPr>
        <p:spPr>
          <a:xfrm>
            <a:off x="7132320" y="3511296"/>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config</a:t>
            </a:r>
            <a:endParaRPr lang="en-US" sz="1300" dirty="0"/>
          </a:p>
        </p:txBody>
      </p:sp>
      <p:sp>
        <p:nvSpPr>
          <p:cNvPr id="33" name="Text 25"/>
          <p:cNvSpPr/>
          <p:nvPr/>
        </p:nvSpPr>
        <p:spPr>
          <a:xfrm>
            <a:off x="7132320" y="3822192"/>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SecurityConfig, RabbitMQConfig, OpenApiConfig per service</a:t>
            </a:r>
            <a:endParaRPr lang="en-US" sz="1000" dirty="0"/>
          </a:p>
        </p:txBody>
      </p:sp>
      <p:sp>
        <p:nvSpPr>
          <p:cNvPr id="34" name="Shape 26"/>
          <p:cNvSpPr/>
          <p:nvPr/>
        </p:nvSpPr>
        <p:spPr>
          <a:xfrm>
            <a:off x="502920" y="4443984"/>
            <a:ext cx="5486400" cy="896112"/>
          </a:xfrm>
          <a:prstGeom prst="roundRect">
            <a:avLst>
              <a:gd name="adj" fmla="val 7143"/>
            </a:avLst>
          </a:prstGeom>
          <a:solidFill>
            <a:srgbClr val="FFFFFF"/>
          </a:solidFill>
          <a:ln w="12700">
            <a:solidFill>
              <a:srgbClr val="D7E3F3"/>
            </a:solidFill>
            <a:prstDash val="solid"/>
          </a:ln>
        </p:spPr>
      </p:sp>
      <p:sp>
        <p:nvSpPr>
          <p:cNvPr id="35" name="Shape 27"/>
          <p:cNvSpPr/>
          <p:nvPr/>
        </p:nvSpPr>
        <p:spPr>
          <a:xfrm>
            <a:off x="667512" y="4617720"/>
            <a:ext cx="548640" cy="548640"/>
          </a:xfrm>
          <a:prstGeom prst="ellipse">
            <a:avLst/>
          </a:prstGeom>
          <a:solidFill>
            <a:srgbClr val="EAF2FB"/>
          </a:solidFill>
          <a:ln/>
        </p:spPr>
      </p:sp>
      <p:pic>
        <p:nvPicPr>
          <p:cNvPr id="36" name="Image 6" descr="preencoded.png">    </p:cNvPr>
          <p:cNvPicPr>
            <a:picLocks noChangeAspect="1"/>
          </p:cNvPicPr>
          <p:nvPr/>
        </p:nvPicPr>
        <p:blipFill>
          <a:blip r:embed="rId7"/>
          <a:stretch>
            <a:fillRect/>
          </a:stretch>
        </p:blipFill>
        <p:spPr>
          <a:xfrm>
            <a:off x="810158" y="4760366"/>
            <a:ext cx="263347" cy="263347"/>
          </a:xfrm>
          <a:prstGeom prst="rect">
            <a:avLst/>
          </a:prstGeom>
        </p:spPr>
      </p:pic>
      <p:sp>
        <p:nvSpPr>
          <p:cNvPr id="37" name="Text 28"/>
          <p:cNvSpPr/>
          <p:nvPr/>
        </p:nvSpPr>
        <p:spPr>
          <a:xfrm>
            <a:off x="1371600" y="4535424"/>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feign</a:t>
            </a:r>
            <a:endParaRPr lang="en-US" sz="1300" dirty="0"/>
          </a:p>
        </p:txBody>
      </p:sp>
      <p:sp>
        <p:nvSpPr>
          <p:cNvPr id="38" name="Text 29"/>
          <p:cNvSpPr/>
          <p:nvPr/>
        </p:nvSpPr>
        <p:spPr>
          <a:xfrm>
            <a:off x="1371600" y="4846320"/>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OpenFeign interfaces for synchronous inter-service calls</a:t>
            </a:r>
            <a:endParaRPr lang="en-US" sz="1000" dirty="0"/>
          </a:p>
        </p:txBody>
      </p:sp>
      <p:sp>
        <p:nvSpPr>
          <p:cNvPr id="39" name="Shape 30"/>
          <p:cNvSpPr/>
          <p:nvPr/>
        </p:nvSpPr>
        <p:spPr>
          <a:xfrm>
            <a:off x="6263640" y="4443984"/>
            <a:ext cx="5486400" cy="896112"/>
          </a:xfrm>
          <a:prstGeom prst="roundRect">
            <a:avLst>
              <a:gd name="adj" fmla="val 7143"/>
            </a:avLst>
          </a:prstGeom>
          <a:solidFill>
            <a:srgbClr val="FFFFFF"/>
          </a:solidFill>
          <a:ln w="12700">
            <a:solidFill>
              <a:srgbClr val="D7E3F3"/>
            </a:solidFill>
            <a:prstDash val="solid"/>
          </a:ln>
        </p:spPr>
      </p:sp>
      <p:sp>
        <p:nvSpPr>
          <p:cNvPr id="40" name="Shape 31"/>
          <p:cNvSpPr/>
          <p:nvPr/>
        </p:nvSpPr>
        <p:spPr>
          <a:xfrm>
            <a:off x="6428232" y="4617720"/>
            <a:ext cx="548640" cy="548640"/>
          </a:xfrm>
          <a:prstGeom prst="ellipse">
            <a:avLst/>
          </a:prstGeom>
          <a:solidFill>
            <a:srgbClr val="EAF2FB"/>
          </a:solidFill>
          <a:ln/>
        </p:spPr>
      </p:sp>
      <p:pic>
        <p:nvPicPr>
          <p:cNvPr id="41" name="Image 7" descr="preencoded.png">    </p:cNvPr>
          <p:cNvPicPr>
            <a:picLocks noChangeAspect="1"/>
          </p:cNvPicPr>
          <p:nvPr/>
        </p:nvPicPr>
        <p:blipFill>
          <a:blip r:embed="rId8"/>
          <a:stretch>
            <a:fillRect/>
          </a:stretch>
        </p:blipFill>
        <p:spPr>
          <a:xfrm>
            <a:off x="6570878" y="4760366"/>
            <a:ext cx="263347" cy="263347"/>
          </a:xfrm>
          <a:prstGeom prst="rect">
            <a:avLst/>
          </a:prstGeom>
        </p:spPr>
      </p:pic>
      <p:sp>
        <p:nvSpPr>
          <p:cNvPr id="42" name="Text 32"/>
          <p:cNvSpPr/>
          <p:nvPr/>
        </p:nvSpPr>
        <p:spPr>
          <a:xfrm>
            <a:off x="7132320" y="4535424"/>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messaging</a:t>
            </a:r>
            <a:endParaRPr lang="en-US" sz="1300" dirty="0"/>
          </a:p>
        </p:txBody>
      </p:sp>
      <p:sp>
        <p:nvSpPr>
          <p:cNvPr id="43" name="Text 33"/>
          <p:cNvSpPr/>
          <p:nvPr/>
        </p:nvSpPr>
        <p:spPr>
          <a:xfrm>
            <a:off x="7132320" y="4846320"/>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NotificationPublisher / NotificationConsumer (RabbitMQ)</a:t>
            </a:r>
            <a:endParaRPr lang="en-US" sz="1000" dirty="0"/>
          </a:p>
        </p:txBody>
      </p:sp>
      <p:sp>
        <p:nvSpPr>
          <p:cNvPr id="44" name="Shape 34"/>
          <p:cNvSpPr/>
          <p:nvPr/>
        </p:nvSpPr>
        <p:spPr>
          <a:xfrm>
            <a:off x="502920" y="5468112"/>
            <a:ext cx="5486400" cy="896112"/>
          </a:xfrm>
          <a:prstGeom prst="roundRect">
            <a:avLst>
              <a:gd name="adj" fmla="val 7143"/>
            </a:avLst>
          </a:prstGeom>
          <a:solidFill>
            <a:srgbClr val="FFFFFF"/>
          </a:solidFill>
          <a:ln w="12700">
            <a:solidFill>
              <a:srgbClr val="D7E3F3"/>
            </a:solidFill>
            <a:prstDash val="solid"/>
          </a:ln>
        </p:spPr>
      </p:sp>
      <p:sp>
        <p:nvSpPr>
          <p:cNvPr id="45" name="Shape 35"/>
          <p:cNvSpPr/>
          <p:nvPr/>
        </p:nvSpPr>
        <p:spPr>
          <a:xfrm>
            <a:off x="667512" y="5641848"/>
            <a:ext cx="548640" cy="548640"/>
          </a:xfrm>
          <a:prstGeom prst="ellipse">
            <a:avLst/>
          </a:prstGeom>
          <a:solidFill>
            <a:srgbClr val="EAF2FB"/>
          </a:solidFill>
          <a:ln/>
        </p:spPr>
      </p:sp>
      <p:pic>
        <p:nvPicPr>
          <p:cNvPr id="46" name="Image 8" descr="preencoded.png">    </p:cNvPr>
          <p:cNvPicPr>
            <a:picLocks noChangeAspect="1"/>
          </p:cNvPicPr>
          <p:nvPr/>
        </p:nvPicPr>
        <p:blipFill>
          <a:blip r:embed="rId9"/>
          <a:stretch>
            <a:fillRect/>
          </a:stretch>
        </p:blipFill>
        <p:spPr>
          <a:xfrm>
            <a:off x="810158" y="5784494"/>
            <a:ext cx="263347" cy="263347"/>
          </a:xfrm>
          <a:prstGeom prst="rect">
            <a:avLst/>
          </a:prstGeom>
        </p:spPr>
      </p:pic>
      <p:sp>
        <p:nvSpPr>
          <p:cNvPr id="47" name="Text 36"/>
          <p:cNvSpPr/>
          <p:nvPr/>
        </p:nvSpPr>
        <p:spPr>
          <a:xfrm>
            <a:off x="1371600" y="5559552"/>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exception</a:t>
            </a:r>
            <a:endParaRPr lang="en-US" sz="1300" dirty="0"/>
          </a:p>
        </p:txBody>
      </p:sp>
      <p:sp>
        <p:nvSpPr>
          <p:cNvPr id="48" name="Text 37"/>
          <p:cNvSpPr/>
          <p:nvPr/>
        </p:nvSpPr>
        <p:spPr>
          <a:xfrm>
            <a:off x="1371600" y="5870448"/>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Custom exceptions + @RestControllerAdvice GlobalExceptionHandler</a:t>
            </a:r>
            <a:endParaRPr lang="en-US" sz="1000" dirty="0"/>
          </a:p>
        </p:txBody>
      </p:sp>
      <p:sp>
        <p:nvSpPr>
          <p:cNvPr id="49" name="Shape 38"/>
          <p:cNvSpPr/>
          <p:nvPr/>
        </p:nvSpPr>
        <p:spPr>
          <a:xfrm>
            <a:off x="6263640" y="5468112"/>
            <a:ext cx="5486400" cy="896112"/>
          </a:xfrm>
          <a:prstGeom prst="roundRect">
            <a:avLst>
              <a:gd name="adj" fmla="val 7143"/>
            </a:avLst>
          </a:prstGeom>
          <a:solidFill>
            <a:srgbClr val="FFFFFF"/>
          </a:solidFill>
          <a:ln w="12700">
            <a:solidFill>
              <a:srgbClr val="D7E3F3"/>
            </a:solidFill>
            <a:prstDash val="solid"/>
          </a:ln>
        </p:spPr>
      </p:sp>
      <p:sp>
        <p:nvSpPr>
          <p:cNvPr id="50" name="Shape 39"/>
          <p:cNvSpPr/>
          <p:nvPr/>
        </p:nvSpPr>
        <p:spPr>
          <a:xfrm>
            <a:off x="6428232" y="5641848"/>
            <a:ext cx="548640" cy="548640"/>
          </a:xfrm>
          <a:prstGeom prst="ellipse">
            <a:avLst/>
          </a:prstGeom>
          <a:solidFill>
            <a:srgbClr val="EAF2FB"/>
          </a:solidFill>
          <a:ln/>
        </p:spPr>
      </p:sp>
      <p:pic>
        <p:nvPicPr>
          <p:cNvPr id="51" name="Image 9" descr="preencoded.png">    </p:cNvPr>
          <p:cNvPicPr>
            <a:picLocks noChangeAspect="1"/>
          </p:cNvPicPr>
          <p:nvPr/>
        </p:nvPicPr>
        <p:blipFill>
          <a:blip r:embed="rId10"/>
          <a:stretch>
            <a:fillRect/>
          </a:stretch>
        </p:blipFill>
        <p:spPr>
          <a:xfrm>
            <a:off x="6570878" y="5784494"/>
            <a:ext cx="263347" cy="263347"/>
          </a:xfrm>
          <a:prstGeom prst="rect">
            <a:avLst/>
          </a:prstGeom>
        </p:spPr>
      </p:pic>
      <p:sp>
        <p:nvSpPr>
          <p:cNvPr id="52" name="Text 40"/>
          <p:cNvSpPr/>
          <p:nvPr/>
        </p:nvSpPr>
        <p:spPr>
          <a:xfrm>
            <a:off x="7132320" y="5559552"/>
            <a:ext cx="4389120" cy="292608"/>
          </a:xfrm>
          <a:prstGeom prst="rect">
            <a:avLst/>
          </a:prstGeom>
          <a:noFill/>
          <a:ln/>
        </p:spPr>
        <p:txBody>
          <a:bodyPr wrap="square" lIns="0" tIns="0" rIns="0" bIns="0" rtlCol="0" anchor="ctr"/>
          <a:lstStyle/>
          <a:p>
            <a:pPr indent="0" marL="0">
              <a:buNone/>
            </a:pPr>
            <a:r>
              <a:rPr lang="en-US" sz="1300" b="1" dirty="0">
                <a:solidFill>
                  <a:srgbClr val="0B2545"/>
                </a:solidFill>
                <a:latin typeface="Courier New" pitchFamily="34" charset="0"/>
                <a:ea typeface="Courier New" pitchFamily="34" charset="-122"/>
                <a:cs typeface="Courier New" pitchFamily="34" charset="-120"/>
              </a:rPr>
              <a:t>aop</a:t>
            </a:r>
            <a:endParaRPr lang="en-US" sz="1300" dirty="0"/>
          </a:p>
        </p:txBody>
      </p:sp>
      <p:sp>
        <p:nvSpPr>
          <p:cNvPr id="53" name="Text 41"/>
          <p:cNvSpPr/>
          <p:nvPr/>
        </p:nvSpPr>
        <p:spPr>
          <a:xfrm>
            <a:off x="7132320" y="5870448"/>
            <a:ext cx="4389120" cy="45720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@Aspect classes — LoggingAspect, PerformanceAspect, AuditAspect</a:t>
            </a:r>
            <a:endParaRPr lang="en-US" sz="1000" dirty="0"/>
          </a:p>
        </p:txBody>
      </p:sp>
      <p:sp>
        <p:nvSpPr>
          <p:cNvPr id="54" name="Text 42"/>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55" name="Text 43"/>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Code Organization</a:t>
            </a:r>
            <a:endParaRPr lang="en-US" sz="900" dirty="0"/>
          </a:p>
        </p:txBody>
      </p:sp>
      <p:sp>
        <p:nvSpPr>
          <p:cNvPr id="56" name="Text 44"/>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REQUEST FLOW</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Authentication Flow — Login &amp; JWT Validation</a:t>
            </a:r>
            <a:endParaRPr lang="en-US" sz="2800" dirty="0"/>
          </a:p>
        </p:txBody>
      </p:sp>
      <p:sp>
        <p:nvSpPr>
          <p:cNvPr id="4" name="Shape 2"/>
          <p:cNvSpPr/>
          <p:nvPr/>
        </p:nvSpPr>
        <p:spPr>
          <a:xfrm>
            <a:off x="502920" y="1417320"/>
            <a:ext cx="2606040" cy="1417320"/>
          </a:xfrm>
          <a:prstGeom prst="roundRect">
            <a:avLst>
              <a:gd name="adj" fmla="val 3871"/>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5" name="Text 3"/>
          <p:cNvSpPr/>
          <p:nvPr/>
        </p:nvSpPr>
        <p:spPr>
          <a:xfrm>
            <a:off x="502920" y="1417320"/>
            <a:ext cx="2606040" cy="1417320"/>
          </a:xfrm>
          <a:prstGeom prst="rect">
            <a:avLst/>
          </a:prstGeom>
          <a:noFill/>
          <a:ln/>
        </p:spPr>
        <p:txBody>
          <a:bodyPr wrap="square" lIns="25400" tIns="25400" rIns="25400" bIns="25400" rtlCol="0" anchor="ctr"/>
          <a:lstStyle/>
          <a:p>
            <a:pPr algn="ctr" indent="0" marL="0">
              <a:buNone/>
            </a:pPr>
            <a:endParaRPr lang="en-US" sz="1100" dirty="0"/>
          </a:p>
        </p:txBody>
      </p:sp>
      <p:sp>
        <p:nvSpPr>
          <p:cNvPr id="6" name="Shape 4"/>
          <p:cNvSpPr/>
          <p:nvPr/>
        </p:nvSpPr>
        <p:spPr>
          <a:xfrm>
            <a:off x="640080" y="1554480"/>
            <a:ext cx="384048" cy="384048"/>
          </a:xfrm>
          <a:prstGeom prst="ellipse">
            <a:avLst/>
          </a:prstGeom>
          <a:solidFill>
            <a:srgbClr val="1B4F91"/>
          </a:solidFill>
          <a:ln/>
        </p:spPr>
      </p:sp>
      <p:sp>
        <p:nvSpPr>
          <p:cNvPr id="7" name="Text 5"/>
          <p:cNvSpPr/>
          <p:nvPr/>
        </p:nvSpPr>
        <p:spPr>
          <a:xfrm>
            <a:off x="640080"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1572768"/>
            <a:ext cx="1874520" cy="34747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Client</a:t>
            </a:r>
            <a:endParaRPr lang="en-US" sz="1200" dirty="0"/>
          </a:p>
        </p:txBody>
      </p:sp>
      <p:sp>
        <p:nvSpPr>
          <p:cNvPr id="9" name="Text 7"/>
          <p:cNvSpPr/>
          <p:nvPr/>
        </p:nvSpPr>
        <p:spPr>
          <a:xfrm>
            <a:off x="640080" y="2057400"/>
            <a:ext cx="2331720" cy="731520"/>
          </a:xfrm>
          <a:prstGeom prst="rect">
            <a:avLst/>
          </a:prstGeom>
          <a:noFill/>
          <a:ln/>
        </p:spPr>
        <p:txBody>
          <a:bodyPr wrap="square" lIns="0" tIns="0" rIns="0" bIns="0" rtlCol="0" anchor="ctr"/>
          <a:lstStyle/>
          <a:p>
            <a:pPr indent="0" marL="0">
              <a:buNone/>
            </a:pPr>
            <a:r>
              <a:rPr lang="en-US" sz="970" dirty="0">
                <a:solidFill>
                  <a:srgbClr val="5B6B85"/>
                </a:solidFill>
                <a:latin typeface="Calibri" pitchFamily="34" charset="0"/>
                <a:ea typeface="Calibri" pitchFamily="34" charset="-122"/>
                <a:cs typeface="Calibri" pitchFamily="34" charset="-120"/>
              </a:rPr>
              <a:t>POST /auth/login</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{email, password}</a:t>
            </a:r>
            <a:endParaRPr lang="en-US" sz="970" dirty="0"/>
          </a:p>
        </p:txBody>
      </p:sp>
      <p:sp>
        <p:nvSpPr>
          <p:cNvPr id="10" name="Shape 8"/>
          <p:cNvSpPr/>
          <p:nvPr/>
        </p:nvSpPr>
        <p:spPr>
          <a:xfrm>
            <a:off x="3136392" y="2121408"/>
            <a:ext cx="329184" cy="0"/>
          </a:xfrm>
          <a:prstGeom prst="line">
            <a:avLst/>
          </a:prstGeom>
          <a:noFill/>
          <a:ln w="25400">
            <a:solidFill>
              <a:srgbClr val="3E7CC9"/>
            </a:solidFill>
            <a:prstDash val="solid"/>
            <a:tailEnd type="triangle"/>
          </a:ln>
        </p:spPr>
      </p:sp>
      <p:sp>
        <p:nvSpPr>
          <p:cNvPr id="11" name="Shape 9"/>
          <p:cNvSpPr/>
          <p:nvPr/>
        </p:nvSpPr>
        <p:spPr>
          <a:xfrm>
            <a:off x="3493008" y="1417320"/>
            <a:ext cx="2606040" cy="1417320"/>
          </a:xfrm>
          <a:prstGeom prst="roundRect">
            <a:avLst>
              <a:gd name="adj" fmla="val 3871"/>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2" name="Text 10"/>
          <p:cNvSpPr/>
          <p:nvPr/>
        </p:nvSpPr>
        <p:spPr>
          <a:xfrm>
            <a:off x="3493008" y="1417320"/>
            <a:ext cx="2606040" cy="1417320"/>
          </a:xfrm>
          <a:prstGeom prst="rect">
            <a:avLst/>
          </a:prstGeom>
          <a:noFill/>
          <a:ln/>
        </p:spPr>
        <p:txBody>
          <a:bodyPr wrap="square" lIns="25400" tIns="25400" rIns="25400" bIns="25400" rtlCol="0" anchor="ctr"/>
          <a:lstStyle/>
          <a:p>
            <a:pPr algn="ctr" indent="0" marL="0">
              <a:buNone/>
            </a:pPr>
            <a:endParaRPr lang="en-US" sz="1100" dirty="0"/>
          </a:p>
        </p:txBody>
      </p:sp>
      <p:sp>
        <p:nvSpPr>
          <p:cNvPr id="13" name="Shape 11"/>
          <p:cNvSpPr/>
          <p:nvPr/>
        </p:nvSpPr>
        <p:spPr>
          <a:xfrm>
            <a:off x="3630168" y="1554480"/>
            <a:ext cx="384048" cy="384048"/>
          </a:xfrm>
          <a:prstGeom prst="ellipse">
            <a:avLst/>
          </a:prstGeom>
          <a:solidFill>
            <a:srgbClr val="1B4F91"/>
          </a:solidFill>
          <a:ln/>
        </p:spPr>
      </p:sp>
      <p:sp>
        <p:nvSpPr>
          <p:cNvPr id="14" name="Text 12"/>
          <p:cNvSpPr/>
          <p:nvPr/>
        </p:nvSpPr>
        <p:spPr>
          <a:xfrm>
            <a:off x="3630168"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4087368" y="1572768"/>
            <a:ext cx="1874520" cy="34747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Gateway :8080</a:t>
            </a:r>
            <a:endParaRPr lang="en-US" sz="1200" dirty="0"/>
          </a:p>
        </p:txBody>
      </p:sp>
      <p:sp>
        <p:nvSpPr>
          <p:cNvPr id="16" name="Text 14"/>
          <p:cNvSpPr/>
          <p:nvPr/>
        </p:nvSpPr>
        <p:spPr>
          <a:xfrm>
            <a:off x="3630168" y="2057400"/>
            <a:ext cx="2331720" cy="731520"/>
          </a:xfrm>
          <a:prstGeom prst="rect">
            <a:avLst/>
          </a:prstGeom>
          <a:noFill/>
          <a:ln/>
        </p:spPr>
        <p:txBody>
          <a:bodyPr wrap="square" lIns="0" tIns="0" rIns="0" bIns="0" rtlCol="0" anchor="ctr"/>
          <a:lstStyle/>
          <a:p>
            <a:pPr indent="0" marL="0">
              <a:buNone/>
            </a:pPr>
            <a:r>
              <a:rPr lang="en-US" sz="970" dirty="0">
                <a:solidFill>
                  <a:srgbClr val="5B6B85"/>
                </a:solidFill>
                <a:latin typeface="Calibri" pitchFamily="34" charset="0"/>
                <a:ea typeface="Calibri" pitchFamily="34" charset="-122"/>
                <a:cs typeface="Calibri" pitchFamily="34" charset="-120"/>
              </a:rPr>
              <a:t>Path /auth/login is</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PUBLIC_URL — passes through</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without JWT check</a:t>
            </a:r>
            <a:endParaRPr lang="en-US" sz="970" dirty="0"/>
          </a:p>
        </p:txBody>
      </p:sp>
      <p:sp>
        <p:nvSpPr>
          <p:cNvPr id="17" name="Shape 15"/>
          <p:cNvSpPr/>
          <p:nvPr/>
        </p:nvSpPr>
        <p:spPr>
          <a:xfrm>
            <a:off x="6126480" y="2121408"/>
            <a:ext cx="329184" cy="0"/>
          </a:xfrm>
          <a:prstGeom prst="line">
            <a:avLst/>
          </a:prstGeom>
          <a:noFill/>
          <a:ln w="25400">
            <a:solidFill>
              <a:srgbClr val="3E7CC9"/>
            </a:solidFill>
            <a:prstDash val="solid"/>
            <a:tailEnd type="triangle"/>
          </a:ln>
        </p:spPr>
      </p:sp>
      <p:sp>
        <p:nvSpPr>
          <p:cNvPr id="18" name="Shape 16"/>
          <p:cNvSpPr/>
          <p:nvPr/>
        </p:nvSpPr>
        <p:spPr>
          <a:xfrm>
            <a:off x="6483096" y="1417320"/>
            <a:ext cx="2606040" cy="1417320"/>
          </a:xfrm>
          <a:prstGeom prst="roundRect">
            <a:avLst>
              <a:gd name="adj" fmla="val 3871"/>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9" name="Text 17"/>
          <p:cNvSpPr/>
          <p:nvPr/>
        </p:nvSpPr>
        <p:spPr>
          <a:xfrm>
            <a:off x="6483096" y="1417320"/>
            <a:ext cx="2606040" cy="1417320"/>
          </a:xfrm>
          <a:prstGeom prst="rect">
            <a:avLst/>
          </a:prstGeom>
          <a:noFill/>
          <a:ln/>
        </p:spPr>
        <p:txBody>
          <a:bodyPr wrap="square" lIns="25400" tIns="25400" rIns="25400" bIns="25400" rtlCol="0" anchor="ctr"/>
          <a:lstStyle/>
          <a:p>
            <a:pPr algn="ctr" indent="0" marL="0">
              <a:buNone/>
            </a:pPr>
            <a:endParaRPr lang="en-US" sz="1100" dirty="0"/>
          </a:p>
        </p:txBody>
      </p:sp>
      <p:sp>
        <p:nvSpPr>
          <p:cNvPr id="20" name="Shape 18"/>
          <p:cNvSpPr/>
          <p:nvPr/>
        </p:nvSpPr>
        <p:spPr>
          <a:xfrm>
            <a:off x="6620256" y="1554480"/>
            <a:ext cx="384048" cy="384048"/>
          </a:xfrm>
          <a:prstGeom prst="ellipse">
            <a:avLst/>
          </a:prstGeom>
          <a:solidFill>
            <a:srgbClr val="1B4F91"/>
          </a:solidFill>
          <a:ln/>
        </p:spPr>
      </p:sp>
      <p:sp>
        <p:nvSpPr>
          <p:cNvPr id="21" name="Text 19"/>
          <p:cNvSpPr/>
          <p:nvPr/>
        </p:nvSpPr>
        <p:spPr>
          <a:xfrm>
            <a:off x="6620256"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7077456" y="1572768"/>
            <a:ext cx="1874520" cy="34747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auth-service :8081</a:t>
            </a:r>
            <a:endParaRPr lang="en-US" sz="1200" dirty="0"/>
          </a:p>
        </p:txBody>
      </p:sp>
      <p:sp>
        <p:nvSpPr>
          <p:cNvPr id="23" name="Text 21"/>
          <p:cNvSpPr/>
          <p:nvPr/>
        </p:nvSpPr>
        <p:spPr>
          <a:xfrm>
            <a:off x="6620256" y="2057400"/>
            <a:ext cx="2331720" cy="731520"/>
          </a:xfrm>
          <a:prstGeom prst="rect">
            <a:avLst/>
          </a:prstGeom>
          <a:noFill/>
          <a:ln/>
        </p:spPr>
        <p:txBody>
          <a:bodyPr wrap="square" lIns="0" tIns="0" rIns="0" bIns="0" rtlCol="0" anchor="ctr"/>
          <a:lstStyle/>
          <a:p>
            <a:pPr indent="0" marL="0">
              <a:buNone/>
            </a:pPr>
            <a:r>
              <a:rPr lang="en-US" sz="970" dirty="0">
                <a:solidFill>
                  <a:srgbClr val="5B6B85"/>
                </a:solidFill>
                <a:latin typeface="Calibri" pitchFamily="34" charset="0"/>
                <a:ea typeface="Calibri" pitchFamily="34" charset="-122"/>
                <a:cs typeface="Calibri" pitchFamily="34" charset="-120"/>
              </a:rPr>
              <a:t>BCrypt verifies password;</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JwtUtil signs HS256 token</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with email + role + userId claims</a:t>
            </a:r>
            <a:endParaRPr lang="en-US" sz="970" dirty="0"/>
          </a:p>
        </p:txBody>
      </p:sp>
      <p:sp>
        <p:nvSpPr>
          <p:cNvPr id="24" name="Shape 22"/>
          <p:cNvSpPr/>
          <p:nvPr/>
        </p:nvSpPr>
        <p:spPr>
          <a:xfrm>
            <a:off x="9116568" y="2121408"/>
            <a:ext cx="329184" cy="0"/>
          </a:xfrm>
          <a:prstGeom prst="line">
            <a:avLst/>
          </a:prstGeom>
          <a:noFill/>
          <a:ln w="25400">
            <a:solidFill>
              <a:srgbClr val="3E7CC9"/>
            </a:solidFill>
            <a:prstDash val="solid"/>
            <a:tailEnd type="triangle"/>
          </a:ln>
        </p:spPr>
      </p:sp>
      <p:sp>
        <p:nvSpPr>
          <p:cNvPr id="25" name="Shape 23"/>
          <p:cNvSpPr/>
          <p:nvPr/>
        </p:nvSpPr>
        <p:spPr>
          <a:xfrm>
            <a:off x="9473184" y="1417320"/>
            <a:ext cx="2606040" cy="1417320"/>
          </a:xfrm>
          <a:prstGeom prst="roundRect">
            <a:avLst>
              <a:gd name="adj" fmla="val 3871"/>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6" name="Text 24"/>
          <p:cNvSpPr/>
          <p:nvPr/>
        </p:nvSpPr>
        <p:spPr>
          <a:xfrm>
            <a:off x="9473184" y="1417320"/>
            <a:ext cx="2606040" cy="1417320"/>
          </a:xfrm>
          <a:prstGeom prst="rect">
            <a:avLst/>
          </a:prstGeom>
          <a:noFill/>
          <a:ln/>
        </p:spPr>
        <p:txBody>
          <a:bodyPr wrap="square" lIns="25400" tIns="25400" rIns="25400" bIns="25400" rtlCol="0" anchor="ctr"/>
          <a:lstStyle/>
          <a:p>
            <a:pPr algn="ctr" indent="0" marL="0">
              <a:buNone/>
            </a:pPr>
            <a:endParaRPr lang="en-US" sz="1100" dirty="0"/>
          </a:p>
        </p:txBody>
      </p:sp>
      <p:sp>
        <p:nvSpPr>
          <p:cNvPr id="27" name="Shape 25"/>
          <p:cNvSpPr/>
          <p:nvPr/>
        </p:nvSpPr>
        <p:spPr>
          <a:xfrm>
            <a:off x="9610344" y="1554480"/>
            <a:ext cx="384048" cy="384048"/>
          </a:xfrm>
          <a:prstGeom prst="ellipse">
            <a:avLst/>
          </a:prstGeom>
          <a:solidFill>
            <a:srgbClr val="1B4F91"/>
          </a:solidFill>
          <a:ln/>
        </p:spPr>
      </p:sp>
      <p:sp>
        <p:nvSpPr>
          <p:cNvPr id="28" name="Text 26"/>
          <p:cNvSpPr/>
          <p:nvPr/>
        </p:nvSpPr>
        <p:spPr>
          <a:xfrm>
            <a:off x="9610344"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p:nvPr/>
        </p:nvSpPr>
        <p:spPr>
          <a:xfrm>
            <a:off x="10067544" y="1572768"/>
            <a:ext cx="1874520" cy="34747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Client</a:t>
            </a:r>
            <a:endParaRPr lang="en-US" sz="1200" dirty="0"/>
          </a:p>
        </p:txBody>
      </p:sp>
      <p:sp>
        <p:nvSpPr>
          <p:cNvPr id="30" name="Text 28"/>
          <p:cNvSpPr/>
          <p:nvPr/>
        </p:nvSpPr>
        <p:spPr>
          <a:xfrm>
            <a:off x="9610344" y="2057400"/>
            <a:ext cx="2331720" cy="731520"/>
          </a:xfrm>
          <a:prstGeom prst="rect">
            <a:avLst/>
          </a:prstGeom>
          <a:noFill/>
          <a:ln/>
        </p:spPr>
        <p:txBody>
          <a:bodyPr wrap="square" lIns="0" tIns="0" rIns="0" bIns="0" rtlCol="0" anchor="ctr"/>
          <a:lstStyle/>
          <a:p>
            <a:pPr indent="0" marL="0">
              <a:buNone/>
            </a:pPr>
            <a:r>
              <a:rPr lang="en-US" sz="970" dirty="0">
                <a:solidFill>
                  <a:srgbClr val="5B6B85"/>
                </a:solidFill>
                <a:latin typeface="Calibri" pitchFamily="34" charset="0"/>
                <a:ea typeface="Calibri" pitchFamily="34" charset="-122"/>
                <a:cs typeface="Calibri" pitchFamily="34" charset="-120"/>
              </a:rPr>
              <a:t>Stores JWT; sends as</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Authorization: Bearer &lt;token&gt;</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on every next request</a:t>
            </a:r>
            <a:endParaRPr lang="en-US" sz="970" dirty="0"/>
          </a:p>
        </p:txBody>
      </p:sp>
      <p:sp>
        <p:nvSpPr>
          <p:cNvPr id="31" name="Text 29"/>
          <p:cNvSpPr/>
          <p:nvPr/>
        </p:nvSpPr>
        <p:spPr>
          <a:xfrm>
            <a:off x="502920" y="3246120"/>
            <a:ext cx="7315200" cy="274320"/>
          </a:xfrm>
          <a:prstGeom prst="rect">
            <a:avLst/>
          </a:prstGeom>
          <a:noFill/>
          <a:ln/>
        </p:spPr>
        <p:txBody>
          <a:bodyPr wrap="square" lIns="0" tIns="0" rIns="0" bIns="0" rtlCol="0" anchor="ctr"/>
          <a:lstStyle/>
          <a:p>
            <a:pPr indent="0" marL="0">
              <a:buNone/>
            </a:pPr>
            <a:r>
              <a:rPr lang="en-US" sz="1100" b="1" spc="150" kern="0" dirty="0">
                <a:solidFill>
                  <a:srgbClr val="0086B3"/>
                </a:solidFill>
                <a:latin typeface="Calibri" pitchFamily="34" charset="0"/>
                <a:ea typeface="Calibri" pitchFamily="34" charset="-122"/>
                <a:cs typeface="Calibri" pitchFamily="34" charset="-120"/>
              </a:rPr>
              <a:t>SUBSEQUENT AUTHENTICATED REQUEST</a:t>
            </a:r>
            <a:endParaRPr lang="en-US" sz="1100" dirty="0"/>
          </a:p>
        </p:txBody>
      </p:sp>
      <p:sp>
        <p:nvSpPr>
          <p:cNvPr id="32" name="Shape 30"/>
          <p:cNvSpPr/>
          <p:nvPr/>
        </p:nvSpPr>
        <p:spPr>
          <a:xfrm>
            <a:off x="502920" y="3657600"/>
            <a:ext cx="2606040" cy="1234440"/>
          </a:xfrm>
          <a:prstGeom prst="roundRect">
            <a:avLst>
              <a:gd name="adj" fmla="val 444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33" name="Text 31"/>
          <p:cNvSpPr/>
          <p:nvPr/>
        </p:nvSpPr>
        <p:spPr>
          <a:xfrm>
            <a:off x="502920" y="3657600"/>
            <a:ext cx="2606040" cy="1234440"/>
          </a:xfrm>
          <a:prstGeom prst="rect">
            <a:avLst/>
          </a:prstGeom>
          <a:noFill/>
          <a:ln/>
        </p:spPr>
        <p:txBody>
          <a:bodyPr wrap="square" lIns="25400" tIns="25400" rIns="25400" bIns="25400" rtlCol="0" anchor="ctr"/>
          <a:lstStyle/>
          <a:p>
            <a:pPr algn="ctr" indent="0" marL="0">
              <a:buNone/>
            </a:pPr>
            <a:endParaRPr lang="en-US" sz="1100" dirty="0"/>
          </a:p>
        </p:txBody>
      </p:sp>
      <p:sp>
        <p:nvSpPr>
          <p:cNvPr id="34" name="Text 32"/>
          <p:cNvSpPr/>
          <p:nvPr/>
        </p:nvSpPr>
        <p:spPr>
          <a:xfrm>
            <a:off x="667512" y="3767328"/>
            <a:ext cx="2276856" cy="36576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Client → Gateway</a:t>
            </a:r>
            <a:endParaRPr lang="en-US" sz="1150" dirty="0"/>
          </a:p>
        </p:txBody>
      </p:sp>
      <p:sp>
        <p:nvSpPr>
          <p:cNvPr id="35" name="Text 33"/>
          <p:cNvSpPr/>
          <p:nvPr/>
        </p:nvSpPr>
        <p:spPr>
          <a:xfrm>
            <a:off x="667512" y="4160520"/>
            <a:ext cx="2276856" cy="658368"/>
          </a:xfrm>
          <a:prstGeom prst="rect">
            <a:avLst/>
          </a:prstGeom>
          <a:noFill/>
          <a:ln/>
        </p:spPr>
        <p:txBody>
          <a:bodyPr wrap="square" lIns="0" tIns="0" rIns="0" bIns="0" rtlCol="0" anchor="ctr"/>
          <a:lstStyle/>
          <a:p>
            <a:pPr indent="0" marL="0">
              <a:buNone/>
            </a:pPr>
            <a:r>
              <a:rPr lang="en-US" sz="970" dirty="0">
                <a:solidFill>
                  <a:srgbClr val="5B6B85"/>
                </a:solidFill>
                <a:latin typeface="Calibri" pitchFamily="34" charset="0"/>
                <a:ea typeface="Calibri" pitchFamily="34" charset="-122"/>
                <a:cs typeface="Calibri" pitchFamily="34" charset="-120"/>
              </a:rPr>
              <a:t>Authorization: Bearer &lt;jwt&gt;</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on protected path e.g. /bookings/**</a:t>
            </a:r>
            <a:endParaRPr lang="en-US" sz="970" dirty="0"/>
          </a:p>
        </p:txBody>
      </p:sp>
      <p:sp>
        <p:nvSpPr>
          <p:cNvPr id="36" name="Shape 34"/>
          <p:cNvSpPr/>
          <p:nvPr/>
        </p:nvSpPr>
        <p:spPr>
          <a:xfrm>
            <a:off x="3136392" y="4251960"/>
            <a:ext cx="329184" cy="0"/>
          </a:xfrm>
          <a:prstGeom prst="line">
            <a:avLst/>
          </a:prstGeom>
          <a:noFill/>
          <a:ln w="25400">
            <a:solidFill>
              <a:srgbClr val="3E7CC9"/>
            </a:solidFill>
            <a:prstDash val="solid"/>
            <a:tailEnd type="triangle"/>
          </a:ln>
        </p:spPr>
      </p:sp>
      <p:sp>
        <p:nvSpPr>
          <p:cNvPr id="37" name="Shape 35"/>
          <p:cNvSpPr/>
          <p:nvPr/>
        </p:nvSpPr>
        <p:spPr>
          <a:xfrm>
            <a:off x="3493008" y="3657600"/>
            <a:ext cx="2606040" cy="1234440"/>
          </a:xfrm>
          <a:prstGeom prst="roundRect">
            <a:avLst>
              <a:gd name="adj" fmla="val 444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38" name="Text 36"/>
          <p:cNvSpPr/>
          <p:nvPr/>
        </p:nvSpPr>
        <p:spPr>
          <a:xfrm>
            <a:off x="3493008" y="3657600"/>
            <a:ext cx="2606040" cy="1234440"/>
          </a:xfrm>
          <a:prstGeom prst="rect">
            <a:avLst/>
          </a:prstGeom>
          <a:noFill/>
          <a:ln/>
        </p:spPr>
        <p:txBody>
          <a:bodyPr wrap="square" lIns="25400" tIns="25400" rIns="25400" bIns="25400" rtlCol="0" anchor="ctr"/>
          <a:lstStyle/>
          <a:p>
            <a:pPr algn="ctr" indent="0" marL="0">
              <a:buNone/>
            </a:pPr>
            <a:endParaRPr lang="en-US" sz="1100" dirty="0"/>
          </a:p>
        </p:txBody>
      </p:sp>
      <p:sp>
        <p:nvSpPr>
          <p:cNvPr id="39" name="Text 37"/>
          <p:cNvSpPr/>
          <p:nvPr/>
        </p:nvSpPr>
        <p:spPr>
          <a:xfrm>
            <a:off x="3657600" y="3767328"/>
            <a:ext cx="2276856" cy="36576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JwtAuthFilter (order = -1)</a:t>
            </a:r>
            <a:endParaRPr lang="en-US" sz="1150" dirty="0"/>
          </a:p>
        </p:txBody>
      </p:sp>
      <p:sp>
        <p:nvSpPr>
          <p:cNvPr id="40" name="Text 38"/>
          <p:cNvSpPr/>
          <p:nvPr/>
        </p:nvSpPr>
        <p:spPr>
          <a:xfrm>
            <a:off x="3657600" y="4160520"/>
            <a:ext cx="2276856" cy="658368"/>
          </a:xfrm>
          <a:prstGeom prst="rect">
            <a:avLst/>
          </a:prstGeom>
          <a:noFill/>
          <a:ln/>
        </p:spPr>
        <p:txBody>
          <a:bodyPr wrap="square" lIns="0" tIns="0" rIns="0" bIns="0" rtlCol="0" anchor="ctr"/>
          <a:lstStyle/>
          <a:p>
            <a:pPr indent="0" marL="0">
              <a:buNone/>
            </a:pPr>
            <a:r>
              <a:rPr lang="en-US" sz="970" dirty="0">
                <a:solidFill>
                  <a:srgbClr val="5B6B85"/>
                </a:solidFill>
                <a:latin typeface="Calibri" pitchFamily="34" charset="0"/>
                <a:ea typeface="Calibri" pitchFamily="34" charset="-122"/>
                <a:cs typeface="Calibri" pitchFamily="34" charset="-120"/>
              </a:rPr>
              <a:t>Parses claims with HMAC key;</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rejects with 401 if invalid/expired</a:t>
            </a:r>
            <a:endParaRPr lang="en-US" sz="970" dirty="0"/>
          </a:p>
        </p:txBody>
      </p:sp>
      <p:sp>
        <p:nvSpPr>
          <p:cNvPr id="41" name="Shape 39"/>
          <p:cNvSpPr/>
          <p:nvPr/>
        </p:nvSpPr>
        <p:spPr>
          <a:xfrm>
            <a:off x="6126480" y="4251960"/>
            <a:ext cx="329184" cy="0"/>
          </a:xfrm>
          <a:prstGeom prst="line">
            <a:avLst/>
          </a:prstGeom>
          <a:noFill/>
          <a:ln w="25400">
            <a:solidFill>
              <a:srgbClr val="3E7CC9"/>
            </a:solidFill>
            <a:prstDash val="solid"/>
            <a:tailEnd type="triangle"/>
          </a:ln>
        </p:spPr>
      </p:sp>
      <p:sp>
        <p:nvSpPr>
          <p:cNvPr id="42" name="Shape 40"/>
          <p:cNvSpPr/>
          <p:nvPr/>
        </p:nvSpPr>
        <p:spPr>
          <a:xfrm>
            <a:off x="6483096" y="3657600"/>
            <a:ext cx="2606040" cy="1234440"/>
          </a:xfrm>
          <a:prstGeom prst="roundRect">
            <a:avLst>
              <a:gd name="adj" fmla="val 444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43" name="Text 41"/>
          <p:cNvSpPr/>
          <p:nvPr/>
        </p:nvSpPr>
        <p:spPr>
          <a:xfrm>
            <a:off x="6483096" y="3657600"/>
            <a:ext cx="2606040" cy="1234440"/>
          </a:xfrm>
          <a:prstGeom prst="rect">
            <a:avLst/>
          </a:prstGeom>
          <a:noFill/>
          <a:ln/>
        </p:spPr>
        <p:txBody>
          <a:bodyPr wrap="square" lIns="25400" tIns="25400" rIns="25400" bIns="25400" rtlCol="0" anchor="ctr"/>
          <a:lstStyle/>
          <a:p>
            <a:pPr algn="ctr" indent="0" marL="0">
              <a:buNone/>
            </a:pPr>
            <a:endParaRPr lang="en-US" sz="1100" dirty="0"/>
          </a:p>
        </p:txBody>
      </p:sp>
      <p:sp>
        <p:nvSpPr>
          <p:cNvPr id="44" name="Text 42"/>
          <p:cNvSpPr/>
          <p:nvPr/>
        </p:nvSpPr>
        <p:spPr>
          <a:xfrm>
            <a:off x="6647688" y="3767328"/>
            <a:ext cx="2276856" cy="36576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Header Injection</a:t>
            </a:r>
            <a:endParaRPr lang="en-US" sz="1150" dirty="0"/>
          </a:p>
        </p:txBody>
      </p:sp>
      <p:sp>
        <p:nvSpPr>
          <p:cNvPr id="45" name="Text 43"/>
          <p:cNvSpPr/>
          <p:nvPr/>
        </p:nvSpPr>
        <p:spPr>
          <a:xfrm>
            <a:off x="6647688" y="4160520"/>
            <a:ext cx="2276856" cy="658368"/>
          </a:xfrm>
          <a:prstGeom prst="rect">
            <a:avLst/>
          </a:prstGeom>
          <a:noFill/>
          <a:ln/>
        </p:spPr>
        <p:txBody>
          <a:bodyPr wrap="square" lIns="0" tIns="0" rIns="0" bIns="0" rtlCol="0" anchor="ctr"/>
          <a:lstStyle/>
          <a:p>
            <a:pPr indent="0" marL="0">
              <a:buNone/>
            </a:pPr>
            <a:r>
              <a:rPr lang="en-US" sz="970" dirty="0">
                <a:solidFill>
                  <a:srgbClr val="5B6B85"/>
                </a:solidFill>
                <a:latin typeface="Calibri" pitchFamily="34" charset="0"/>
                <a:ea typeface="Calibri" pitchFamily="34" charset="-122"/>
                <a:cs typeface="Calibri" pitchFamily="34" charset="-120"/>
              </a:rPr>
              <a:t>Adds X-User-Email, X-User-Role,</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X-User-Id headers to the request</a:t>
            </a:r>
            <a:endParaRPr lang="en-US" sz="970" dirty="0"/>
          </a:p>
        </p:txBody>
      </p:sp>
      <p:sp>
        <p:nvSpPr>
          <p:cNvPr id="46" name="Shape 44"/>
          <p:cNvSpPr/>
          <p:nvPr/>
        </p:nvSpPr>
        <p:spPr>
          <a:xfrm>
            <a:off x="9116568" y="4251960"/>
            <a:ext cx="329184" cy="0"/>
          </a:xfrm>
          <a:prstGeom prst="line">
            <a:avLst/>
          </a:prstGeom>
          <a:noFill/>
          <a:ln w="25400">
            <a:solidFill>
              <a:srgbClr val="3E7CC9"/>
            </a:solidFill>
            <a:prstDash val="solid"/>
            <a:tailEnd type="triangle"/>
          </a:ln>
        </p:spPr>
      </p:sp>
      <p:sp>
        <p:nvSpPr>
          <p:cNvPr id="47" name="Shape 45"/>
          <p:cNvSpPr/>
          <p:nvPr/>
        </p:nvSpPr>
        <p:spPr>
          <a:xfrm>
            <a:off x="9473184" y="3657600"/>
            <a:ext cx="2606040" cy="1234440"/>
          </a:xfrm>
          <a:prstGeom prst="roundRect">
            <a:avLst>
              <a:gd name="adj" fmla="val 444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48" name="Text 46"/>
          <p:cNvSpPr/>
          <p:nvPr/>
        </p:nvSpPr>
        <p:spPr>
          <a:xfrm>
            <a:off x="9473184" y="3657600"/>
            <a:ext cx="2606040" cy="1234440"/>
          </a:xfrm>
          <a:prstGeom prst="rect">
            <a:avLst/>
          </a:prstGeom>
          <a:noFill/>
          <a:ln/>
        </p:spPr>
        <p:txBody>
          <a:bodyPr wrap="square" lIns="25400" tIns="25400" rIns="25400" bIns="25400" rtlCol="0" anchor="ctr"/>
          <a:lstStyle/>
          <a:p>
            <a:pPr algn="ctr" indent="0" marL="0">
              <a:buNone/>
            </a:pPr>
            <a:endParaRPr lang="en-US" sz="1100" dirty="0"/>
          </a:p>
        </p:txBody>
      </p:sp>
      <p:sp>
        <p:nvSpPr>
          <p:cNvPr id="49" name="Text 47"/>
          <p:cNvSpPr/>
          <p:nvPr/>
        </p:nvSpPr>
        <p:spPr>
          <a:xfrm>
            <a:off x="9637776" y="3767328"/>
            <a:ext cx="2276856" cy="36576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Downstream Service</a:t>
            </a:r>
            <a:endParaRPr lang="en-US" sz="1150" dirty="0"/>
          </a:p>
        </p:txBody>
      </p:sp>
      <p:sp>
        <p:nvSpPr>
          <p:cNvPr id="50" name="Text 48"/>
          <p:cNvSpPr/>
          <p:nvPr/>
        </p:nvSpPr>
        <p:spPr>
          <a:xfrm>
            <a:off x="9637776" y="4160520"/>
            <a:ext cx="2276856" cy="658368"/>
          </a:xfrm>
          <a:prstGeom prst="rect">
            <a:avLst/>
          </a:prstGeom>
          <a:noFill/>
          <a:ln/>
        </p:spPr>
        <p:txBody>
          <a:bodyPr wrap="square" lIns="0" tIns="0" rIns="0" bIns="0" rtlCol="0" anchor="ctr"/>
          <a:lstStyle/>
          <a:p>
            <a:pPr indent="0" marL="0">
              <a:buNone/>
            </a:pPr>
            <a:r>
              <a:rPr lang="en-US" sz="970" dirty="0">
                <a:solidFill>
                  <a:srgbClr val="5B6B85"/>
                </a:solidFill>
                <a:latin typeface="Calibri" pitchFamily="34" charset="0"/>
                <a:ea typeface="Calibri" pitchFamily="34" charset="-122"/>
                <a:cs typeface="Calibri" pitchFamily="34" charset="-120"/>
              </a:rPr>
              <a:t>SecurityConfig permits all —</a:t>
            </a:r>
            <a:endParaRPr lang="en-US" sz="970" dirty="0"/>
          </a:p>
          <a:p>
            <a:pPr indent="0" marL="0">
              <a:buNone/>
            </a:pPr>
            <a:r>
              <a:rPr lang="en-US" sz="970" dirty="0">
                <a:solidFill>
                  <a:srgbClr val="5B6B85"/>
                </a:solidFill>
                <a:latin typeface="Calibri" pitchFamily="34" charset="0"/>
                <a:ea typeface="Calibri" pitchFamily="34" charset="-122"/>
                <a:cs typeface="Calibri" pitchFamily="34" charset="-120"/>
              </a:rPr>
              <a:t>trusts Gateway-injected headers</a:t>
            </a:r>
            <a:endParaRPr lang="en-US" sz="970" dirty="0"/>
          </a:p>
        </p:txBody>
      </p:sp>
      <p:sp>
        <p:nvSpPr>
          <p:cNvPr id="51" name="Shape 49"/>
          <p:cNvSpPr/>
          <p:nvPr/>
        </p:nvSpPr>
        <p:spPr>
          <a:xfrm>
            <a:off x="502920" y="5120640"/>
            <a:ext cx="11155680" cy="1143000"/>
          </a:xfrm>
          <a:prstGeom prst="roundRect">
            <a:avLst>
              <a:gd name="adj" fmla="val 5600"/>
            </a:avLst>
          </a:prstGeom>
          <a:solidFill>
            <a:srgbClr val="FFF7E8"/>
          </a:solidFill>
          <a:ln/>
        </p:spPr>
      </p:sp>
      <p:pic>
        <p:nvPicPr>
          <p:cNvPr id="52" name="Image 0" descr="preencoded.png">    </p:cNvPr>
          <p:cNvPicPr>
            <a:picLocks noChangeAspect="1"/>
          </p:cNvPicPr>
          <p:nvPr/>
        </p:nvPicPr>
        <p:blipFill>
          <a:blip r:embed="rId1"/>
          <a:stretch>
            <a:fillRect/>
          </a:stretch>
        </p:blipFill>
        <p:spPr>
          <a:xfrm>
            <a:off x="713232" y="5349240"/>
            <a:ext cx="365760" cy="365760"/>
          </a:xfrm>
          <a:prstGeom prst="rect">
            <a:avLst/>
          </a:prstGeom>
        </p:spPr>
      </p:pic>
      <p:sp>
        <p:nvSpPr>
          <p:cNvPr id="53" name="Text 50"/>
          <p:cNvSpPr/>
          <p:nvPr/>
        </p:nvSpPr>
        <p:spPr>
          <a:xfrm>
            <a:off x="1234440" y="5257800"/>
            <a:ext cx="1024128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Public routes (no JWT required):  </a:t>
            </a:r>
            <a:pPr indent="0" marL="0">
              <a:buNone/>
            </a:pPr>
            <a:r>
              <a:rPr lang="en-US" sz="1100" dirty="0">
                <a:solidFill>
                  <a:srgbClr val="16233B"/>
                </a:solidFill>
                <a:latin typeface="Calibri" pitchFamily="34" charset="0"/>
                <a:ea typeface="Calibri" pitchFamily="34" charset="-122"/>
                <a:cs typeface="Calibri" pitchFamily="34" charset="-120"/>
              </a:rPr>
              <a:t>/auth/register, /auth/login, /auth/forgot-password, /auth/verify-otp, /auth/reset-password, /chatbot/**, and all /actuator/** health endpoints — matched by startsWith() in JwtAuthFilter's PUBLIC_URLS list.</a:t>
            </a:r>
            <a:endParaRPr lang="en-US" sz="1100" dirty="0"/>
          </a:p>
        </p:txBody>
      </p:sp>
      <p:sp>
        <p:nvSpPr>
          <p:cNvPr id="54" name="Text 51"/>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55" name="Text 52"/>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Authentication Flow</a:t>
            </a:r>
            <a:endParaRPr lang="en-US" sz="900" dirty="0"/>
          </a:p>
        </p:txBody>
      </p:sp>
      <p:sp>
        <p:nvSpPr>
          <p:cNvPr id="56" name="Text 53"/>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CORE BUSINESS FLOW</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Booking Flow — Free vs. Paid Session Decision</a:t>
            </a:r>
            <a:endParaRPr lang="en-US" sz="2800" dirty="0"/>
          </a:p>
        </p:txBody>
      </p:sp>
      <p:sp>
        <p:nvSpPr>
          <p:cNvPr id="4" name="Shape 2"/>
          <p:cNvSpPr/>
          <p:nvPr/>
        </p:nvSpPr>
        <p:spPr>
          <a:xfrm>
            <a:off x="502920" y="1371600"/>
            <a:ext cx="2286000" cy="502920"/>
          </a:xfrm>
          <a:prstGeom prst="roundRect">
            <a:avLst>
              <a:gd name="adj" fmla="val 10909"/>
            </a:avLst>
          </a:prstGeom>
          <a:solidFill>
            <a:srgbClr val="0B2545"/>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5" name="Text 3"/>
          <p:cNvSpPr/>
          <p:nvPr/>
        </p:nvSpPr>
        <p:spPr>
          <a:xfrm>
            <a:off x="502920" y="1371600"/>
            <a:ext cx="2286000" cy="502920"/>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Member submits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BookingRequest</a:t>
            </a:r>
            <a:endParaRPr lang="en-US" sz="1050" dirty="0"/>
          </a:p>
        </p:txBody>
      </p:sp>
      <p:sp>
        <p:nvSpPr>
          <p:cNvPr id="6" name="Shape 4"/>
          <p:cNvSpPr/>
          <p:nvPr/>
        </p:nvSpPr>
        <p:spPr>
          <a:xfrm>
            <a:off x="1645920" y="1874520"/>
            <a:ext cx="0" cy="320040"/>
          </a:xfrm>
          <a:prstGeom prst="line">
            <a:avLst/>
          </a:prstGeom>
          <a:noFill/>
          <a:ln w="22225">
            <a:solidFill>
              <a:srgbClr val="3E7CC9"/>
            </a:solidFill>
            <a:prstDash val="solid"/>
            <a:tailEnd type="triangle"/>
          </a:ln>
        </p:spPr>
      </p:sp>
      <p:sp>
        <p:nvSpPr>
          <p:cNvPr id="7" name="Shape 5"/>
          <p:cNvSpPr/>
          <p:nvPr/>
        </p:nvSpPr>
        <p:spPr>
          <a:xfrm>
            <a:off x="502920" y="2194560"/>
            <a:ext cx="2286000" cy="548640"/>
          </a:xfrm>
          <a:prstGeom prst="roundRect">
            <a:avLst>
              <a:gd name="adj" fmla="val 10000"/>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8" name="Text 6"/>
          <p:cNvSpPr/>
          <p:nvPr/>
        </p:nvSpPr>
        <p:spPr>
          <a:xfrm>
            <a:off x="502920" y="2194560"/>
            <a:ext cx="2286000" cy="548640"/>
          </a:xfrm>
          <a:prstGeom prst="rect">
            <a:avLst/>
          </a:prstGeom>
          <a:noFill/>
          <a:ln/>
        </p:spPr>
        <p:txBody>
          <a:bodyPr wrap="square" lIns="38100" tIns="38100" rIns="38100" bIns="3810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booking-service</a:t>
            </a:r>
            <a:endParaRPr lang="en-US" sz="1000" dirty="0"/>
          </a:p>
          <a:p>
            <a:pPr algn="ctr" indent="0" marL="0">
              <a:buNone/>
            </a:pPr>
            <a:r>
              <a:rPr lang="en-US" sz="1000" b="1" dirty="0">
                <a:solidFill>
                  <a:srgbClr val="0B2545"/>
                </a:solidFill>
                <a:latin typeface="Calibri" pitchFamily="34" charset="0"/>
                <a:ea typeface="Calibri" pitchFamily="34" charset="-122"/>
                <a:cs typeface="Calibri" pitchFamily="34" charset="-120"/>
              </a:rPr>
              <a:t>validates request fields</a:t>
            </a:r>
            <a:endParaRPr lang="en-US" sz="1000" dirty="0"/>
          </a:p>
        </p:txBody>
      </p:sp>
      <p:sp>
        <p:nvSpPr>
          <p:cNvPr id="9" name="Shape 7"/>
          <p:cNvSpPr/>
          <p:nvPr/>
        </p:nvSpPr>
        <p:spPr>
          <a:xfrm>
            <a:off x="1645920" y="2743200"/>
            <a:ext cx="0" cy="320040"/>
          </a:xfrm>
          <a:prstGeom prst="line">
            <a:avLst/>
          </a:prstGeom>
          <a:noFill/>
          <a:ln w="22225">
            <a:solidFill>
              <a:srgbClr val="3E7CC9"/>
            </a:solidFill>
            <a:prstDash val="solid"/>
            <a:tailEnd type="triangle"/>
          </a:ln>
        </p:spPr>
      </p:sp>
      <p:sp>
        <p:nvSpPr>
          <p:cNvPr id="10" name="Shape 8"/>
          <p:cNvSpPr/>
          <p:nvPr/>
        </p:nvSpPr>
        <p:spPr>
          <a:xfrm>
            <a:off x="502920" y="3063240"/>
            <a:ext cx="2286000" cy="640080"/>
          </a:xfrm>
          <a:prstGeom prst="roundRect">
            <a:avLst>
              <a:gd name="adj" fmla="val 8571"/>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1" name="Text 9"/>
          <p:cNvSpPr/>
          <p:nvPr/>
        </p:nvSpPr>
        <p:spPr>
          <a:xfrm>
            <a:off x="502920" y="3063240"/>
            <a:ext cx="2286000" cy="640080"/>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Feign → plan-service</a:t>
            </a:r>
            <a:endParaRPr lang="en-US" sz="950" dirty="0"/>
          </a:p>
          <a:p>
            <a:pPr algn="ctr" indent="0" marL="0">
              <a:buNone/>
            </a:pPr>
            <a:r>
              <a:rPr lang="en-US" sz="950" b="1" dirty="0">
                <a:solidFill>
                  <a:srgbClr val="0B2545"/>
                </a:solidFill>
                <a:latin typeface="Calibri" pitchFamily="34" charset="0"/>
                <a:ea typeface="Calibri" pitchFamily="34" charset="-122"/>
                <a:cs typeface="Calibri" pitchFamily="34" charset="-120"/>
              </a:rPr>
              <a:t>GET free-session-check/{memberId}</a:t>
            </a:r>
            <a:endParaRPr lang="en-US" sz="950" dirty="0"/>
          </a:p>
        </p:txBody>
      </p:sp>
      <p:sp>
        <p:nvSpPr>
          <p:cNvPr id="12" name="Shape 10"/>
          <p:cNvSpPr/>
          <p:nvPr/>
        </p:nvSpPr>
        <p:spPr>
          <a:xfrm>
            <a:off x="1645920" y="3703320"/>
            <a:ext cx="0" cy="320040"/>
          </a:xfrm>
          <a:prstGeom prst="line">
            <a:avLst/>
          </a:prstGeom>
          <a:noFill/>
          <a:ln w="22225">
            <a:solidFill>
              <a:srgbClr val="3E7CC9"/>
            </a:solidFill>
            <a:prstDash val="solid"/>
            <a:tailEnd type="triangle"/>
          </a:ln>
        </p:spPr>
      </p:sp>
      <p:sp>
        <p:nvSpPr>
          <p:cNvPr id="13" name="Shape 11"/>
          <p:cNvSpPr/>
          <p:nvPr/>
        </p:nvSpPr>
        <p:spPr>
          <a:xfrm>
            <a:off x="320040" y="4023360"/>
            <a:ext cx="2651760" cy="868680"/>
          </a:xfrm>
          <a:prstGeom prst="diamond">
            <a:avLst/>
          </a:prstGeom>
          <a:solidFill>
            <a:srgbClr val="FFF7E8"/>
          </a:solidFill>
          <a:ln w="15875">
            <a:solidFill>
              <a:srgbClr val="C9781F"/>
            </a:solidFill>
            <a:prstDash val="solid"/>
          </a:ln>
        </p:spPr>
      </p:sp>
      <p:sp>
        <p:nvSpPr>
          <p:cNvPr id="14" name="Text 12"/>
          <p:cNvSpPr/>
          <p:nvPr/>
        </p:nvSpPr>
        <p:spPr>
          <a:xfrm>
            <a:off x="320040" y="4023360"/>
            <a:ext cx="2651760" cy="868680"/>
          </a:xfrm>
          <a:prstGeom prst="rect">
            <a:avLst/>
          </a:prstGeom>
          <a:noFill/>
          <a:ln/>
        </p:spPr>
        <p:txBody>
          <a:bodyPr wrap="square" lIns="12700" tIns="12700" rIns="12700" bIns="127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isFree == true ?</a:t>
            </a:r>
            <a:endParaRPr lang="en-US" sz="950" dirty="0"/>
          </a:p>
        </p:txBody>
      </p:sp>
      <p:sp>
        <p:nvSpPr>
          <p:cNvPr id="15" name="Shape 13"/>
          <p:cNvSpPr/>
          <p:nvPr/>
        </p:nvSpPr>
        <p:spPr>
          <a:xfrm>
            <a:off x="960120" y="4892040"/>
            <a:ext cx="0" cy="274320"/>
          </a:xfrm>
          <a:prstGeom prst="line">
            <a:avLst/>
          </a:prstGeom>
          <a:noFill/>
          <a:ln w="22225">
            <a:solidFill>
              <a:srgbClr val="1F9D55"/>
            </a:solidFill>
            <a:prstDash val="solid"/>
            <a:tailEnd type="triangle"/>
          </a:ln>
        </p:spPr>
      </p:sp>
      <p:sp>
        <p:nvSpPr>
          <p:cNvPr id="16" name="Shape 14"/>
          <p:cNvSpPr/>
          <p:nvPr/>
        </p:nvSpPr>
        <p:spPr>
          <a:xfrm>
            <a:off x="137160" y="5166360"/>
            <a:ext cx="2148840" cy="777240"/>
          </a:xfrm>
          <a:prstGeom prst="roundRect">
            <a:avLst>
              <a:gd name="adj" fmla="val 7059"/>
            </a:avLst>
          </a:prstGeom>
          <a:solidFill>
            <a:srgbClr val="EAF7EE"/>
          </a:solidFill>
          <a:ln w="15875">
            <a:solidFill>
              <a:srgbClr val="1F9D55"/>
            </a:solidFill>
            <a:prstDash val="solid"/>
          </a:ln>
          <a:effectLst>
            <a:outerShdw sx="100000" sy="100000" kx="0" ky="0" algn="bl" rotWithShape="0" blurRad="76200" dist="12700" dir="5400000">
              <a:srgbClr val="0B2545">
                <a:alpha val="10000"/>
              </a:srgbClr>
            </a:outerShdw>
          </a:effectLst>
        </p:spPr>
      </p:sp>
      <p:sp>
        <p:nvSpPr>
          <p:cNvPr id="17" name="Text 15"/>
          <p:cNvSpPr/>
          <p:nvPr/>
        </p:nvSpPr>
        <p:spPr>
          <a:xfrm>
            <a:off x="137160" y="5166360"/>
            <a:ext cx="2148840" cy="777240"/>
          </a:xfrm>
          <a:prstGeom prst="rect">
            <a:avLst/>
          </a:prstGeom>
          <a:noFill/>
          <a:ln/>
        </p:spPr>
        <p:txBody>
          <a:bodyPr wrap="square" lIns="38100" tIns="38100" rIns="38100" bIns="381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FREE_SESSION path:</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consume quota via plan-service;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save booking (paymentStatus=COMPLETED)</a:t>
            </a:r>
            <a:endParaRPr lang="en-US" sz="900" dirty="0"/>
          </a:p>
        </p:txBody>
      </p:sp>
      <p:sp>
        <p:nvSpPr>
          <p:cNvPr id="18" name="Shape 16"/>
          <p:cNvSpPr/>
          <p:nvPr/>
        </p:nvSpPr>
        <p:spPr>
          <a:xfrm>
            <a:off x="2971800" y="4453128"/>
            <a:ext cx="457200" cy="0"/>
          </a:xfrm>
          <a:prstGeom prst="line">
            <a:avLst/>
          </a:prstGeom>
          <a:noFill/>
          <a:ln w="22225">
            <a:solidFill>
              <a:srgbClr val="C9781F"/>
            </a:solidFill>
            <a:prstDash val="solid"/>
          </a:ln>
        </p:spPr>
      </p:sp>
      <p:sp>
        <p:nvSpPr>
          <p:cNvPr id="19" name="Shape 17"/>
          <p:cNvSpPr/>
          <p:nvPr/>
        </p:nvSpPr>
        <p:spPr>
          <a:xfrm>
            <a:off x="3429000" y="4453128"/>
            <a:ext cx="0" cy="576072"/>
          </a:xfrm>
          <a:prstGeom prst="line">
            <a:avLst/>
          </a:prstGeom>
          <a:noFill/>
          <a:ln w="22225">
            <a:solidFill>
              <a:srgbClr val="C9781F"/>
            </a:solidFill>
            <a:prstDash val="solid"/>
          </a:ln>
        </p:spPr>
      </p:sp>
      <p:sp>
        <p:nvSpPr>
          <p:cNvPr id="20" name="Shape 18"/>
          <p:cNvSpPr/>
          <p:nvPr/>
        </p:nvSpPr>
        <p:spPr>
          <a:xfrm>
            <a:off x="3429000" y="5029200"/>
            <a:ext cx="594360" cy="0"/>
          </a:xfrm>
          <a:prstGeom prst="line">
            <a:avLst/>
          </a:prstGeom>
          <a:noFill/>
          <a:ln w="22225">
            <a:solidFill>
              <a:srgbClr val="C9781F"/>
            </a:solidFill>
            <a:prstDash val="solid"/>
            <a:tailEnd type="triangle"/>
          </a:ln>
        </p:spPr>
      </p:sp>
      <p:sp>
        <p:nvSpPr>
          <p:cNvPr id="21" name="Shape 19"/>
          <p:cNvSpPr/>
          <p:nvPr/>
        </p:nvSpPr>
        <p:spPr>
          <a:xfrm>
            <a:off x="4023360" y="4023360"/>
            <a:ext cx="2377440" cy="868680"/>
          </a:xfrm>
          <a:prstGeom prst="roundRect">
            <a:avLst>
              <a:gd name="adj" fmla="val 6316"/>
            </a:avLst>
          </a:prstGeom>
          <a:solidFill>
            <a:srgbClr val="FFF7E8"/>
          </a:solidFill>
          <a:ln w="15875">
            <a:solidFill>
              <a:srgbClr val="C9781F"/>
            </a:solidFill>
            <a:prstDash val="solid"/>
          </a:ln>
          <a:effectLst>
            <a:outerShdw sx="100000" sy="100000" kx="0" ky="0" algn="bl" rotWithShape="0" blurRad="76200" dist="12700" dir="5400000">
              <a:srgbClr val="0B2545">
                <a:alpha val="10000"/>
              </a:srgbClr>
            </a:outerShdw>
          </a:effectLst>
        </p:spPr>
      </p:sp>
      <p:sp>
        <p:nvSpPr>
          <p:cNvPr id="22" name="Text 20"/>
          <p:cNvSpPr/>
          <p:nvPr/>
        </p:nvSpPr>
        <p:spPr>
          <a:xfrm>
            <a:off x="4023360" y="4023360"/>
            <a:ext cx="2377440" cy="868680"/>
          </a:xfrm>
          <a:prstGeom prst="rect">
            <a:avLst/>
          </a:prstGeom>
          <a:noFill/>
          <a:ln/>
        </p:spPr>
        <p:txBody>
          <a:bodyPr wrap="square" lIns="38100" tIns="38100" rIns="38100" bIns="38100" rtlCol="0" anchor="ctr"/>
          <a:lstStyle/>
          <a:p>
            <a:pPr algn="ctr" indent="0" marL="0">
              <a:buNone/>
            </a:pPr>
            <a:r>
              <a:rPr lang="en-US" sz="930" b="1" dirty="0">
                <a:solidFill>
                  <a:srgbClr val="0B2545"/>
                </a:solidFill>
                <a:latin typeface="Calibri" pitchFamily="34" charset="0"/>
                <a:ea typeface="Calibri" pitchFamily="34" charset="-122"/>
                <a:cs typeface="Calibri" pitchFamily="34" charset="-120"/>
              </a:rPr>
              <a:t>PAID path:</a:t>
            </a:r>
            <a:endParaRPr lang="en-US" sz="930" dirty="0"/>
          </a:p>
          <a:p>
            <a:pPr algn="ctr" indent="0" marL="0">
              <a:buNone/>
            </a:pPr>
            <a:r>
              <a:rPr lang="en-US" sz="930" b="1" dirty="0">
                <a:solidFill>
                  <a:srgbClr val="0B2545"/>
                </a:solidFill>
                <a:latin typeface="Calibri" pitchFamily="34" charset="0"/>
                <a:ea typeface="Calibri" pitchFamily="34" charset="-122"/>
                <a:cs typeface="Calibri" pitchFamily="34" charset="-120"/>
              </a:rPr>
              <a:t>Feign → trainer-service for</a:t>
            </a:r>
            <a:endParaRPr lang="en-US" sz="930" dirty="0"/>
          </a:p>
          <a:p>
            <a:pPr algn="ctr" indent="0" marL="0">
              <a:buNone/>
            </a:pPr>
            <a:r>
              <a:rPr lang="en-US" sz="930" b="1" dirty="0">
                <a:solidFill>
                  <a:srgbClr val="0B2545"/>
                </a:solidFill>
                <a:latin typeface="Calibri" pitchFamily="34" charset="0"/>
                <a:ea typeface="Calibri" pitchFamily="34" charset="-122"/>
                <a:cs typeface="Calibri" pitchFamily="34" charset="-120"/>
              </a:rPr>
              <a:t>sessionFee (never trusted from client)</a:t>
            </a:r>
            <a:endParaRPr lang="en-US" sz="930" dirty="0"/>
          </a:p>
        </p:txBody>
      </p:sp>
      <p:sp>
        <p:nvSpPr>
          <p:cNvPr id="23" name="Shape 21"/>
          <p:cNvSpPr/>
          <p:nvPr/>
        </p:nvSpPr>
        <p:spPr>
          <a:xfrm>
            <a:off x="5212080" y="4892040"/>
            <a:ext cx="0" cy="274320"/>
          </a:xfrm>
          <a:prstGeom prst="line">
            <a:avLst/>
          </a:prstGeom>
          <a:noFill/>
          <a:ln w="22225">
            <a:solidFill>
              <a:srgbClr val="C9781F"/>
            </a:solidFill>
            <a:prstDash val="solid"/>
            <a:tailEnd type="triangle"/>
          </a:ln>
        </p:spPr>
      </p:sp>
      <p:sp>
        <p:nvSpPr>
          <p:cNvPr id="24" name="Shape 22"/>
          <p:cNvSpPr/>
          <p:nvPr/>
        </p:nvSpPr>
        <p:spPr>
          <a:xfrm>
            <a:off x="3794760" y="5166360"/>
            <a:ext cx="2606040" cy="777240"/>
          </a:xfrm>
          <a:prstGeom prst="roundRect">
            <a:avLst>
              <a:gd name="adj" fmla="val 7059"/>
            </a:avLst>
          </a:prstGeom>
          <a:solidFill>
            <a:srgbClr val="FFF7E8"/>
          </a:solidFill>
          <a:ln w="15875">
            <a:solidFill>
              <a:srgbClr val="C9781F"/>
            </a:solidFill>
            <a:prstDash val="solid"/>
          </a:ln>
          <a:effectLst>
            <a:outerShdw sx="100000" sy="100000" kx="0" ky="0" algn="bl" rotWithShape="0" blurRad="76200" dist="12700" dir="5400000">
              <a:srgbClr val="0B2545">
                <a:alpha val="10000"/>
              </a:srgbClr>
            </a:outerShdw>
          </a:effectLst>
        </p:spPr>
      </p:sp>
      <p:sp>
        <p:nvSpPr>
          <p:cNvPr id="25" name="Text 23"/>
          <p:cNvSpPr/>
          <p:nvPr/>
        </p:nvSpPr>
        <p:spPr>
          <a:xfrm>
            <a:off x="3794760" y="5166360"/>
            <a:ext cx="2606040" cy="777240"/>
          </a:xfrm>
          <a:prstGeom prst="rect">
            <a:avLst/>
          </a:prstGeom>
          <a:noFill/>
          <a:ln/>
        </p:spPr>
        <p:txBody>
          <a:bodyPr wrap="square" lIns="38100" tIns="38100" rIns="38100" bIns="381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Save booking:</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sessionType=PAID</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paymentStatus=PENDING</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(paid later via payment-service)</a:t>
            </a:r>
            <a:endParaRPr lang="en-US" sz="900" dirty="0"/>
          </a:p>
        </p:txBody>
      </p:sp>
      <p:sp>
        <p:nvSpPr>
          <p:cNvPr id="26" name="Shape 24"/>
          <p:cNvSpPr/>
          <p:nvPr/>
        </p:nvSpPr>
        <p:spPr>
          <a:xfrm>
            <a:off x="6400800" y="4892040"/>
            <a:ext cx="457200" cy="0"/>
          </a:xfrm>
          <a:prstGeom prst="line">
            <a:avLst/>
          </a:prstGeom>
          <a:noFill/>
          <a:ln w="19050">
            <a:solidFill>
              <a:srgbClr val="5B6B85"/>
            </a:solidFill>
            <a:prstDash val="solid"/>
            <a:tailEnd type="triangle"/>
          </a:ln>
        </p:spPr>
      </p:sp>
      <p:sp>
        <p:nvSpPr>
          <p:cNvPr id="27" name="Shape 25"/>
          <p:cNvSpPr/>
          <p:nvPr/>
        </p:nvSpPr>
        <p:spPr>
          <a:xfrm>
            <a:off x="6903720" y="4343400"/>
            <a:ext cx="4709160" cy="1600200"/>
          </a:xfrm>
          <a:prstGeom prst="roundRect">
            <a:avLst>
              <a:gd name="adj" fmla="val 3429"/>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8" name="Text 26"/>
          <p:cNvSpPr/>
          <p:nvPr/>
        </p:nvSpPr>
        <p:spPr>
          <a:xfrm>
            <a:off x="6903720" y="4343400"/>
            <a:ext cx="4709160" cy="1600200"/>
          </a:xfrm>
          <a:prstGeom prst="rect">
            <a:avLst/>
          </a:prstGeom>
          <a:noFill/>
          <a:ln/>
        </p:spPr>
        <p:txBody>
          <a:bodyPr wrap="square" lIns="38100" tIns="38100" rIns="38100" bIns="38100" rtlCol="0" anchor="ctr"/>
          <a:lstStyle/>
          <a:p>
            <a:pPr algn="ctr" indent="0" marL="0">
              <a:buNone/>
            </a:pPr>
            <a:endParaRPr lang="en-US" sz="1050" dirty="0"/>
          </a:p>
        </p:txBody>
      </p:sp>
      <p:sp>
        <p:nvSpPr>
          <p:cNvPr id="29" name="Text 27"/>
          <p:cNvSpPr/>
          <p:nvPr/>
        </p:nvSpPr>
        <p:spPr>
          <a:xfrm>
            <a:off x="7132320" y="4434840"/>
            <a:ext cx="429768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Both Paths Converge → Async Notification</a:t>
            </a:r>
            <a:endParaRPr lang="en-US" sz="1150" dirty="0"/>
          </a:p>
        </p:txBody>
      </p:sp>
      <p:sp>
        <p:nvSpPr>
          <p:cNvPr id="30" name="Text 28"/>
          <p:cNvSpPr/>
          <p:nvPr/>
        </p:nvSpPr>
        <p:spPr>
          <a:xfrm>
            <a:off x="7132320" y="4754880"/>
            <a:ext cx="4297680" cy="1143000"/>
          </a:xfrm>
          <a:prstGeom prst="rect">
            <a:avLst/>
          </a:prstGeom>
          <a:noFill/>
          <a:ln/>
        </p:spPr>
        <p:txBody>
          <a:bodyPr wrap="square" lIns="0" tIns="0" rIns="0" bIns="0" rtlCol="0" anchor="ctr"/>
          <a:lstStyle/>
          <a:p>
            <a:pPr indent="0" marL="0">
              <a:buNone/>
            </a:pPr>
            <a:r>
              <a:rPr lang="en-US" sz="950" b="1" dirty="0">
                <a:solidFill>
                  <a:srgbClr val="000000"/>
                </a:solidFill>
                <a:latin typeface="Calibri" pitchFamily="34" charset="0"/>
                <a:ea typeface="Calibri" pitchFamily="34" charset="-122"/>
                <a:cs typeface="Calibri" pitchFamily="34" charset="-120"/>
              </a:rPr>
              <a:t>NotificationPublisher.publishBookingEvent()  </a:t>
            </a:r>
            <a:endParaRPr lang="en-US" sz="950" dirty="0"/>
          </a:p>
          <a:p>
            <a:pPr indent="0" marL="0">
              <a:buNone/>
            </a:pPr>
            <a:r>
              <a:rPr lang="en-US" sz="950" dirty="0">
                <a:solidFill>
                  <a:srgbClr val="5B6B85"/>
                </a:solidFill>
                <a:latin typeface="Calibri" pitchFamily="34" charset="0"/>
                <a:ea typeface="Calibri" pitchFamily="34" charset="-122"/>
                <a:cs typeface="Calibri" pitchFamily="34" charset="-120"/>
              </a:rPr>
              <a:t>→ RabbitMQ gympro.exchange (routing key: booking.notification)  </a:t>
            </a:r>
            <a:endParaRPr lang="en-US" sz="950" dirty="0"/>
          </a:p>
          <a:p>
            <a:pPr indent="0" marL="0">
              <a:buNone/>
            </a:pPr>
            <a:r>
              <a:rPr lang="en-US" sz="950" dirty="0">
                <a:solidFill>
                  <a:srgbClr val="5B6B85"/>
                </a:solidFill>
                <a:latin typeface="Calibri" pitchFamily="34" charset="0"/>
                <a:ea typeface="Calibri" pitchFamily="34" charset="-122"/>
                <a:cs typeface="Calibri" pitchFamily="34" charset="-120"/>
              </a:rPr>
              <a:t>→ events: BOOKING_CONFIRMED (member), BOOKING_TO_TRAINER (trainer)  </a:t>
            </a:r>
            <a:endParaRPr lang="en-US" sz="950" dirty="0"/>
          </a:p>
          <a:p>
            <a:pPr indent="0" marL="0">
              <a:buNone/>
            </a:pPr>
            <a:r>
              <a:rPr lang="en-US" sz="950" dirty="0">
                <a:solidFill>
                  <a:srgbClr val="5B6B85"/>
                </a:solidFill>
                <a:latin typeface="Calibri" pitchFamily="34" charset="0"/>
                <a:ea typeface="Calibri" pitchFamily="34" charset="-122"/>
                <a:cs typeface="Calibri" pitchFamily="34" charset="-120"/>
              </a:rPr>
              <a:t>Best-effort admin broadcast via fetchAdminUserIds() Feign call — failures are logged, never block the booking.</a:t>
            </a:r>
            <a:endParaRPr lang="en-US" sz="950" dirty="0"/>
          </a:p>
        </p:txBody>
      </p:sp>
      <p:sp>
        <p:nvSpPr>
          <p:cNvPr id="31" name="Shape 29"/>
          <p:cNvSpPr/>
          <p:nvPr/>
        </p:nvSpPr>
        <p:spPr>
          <a:xfrm>
            <a:off x="502920" y="5989320"/>
            <a:ext cx="5897880" cy="777240"/>
          </a:xfrm>
          <a:prstGeom prst="roundRect">
            <a:avLst>
              <a:gd name="adj" fmla="val 8235"/>
            </a:avLst>
          </a:prstGeom>
          <a:solidFill>
            <a:srgbClr val="EAF2FB"/>
          </a:solidFill>
          <a:ln/>
        </p:spPr>
      </p:sp>
      <p:sp>
        <p:nvSpPr>
          <p:cNvPr id="32" name="Text 30"/>
          <p:cNvSpPr/>
          <p:nvPr/>
        </p:nvSpPr>
        <p:spPr>
          <a:xfrm>
            <a:off x="685800" y="5989320"/>
            <a:ext cx="5577840" cy="777240"/>
          </a:xfrm>
          <a:prstGeom prst="rect">
            <a:avLst/>
          </a:prstGeom>
          <a:noFill/>
          <a:ln/>
        </p:spPr>
        <p:txBody>
          <a:bodyPr wrap="square" lIns="0" tIns="0" rIns="0" bIns="0" rtlCol="0" anchor="ctr"/>
          <a:lstStyle/>
          <a:p>
            <a:pPr indent="0" marL="0">
              <a:buNone/>
            </a:pPr>
            <a:r>
              <a:rPr lang="en-US" sz="980" b="1" dirty="0">
                <a:solidFill>
                  <a:srgbClr val="0B2545"/>
                </a:solidFill>
                <a:latin typeface="Calibri" pitchFamily="34" charset="0"/>
                <a:ea typeface="Calibri" pitchFamily="34" charset="-122"/>
                <a:cs typeface="Calibri" pitchFamily="34" charset="-120"/>
              </a:rPr>
              <a:t>Cancellation:  </a:t>
            </a:r>
            <a:pPr indent="0" marL="0">
              <a:buNone/>
            </a:pPr>
            <a:r>
              <a:rPr lang="en-US" sz="980" dirty="0">
                <a:solidFill>
                  <a:srgbClr val="16233B"/>
                </a:solidFill>
                <a:latin typeface="Calibri" pitchFamily="34" charset="0"/>
                <a:ea typeface="Calibri" pitchFamily="34" charset="-122"/>
                <a:cs typeface="Calibri" pitchFamily="34" charset="-120"/>
              </a:rPr>
              <a:t>FREE_SESSION bookings restore the quota via planServiceClient.restoreFreeSession(); PAID bookings are refunded separately through payment-service. Both are logged, non-blocking.</a:t>
            </a:r>
            <a:endParaRPr lang="en-US" sz="980" dirty="0"/>
          </a:p>
        </p:txBody>
      </p:sp>
      <p:sp>
        <p:nvSpPr>
          <p:cNvPr id="33" name="Text 31"/>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34" name="Text 32"/>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Booking Flow</a:t>
            </a:r>
            <a:endParaRPr lang="en-US" sz="900" dirty="0"/>
          </a:p>
        </p:txBody>
      </p:sp>
      <p:sp>
        <p:nvSpPr>
          <p:cNvPr id="35" name="Text 33"/>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CORE BUSINESS FLOW</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Payment Flow — Razorpay Integration</a:t>
            </a:r>
            <a:endParaRPr lang="en-US" sz="2800" dirty="0"/>
          </a:p>
        </p:txBody>
      </p:sp>
      <p:sp>
        <p:nvSpPr>
          <p:cNvPr id="4" name="Shape 2"/>
          <p:cNvSpPr/>
          <p:nvPr/>
        </p:nvSpPr>
        <p:spPr>
          <a:xfrm>
            <a:off x="502920" y="1417320"/>
            <a:ext cx="457200" cy="457200"/>
          </a:xfrm>
          <a:prstGeom prst="ellipse">
            <a:avLst/>
          </a:prstGeom>
          <a:solidFill>
            <a:srgbClr val="1B4F91"/>
          </a:solidFill>
          <a:ln/>
        </p:spPr>
      </p:sp>
      <p:sp>
        <p:nvSpPr>
          <p:cNvPr id="5" name="Text 3"/>
          <p:cNvSpPr/>
          <p:nvPr/>
        </p:nvSpPr>
        <p:spPr>
          <a:xfrm>
            <a:off x="50292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Shape 4"/>
          <p:cNvSpPr/>
          <p:nvPr/>
        </p:nvSpPr>
        <p:spPr>
          <a:xfrm>
            <a:off x="1143000" y="1371600"/>
            <a:ext cx="5349240" cy="566928"/>
          </a:xfrm>
          <a:prstGeom prst="roundRect">
            <a:avLst>
              <a:gd name="adj" fmla="val 11290"/>
            </a:avLst>
          </a:prstGeom>
          <a:solidFill>
            <a:srgbClr val="FFFFFF"/>
          </a:solidFill>
          <a:ln w="12700">
            <a:solidFill>
              <a:srgbClr val="D7E3F3"/>
            </a:solidFill>
            <a:prstDash val="solid"/>
          </a:ln>
        </p:spPr>
      </p:sp>
      <p:sp>
        <p:nvSpPr>
          <p:cNvPr id="7" name="Text 5"/>
          <p:cNvSpPr/>
          <p:nvPr/>
        </p:nvSpPr>
        <p:spPr>
          <a:xfrm>
            <a:off x="1325880" y="1399032"/>
            <a:ext cx="50292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POST /payments/create-order</a:t>
            </a:r>
            <a:endParaRPr lang="en-US" sz="1150" dirty="0"/>
          </a:p>
        </p:txBody>
      </p:sp>
      <p:sp>
        <p:nvSpPr>
          <p:cNvPr id="8" name="Text 6"/>
          <p:cNvSpPr/>
          <p:nvPr/>
        </p:nvSpPr>
        <p:spPr>
          <a:xfrm>
            <a:off x="1325880" y="1645920"/>
            <a:ext cx="5029200" cy="274320"/>
          </a:xfrm>
          <a:prstGeom prst="rect">
            <a:avLst/>
          </a:prstGeom>
          <a:noFill/>
          <a:ln/>
        </p:spPr>
        <p:txBody>
          <a:bodyPr wrap="square" lIns="0" tIns="0" rIns="0" bIns="0" rtlCol="0" anchor="ctr"/>
          <a:lstStyle/>
          <a:p>
            <a:pPr indent="0" marL="0">
              <a:buNone/>
            </a:pPr>
            <a:r>
              <a:rPr lang="en-US" sz="930" dirty="0">
                <a:solidFill>
                  <a:srgbClr val="5B6B85"/>
                </a:solidFill>
                <a:latin typeface="Calibri" pitchFamily="34" charset="0"/>
                <a:ea typeface="Calibri" pitchFamily="34" charset="-122"/>
                <a:cs typeface="Calibri" pitchFamily="34" charset="-120"/>
              </a:rPr>
              <a:t>amount + description → payment-service</a:t>
            </a:r>
            <a:endParaRPr lang="en-US" sz="930" dirty="0"/>
          </a:p>
        </p:txBody>
      </p:sp>
      <p:sp>
        <p:nvSpPr>
          <p:cNvPr id="9" name="Shape 7"/>
          <p:cNvSpPr/>
          <p:nvPr/>
        </p:nvSpPr>
        <p:spPr>
          <a:xfrm>
            <a:off x="731520" y="1874520"/>
            <a:ext cx="0" cy="201168"/>
          </a:xfrm>
          <a:prstGeom prst="line">
            <a:avLst/>
          </a:prstGeom>
          <a:noFill/>
          <a:ln w="22225">
            <a:solidFill>
              <a:srgbClr val="3E7CC9"/>
            </a:solidFill>
            <a:prstDash val="solid"/>
            <a:tailEnd type="triangle"/>
          </a:ln>
        </p:spPr>
      </p:sp>
      <p:sp>
        <p:nvSpPr>
          <p:cNvPr id="10" name="Shape 8"/>
          <p:cNvSpPr/>
          <p:nvPr/>
        </p:nvSpPr>
        <p:spPr>
          <a:xfrm>
            <a:off x="502920" y="2130552"/>
            <a:ext cx="457200" cy="457200"/>
          </a:xfrm>
          <a:prstGeom prst="ellipse">
            <a:avLst/>
          </a:prstGeom>
          <a:solidFill>
            <a:srgbClr val="1B4F91"/>
          </a:solidFill>
          <a:ln/>
        </p:spPr>
      </p:sp>
      <p:sp>
        <p:nvSpPr>
          <p:cNvPr id="11" name="Text 9"/>
          <p:cNvSpPr/>
          <p:nvPr/>
        </p:nvSpPr>
        <p:spPr>
          <a:xfrm>
            <a:off x="502920" y="21305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Shape 10"/>
          <p:cNvSpPr/>
          <p:nvPr/>
        </p:nvSpPr>
        <p:spPr>
          <a:xfrm>
            <a:off x="1143000" y="2084832"/>
            <a:ext cx="5349240" cy="566928"/>
          </a:xfrm>
          <a:prstGeom prst="roundRect">
            <a:avLst>
              <a:gd name="adj" fmla="val 11290"/>
            </a:avLst>
          </a:prstGeom>
          <a:solidFill>
            <a:srgbClr val="FFFFFF"/>
          </a:solidFill>
          <a:ln w="12700">
            <a:solidFill>
              <a:srgbClr val="D7E3F3"/>
            </a:solidFill>
            <a:prstDash val="solid"/>
          </a:ln>
        </p:spPr>
      </p:sp>
      <p:sp>
        <p:nvSpPr>
          <p:cNvPr id="13" name="Text 11"/>
          <p:cNvSpPr/>
          <p:nvPr/>
        </p:nvSpPr>
        <p:spPr>
          <a:xfrm>
            <a:off x="1325880" y="2112264"/>
            <a:ext cx="50292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RazorpayService.createOrder()</a:t>
            </a:r>
            <a:endParaRPr lang="en-US" sz="1150" dirty="0"/>
          </a:p>
        </p:txBody>
      </p:sp>
      <p:sp>
        <p:nvSpPr>
          <p:cNvPr id="14" name="Text 12"/>
          <p:cNvSpPr/>
          <p:nvPr/>
        </p:nvSpPr>
        <p:spPr>
          <a:xfrm>
            <a:off x="1325880" y="2359152"/>
            <a:ext cx="5029200" cy="274320"/>
          </a:xfrm>
          <a:prstGeom prst="rect">
            <a:avLst/>
          </a:prstGeom>
          <a:noFill/>
          <a:ln/>
        </p:spPr>
        <p:txBody>
          <a:bodyPr wrap="square" lIns="0" tIns="0" rIns="0" bIns="0" rtlCol="0" anchor="ctr"/>
          <a:lstStyle/>
          <a:p>
            <a:pPr indent="0" marL="0">
              <a:buNone/>
            </a:pPr>
            <a:r>
              <a:rPr lang="en-US" sz="930" dirty="0">
                <a:solidFill>
                  <a:srgbClr val="5B6B85"/>
                </a:solidFill>
                <a:latin typeface="Calibri" pitchFamily="34" charset="0"/>
                <a:ea typeface="Calibri" pitchFamily="34" charset="-122"/>
                <a:cs typeface="Calibri" pitchFamily="34" charset="-120"/>
              </a:rPr>
              <a:t>Converts ₹ → paise; calls Razorpay API; returns orderId</a:t>
            </a:r>
            <a:endParaRPr lang="en-US" sz="930" dirty="0"/>
          </a:p>
        </p:txBody>
      </p:sp>
      <p:sp>
        <p:nvSpPr>
          <p:cNvPr id="15" name="Shape 13"/>
          <p:cNvSpPr/>
          <p:nvPr/>
        </p:nvSpPr>
        <p:spPr>
          <a:xfrm>
            <a:off x="731520" y="2587752"/>
            <a:ext cx="0" cy="201168"/>
          </a:xfrm>
          <a:prstGeom prst="line">
            <a:avLst/>
          </a:prstGeom>
          <a:noFill/>
          <a:ln w="22225">
            <a:solidFill>
              <a:srgbClr val="3E7CC9"/>
            </a:solidFill>
            <a:prstDash val="solid"/>
            <a:tailEnd type="triangle"/>
          </a:ln>
        </p:spPr>
      </p:sp>
      <p:sp>
        <p:nvSpPr>
          <p:cNvPr id="16" name="Shape 14"/>
          <p:cNvSpPr/>
          <p:nvPr/>
        </p:nvSpPr>
        <p:spPr>
          <a:xfrm>
            <a:off x="502920" y="2843784"/>
            <a:ext cx="457200" cy="457200"/>
          </a:xfrm>
          <a:prstGeom prst="ellipse">
            <a:avLst/>
          </a:prstGeom>
          <a:solidFill>
            <a:srgbClr val="1B4F91"/>
          </a:solidFill>
          <a:ln/>
        </p:spPr>
      </p:sp>
      <p:sp>
        <p:nvSpPr>
          <p:cNvPr id="17" name="Text 15"/>
          <p:cNvSpPr/>
          <p:nvPr/>
        </p:nvSpPr>
        <p:spPr>
          <a:xfrm>
            <a:off x="502920" y="2843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Shape 16"/>
          <p:cNvSpPr/>
          <p:nvPr/>
        </p:nvSpPr>
        <p:spPr>
          <a:xfrm>
            <a:off x="1143000" y="2798064"/>
            <a:ext cx="5349240" cy="566928"/>
          </a:xfrm>
          <a:prstGeom prst="roundRect">
            <a:avLst>
              <a:gd name="adj" fmla="val 11290"/>
            </a:avLst>
          </a:prstGeom>
          <a:solidFill>
            <a:srgbClr val="FFFFFF"/>
          </a:solidFill>
          <a:ln w="12700">
            <a:solidFill>
              <a:srgbClr val="D7E3F3"/>
            </a:solidFill>
            <a:prstDash val="solid"/>
          </a:ln>
        </p:spPr>
      </p:sp>
      <p:sp>
        <p:nvSpPr>
          <p:cNvPr id="19" name="Text 17"/>
          <p:cNvSpPr/>
          <p:nvPr/>
        </p:nvSpPr>
        <p:spPr>
          <a:xfrm>
            <a:off x="1325880" y="2825496"/>
            <a:ext cx="50292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Frontend opens Razorpay widget</a:t>
            </a:r>
            <a:endParaRPr lang="en-US" sz="1150" dirty="0"/>
          </a:p>
        </p:txBody>
      </p:sp>
      <p:sp>
        <p:nvSpPr>
          <p:cNvPr id="20" name="Text 18"/>
          <p:cNvSpPr/>
          <p:nvPr/>
        </p:nvSpPr>
        <p:spPr>
          <a:xfrm>
            <a:off x="1325880" y="3072384"/>
            <a:ext cx="5029200" cy="274320"/>
          </a:xfrm>
          <a:prstGeom prst="rect">
            <a:avLst/>
          </a:prstGeom>
          <a:noFill/>
          <a:ln/>
        </p:spPr>
        <p:txBody>
          <a:bodyPr wrap="square" lIns="0" tIns="0" rIns="0" bIns="0" rtlCol="0" anchor="ctr"/>
          <a:lstStyle/>
          <a:p>
            <a:pPr indent="0" marL="0">
              <a:buNone/>
            </a:pPr>
            <a:r>
              <a:rPr lang="en-US" sz="930" dirty="0">
                <a:solidFill>
                  <a:srgbClr val="5B6B85"/>
                </a:solidFill>
                <a:latin typeface="Calibri" pitchFamily="34" charset="0"/>
                <a:ea typeface="Calibri" pitchFamily="34" charset="-122"/>
                <a:cs typeface="Calibri" pitchFamily="34" charset="-120"/>
              </a:rPr>
              <a:t>Member completes payment (card / UPI / wallet)</a:t>
            </a:r>
            <a:endParaRPr lang="en-US" sz="930" dirty="0"/>
          </a:p>
        </p:txBody>
      </p:sp>
      <p:sp>
        <p:nvSpPr>
          <p:cNvPr id="21" name="Shape 19"/>
          <p:cNvSpPr/>
          <p:nvPr/>
        </p:nvSpPr>
        <p:spPr>
          <a:xfrm>
            <a:off x="731520" y="3300984"/>
            <a:ext cx="0" cy="201168"/>
          </a:xfrm>
          <a:prstGeom prst="line">
            <a:avLst/>
          </a:prstGeom>
          <a:noFill/>
          <a:ln w="22225">
            <a:solidFill>
              <a:srgbClr val="3E7CC9"/>
            </a:solidFill>
            <a:prstDash val="solid"/>
            <a:tailEnd type="triangle"/>
          </a:ln>
        </p:spPr>
      </p:sp>
      <p:sp>
        <p:nvSpPr>
          <p:cNvPr id="22" name="Shape 20"/>
          <p:cNvSpPr/>
          <p:nvPr/>
        </p:nvSpPr>
        <p:spPr>
          <a:xfrm>
            <a:off x="502920" y="3557016"/>
            <a:ext cx="457200" cy="457200"/>
          </a:xfrm>
          <a:prstGeom prst="ellipse">
            <a:avLst/>
          </a:prstGeom>
          <a:solidFill>
            <a:srgbClr val="1B4F91"/>
          </a:solidFill>
          <a:ln/>
        </p:spPr>
      </p:sp>
      <p:sp>
        <p:nvSpPr>
          <p:cNvPr id="23" name="Text 21"/>
          <p:cNvSpPr/>
          <p:nvPr/>
        </p:nvSpPr>
        <p:spPr>
          <a:xfrm>
            <a:off x="502920" y="35570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Shape 22"/>
          <p:cNvSpPr/>
          <p:nvPr/>
        </p:nvSpPr>
        <p:spPr>
          <a:xfrm>
            <a:off x="1143000" y="3511296"/>
            <a:ext cx="5349240" cy="566928"/>
          </a:xfrm>
          <a:prstGeom prst="roundRect">
            <a:avLst>
              <a:gd name="adj" fmla="val 11290"/>
            </a:avLst>
          </a:prstGeom>
          <a:solidFill>
            <a:srgbClr val="FFFFFF"/>
          </a:solidFill>
          <a:ln w="12700">
            <a:solidFill>
              <a:srgbClr val="D7E3F3"/>
            </a:solidFill>
            <a:prstDash val="solid"/>
          </a:ln>
        </p:spPr>
      </p:sp>
      <p:sp>
        <p:nvSpPr>
          <p:cNvPr id="25" name="Text 23"/>
          <p:cNvSpPr/>
          <p:nvPr/>
        </p:nvSpPr>
        <p:spPr>
          <a:xfrm>
            <a:off x="1325880" y="3538728"/>
            <a:ext cx="50292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POST /payments/pay</a:t>
            </a:r>
            <a:endParaRPr lang="en-US" sz="1150" dirty="0"/>
          </a:p>
        </p:txBody>
      </p:sp>
      <p:sp>
        <p:nvSpPr>
          <p:cNvPr id="26" name="Text 24"/>
          <p:cNvSpPr/>
          <p:nvPr/>
        </p:nvSpPr>
        <p:spPr>
          <a:xfrm>
            <a:off x="1325880" y="3785616"/>
            <a:ext cx="5029200" cy="274320"/>
          </a:xfrm>
          <a:prstGeom prst="rect">
            <a:avLst/>
          </a:prstGeom>
          <a:noFill/>
          <a:ln/>
        </p:spPr>
        <p:txBody>
          <a:bodyPr wrap="square" lIns="0" tIns="0" rIns="0" bIns="0" rtlCol="0" anchor="ctr"/>
          <a:lstStyle/>
          <a:p>
            <a:pPr indent="0" marL="0">
              <a:buNone/>
            </a:pPr>
            <a:r>
              <a:rPr lang="en-US" sz="930" dirty="0">
                <a:solidFill>
                  <a:srgbClr val="5B6B85"/>
                </a:solidFill>
                <a:latin typeface="Calibri" pitchFamily="34" charset="0"/>
                <a:ea typeface="Calibri" pitchFamily="34" charset="-122"/>
                <a:cs typeface="Calibri" pitchFamily="34" charset="-120"/>
              </a:rPr>
              <a:t>orderId + paymentId + signature → payment-service</a:t>
            </a:r>
            <a:endParaRPr lang="en-US" sz="930" dirty="0"/>
          </a:p>
        </p:txBody>
      </p:sp>
      <p:sp>
        <p:nvSpPr>
          <p:cNvPr id="27" name="Shape 25"/>
          <p:cNvSpPr/>
          <p:nvPr/>
        </p:nvSpPr>
        <p:spPr>
          <a:xfrm>
            <a:off x="731520" y="4014216"/>
            <a:ext cx="0" cy="201168"/>
          </a:xfrm>
          <a:prstGeom prst="line">
            <a:avLst/>
          </a:prstGeom>
          <a:noFill/>
          <a:ln w="22225">
            <a:solidFill>
              <a:srgbClr val="3E7CC9"/>
            </a:solidFill>
            <a:prstDash val="solid"/>
            <a:tailEnd type="triangle"/>
          </a:ln>
        </p:spPr>
      </p:sp>
      <p:sp>
        <p:nvSpPr>
          <p:cNvPr id="28" name="Shape 26"/>
          <p:cNvSpPr/>
          <p:nvPr/>
        </p:nvSpPr>
        <p:spPr>
          <a:xfrm>
            <a:off x="502920" y="4270248"/>
            <a:ext cx="457200" cy="457200"/>
          </a:xfrm>
          <a:prstGeom prst="ellipse">
            <a:avLst/>
          </a:prstGeom>
          <a:solidFill>
            <a:srgbClr val="1B4F91"/>
          </a:solidFill>
          <a:ln/>
        </p:spPr>
      </p:sp>
      <p:sp>
        <p:nvSpPr>
          <p:cNvPr id="29" name="Text 27"/>
          <p:cNvSpPr/>
          <p:nvPr/>
        </p:nvSpPr>
        <p:spPr>
          <a:xfrm>
            <a:off x="502920" y="42702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0" name="Shape 28"/>
          <p:cNvSpPr/>
          <p:nvPr/>
        </p:nvSpPr>
        <p:spPr>
          <a:xfrm>
            <a:off x="1143000" y="4224528"/>
            <a:ext cx="5349240" cy="566928"/>
          </a:xfrm>
          <a:prstGeom prst="roundRect">
            <a:avLst>
              <a:gd name="adj" fmla="val 11290"/>
            </a:avLst>
          </a:prstGeom>
          <a:solidFill>
            <a:srgbClr val="FFFFFF"/>
          </a:solidFill>
          <a:ln w="12700">
            <a:solidFill>
              <a:srgbClr val="D7E3F3"/>
            </a:solidFill>
            <a:prstDash val="solid"/>
          </a:ln>
        </p:spPr>
      </p:sp>
      <p:sp>
        <p:nvSpPr>
          <p:cNvPr id="31" name="Text 29"/>
          <p:cNvSpPr/>
          <p:nvPr/>
        </p:nvSpPr>
        <p:spPr>
          <a:xfrm>
            <a:off x="1325880" y="4251960"/>
            <a:ext cx="50292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Signature verification (HMAC)</a:t>
            </a:r>
            <a:endParaRPr lang="en-US" sz="1150" dirty="0"/>
          </a:p>
        </p:txBody>
      </p:sp>
      <p:sp>
        <p:nvSpPr>
          <p:cNvPr id="32" name="Text 30"/>
          <p:cNvSpPr/>
          <p:nvPr/>
        </p:nvSpPr>
        <p:spPr>
          <a:xfrm>
            <a:off x="1325880" y="4498848"/>
            <a:ext cx="5029200" cy="274320"/>
          </a:xfrm>
          <a:prstGeom prst="rect">
            <a:avLst/>
          </a:prstGeom>
          <a:noFill/>
          <a:ln/>
        </p:spPr>
        <p:txBody>
          <a:bodyPr wrap="square" lIns="0" tIns="0" rIns="0" bIns="0" rtlCol="0" anchor="ctr"/>
          <a:lstStyle/>
          <a:p>
            <a:pPr indent="0" marL="0">
              <a:buNone/>
            </a:pPr>
            <a:r>
              <a:rPr lang="en-US" sz="930" dirty="0">
                <a:solidFill>
                  <a:srgbClr val="5B6B85"/>
                </a:solidFill>
                <a:latin typeface="Calibri" pitchFamily="34" charset="0"/>
                <a:ea typeface="Calibri" pitchFamily="34" charset="-122"/>
                <a:cs typeface="Calibri" pitchFamily="34" charset="-120"/>
              </a:rPr>
              <a:t>RazorpayService verifies before persisting Payment entity</a:t>
            </a:r>
            <a:endParaRPr lang="en-US" sz="930" dirty="0"/>
          </a:p>
        </p:txBody>
      </p:sp>
      <p:sp>
        <p:nvSpPr>
          <p:cNvPr id="33" name="Shape 31"/>
          <p:cNvSpPr/>
          <p:nvPr/>
        </p:nvSpPr>
        <p:spPr>
          <a:xfrm>
            <a:off x="731520" y="4727448"/>
            <a:ext cx="0" cy="201168"/>
          </a:xfrm>
          <a:prstGeom prst="line">
            <a:avLst/>
          </a:prstGeom>
          <a:noFill/>
          <a:ln w="22225">
            <a:solidFill>
              <a:srgbClr val="3E7CC9"/>
            </a:solidFill>
            <a:prstDash val="solid"/>
            <a:tailEnd type="triangle"/>
          </a:ln>
        </p:spPr>
      </p:sp>
      <p:sp>
        <p:nvSpPr>
          <p:cNvPr id="34" name="Shape 32"/>
          <p:cNvSpPr/>
          <p:nvPr/>
        </p:nvSpPr>
        <p:spPr>
          <a:xfrm>
            <a:off x="502920" y="4983480"/>
            <a:ext cx="457200" cy="457200"/>
          </a:xfrm>
          <a:prstGeom prst="ellipse">
            <a:avLst/>
          </a:prstGeom>
          <a:solidFill>
            <a:srgbClr val="1B4F91"/>
          </a:solidFill>
          <a:ln/>
        </p:spPr>
      </p:sp>
      <p:sp>
        <p:nvSpPr>
          <p:cNvPr id="35" name="Text 33"/>
          <p:cNvSpPr/>
          <p:nvPr/>
        </p:nvSpPr>
        <p:spPr>
          <a:xfrm>
            <a:off x="502920" y="4983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Shape 34"/>
          <p:cNvSpPr/>
          <p:nvPr/>
        </p:nvSpPr>
        <p:spPr>
          <a:xfrm>
            <a:off x="1143000" y="4937760"/>
            <a:ext cx="5349240" cy="566928"/>
          </a:xfrm>
          <a:prstGeom prst="roundRect">
            <a:avLst>
              <a:gd name="adj" fmla="val 11290"/>
            </a:avLst>
          </a:prstGeom>
          <a:solidFill>
            <a:srgbClr val="FFFFFF"/>
          </a:solidFill>
          <a:ln w="12700">
            <a:solidFill>
              <a:srgbClr val="D7E3F3"/>
            </a:solidFill>
            <a:prstDash val="solid"/>
          </a:ln>
        </p:spPr>
      </p:sp>
      <p:sp>
        <p:nvSpPr>
          <p:cNvPr id="37" name="Text 35"/>
          <p:cNvSpPr/>
          <p:nvPr/>
        </p:nvSpPr>
        <p:spPr>
          <a:xfrm>
            <a:off x="1325880" y="4965192"/>
            <a:ext cx="50292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Publish PAYMENT_SUCCESS event</a:t>
            </a:r>
            <a:endParaRPr lang="en-US" sz="1150" dirty="0"/>
          </a:p>
        </p:txBody>
      </p:sp>
      <p:sp>
        <p:nvSpPr>
          <p:cNvPr id="38" name="Text 36"/>
          <p:cNvSpPr/>
          <p:nvPr/>
        </p:nvSpPr>
        <p:spPr>
          <a:xfrm>
            <a:off x="1325880" y="5212080"/>
            <a:ext cx="5029200" cy="274320"/>
          </a:xfrm>
          <a:prstGeom prst="rect">
            <a:avLst/>
          </a:prstGeom>
          <a:noFill/>
          <a:ln/>
        </p:spPr>
        <p:txBody>
          <a:bodyPr wrap="square" lIns="0" tIns="0" rIns="0" bIns="0" rtlCol="0" anchor="ctr"/>
          <a:lstStyle/>
          <a:p>
            <a:pPr indent="0" marL="0">
              <a:buNone/>
            </a:pPr>
            <a:r>
              <a:rPr lang="en-US" sz="930" dirty="0">
                <a:solidFill>
                  <a:srgbClr val="5B6B85"/>
                </a:solidFill>
                <a:latin typeface="Calibri" pitchFamily="34" charset="0"/>
                <a:ea typeface="Calibri" pitchFamily="34" charset="-122"/>
                <a:cs typeface="Calibri" pitchFamily="34" charset="-120"/>
              </a:rPr>
              <a:t>→ RabbitMQ → notification-service (email + in-app + SSE)</a:t>
            </a:r>
            <a:endParaRPr lang="en-US" sz="930" dirty="0"/>
          </a:p>
        </p:txBody>
      </p:sp>
      <p:sp>
        <p:nvSpPr>
          <p:cNvPr id="39" name="Shape 37"/>
          <p:cNvSpPr/>
          <p:nvPr/>
        </p:nvSpPr>
        <p:spPr>
          <a:xfrm>
            <a:off x="6903720" y="1371600"/>
            <a:ext cx="4754880" cy="2103120"/>
          </a:xfrm>
          <a:prstGeom prst="roundRect">
            <a:avLst>
              <a:gd name="adj" fmla="val 3043"/>
            </a:avLst>
          </a:prstGeom>
          <a:solidFill>
            <a:srgbClr val="0B2545"/>
          </a:solidFill>
          <a:ln/>
          <a:effectLst>
            <a:outerShdw sx="100000" sy="100000" kx="0" ky="0" algn="bl" rotWithShape="0" blurRad="101600" dist="25400" dir="5400000">
              <a:srgbClr val="0B2545">
                <a:alpha val="10000"/>
              </a:srgbClr>
            </a:outerShdw>
          </a:effectLst>
        </p:spPr>
      </p:sp>
      <p:sp>
        <p:nvSpPr>
          <p:cNvPr id="40" name="Text 38"/>
          <p:cNvSpPr/>
          <p:nvPr/>
        </p:nvSpPr>
        <p:spPr>
          <a:xfrm>
            <a:off x="7178040" y="1508760"/>
            <a:ext cx="4206240" cy="274320"/>
          </a:xfrm>
          <a:prstGeom prst="rect">
            <a:avLst/>
          </a:prstGeom>
          <a:noFill/>
          <a:ln/>
        </p:spPr>
        <p:txBody>
          <a:bodyPr wrap="square" lIns="0" tIns="0" rIns="0" bIns="0" rtlCol="0" anchor="ctr"/>
          <a:lstStyle/>
          <a:p>
            <a:pPr indent="0" marL="0">
              <a:buNone/>
            </a:pPr>
            <a:r>
              <a:rPr lang="en-US" sz="1050" b="1" spc="100" kern="0" dirty="0">
                <a:solidFill>
                  <a:srgbClr val="00A9E0"/>
                </a:solidFill>
                <a:latin typeface="Calibri" pitchFamily="34" charset="0"/>
                <a:ea typeface="Calibri" pitchFamily="34" charset="-122"/>
                <a:cs typeface="Calibri" pitchFamily="34" charset="-120"/>
              </a:rPr>
              <a:t>PAYMENT ENTITY — STATUS LIFECYCLE</a:t>
            </a:r>
            <a:endParaRPr lang="en-US" sz="1050" dirty="0"/>
          </a:p>
        </p:txBody>
      </p:sp>
      <p:sp>
        <p:nvSpPr>
          <p:cNvPr id="41" name="Text 39"/>
          <p:cNvSpPr/>
          <p:nvPr/>
        </p:nvSpPr>
        <p:spPr>
          <a:xfrm>
            <a:off x="7178040" y="1874520"/>
            <a:ext cx="4206240" cy="146304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status:  </a:t>
            </a:r>
            <a:pPr indent="0" marL="0">
              <a:buNone/>
            </a:pPr>
            <a:r>
              <a:rPr lang="en-US" sz="1000" dirty="0">
                <a:solidFill>
                  <a:srgbClr val="CADCFC"/>
                </a:solidFill>
                <a:latin typeface="Calibri" pitchFamily="34" charset="0"/>
                <a:ea typeface="Calibri" pitchFamily="34" charset="-122"/>
                <a:cs typeface="Calibri" pitchFamily="34" charset="-120"/>
              </a:rPr>
              <a:t>PENDING → SUCCESS | FAILED | REFUNDED | FREE</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paymentMethod:  </a:t>
            </a:r>
            <a:pPr indent="0" marL="0">
              <a:buNone/>
            </a:pPr>
            <a:r>
              <a:rPr lang="en-US" sz="1000" dirty="0">
                <a:solidFill>
                  <a:srgbClr val="CADCFC"/>
                </a:solidFill>
                <a:latin typeface="Calibri" pitchFamily="34" charset="0"/>
                <a:ea typeface="Calibri" pitchFamily="34" charset="-122"/>
                <a:cs typeface="Calibri" pitchFamily="34" charset="-120"/>
              </a:rPr>
              <a:t>CREDIT_CARD | DEBIT_CARD | UPI | QR_CODE | CASH | RAZORPAY</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paymentType:  </a:t>
            </a:r>
            <a:pPr indent="0" marL="0">
              <a:buNone/>
            </a:pPr>
            <a:r>
              <a:rPr lang="en-US" sz="1000" dirty="0">
                <a:solidFill>
                  <a:srgbClr val="CADCFC"/>
                </a:solidFill>
                <a:latin typeface="Calibri" pitchFamily="34" charset="0"/>
                <a:ea typeface="Calibri" pitchFamily="34" charset="-122"/>
                <a:cs typeface="Calibri" pitchFamily="34" charset="-120"/>
              </a:rPr>
              <a:t>REGULAR | FREE_SESSION  (₹0, no Razorpay order created)</a:t>
            </a:r>
            <a:endParaRPr lang="en-US" sz="1000" dirty="0"/>
          </a:p>
        </p:txBody>
      </p:sp>
      <p:sp>
        <p:nvSpPr>
          <p:cNvPr id="42" name="Shape 40"/>
          <p:cNvSpPr/>
          <p:nvPr/>
        </p:nvSpPr>
        <p:spPr>
          <a:xfrm>
            <a:off x="6903720" y="3657600"/>
            <a:ext cx="4754880" cy="2606040"/>
          </a:xfrm>
          <a:prstGeom prst="roundRect">
            <a:avLst>
              <a:gd name="adj" fmla="val 2456"/>
            </a:avLst>
          </a:prstGeom>
          <a:solidFill>
            <a:srgbClr val="FFF7E8"/>
          </a:solidFill>
          <a:ln/>
        </p:spPr>
      </p:sp>
      <p:pic>
        <p:nvPicPr>
          <p:cNvPr id="43" name="Image 0" descr="preencoded.png">    </p:cNvPr>
          <p:cNvPicPr>
            <a:picLocks noChangeAspect="1"/>
          </p:cNvPicPr>
          <p:nvPr/>
        </p:nvPicPr>
        <p:blipFill>
          <a:blip r:embed="rId1"/>
          <a:stretch>
            <a:fillRect/>
          </a:stretch>
        </p:blipFill>
        <p:spPr>
          <a:xfrm>
            <a:off x="7132320" y="3840480"/>
            <a:ext cx="365760" cy="365760"/>
          </a:xfrm>
          <a:prstGeom prst="rect">
            <a:avLst/>
          </a:prstGeom>
        </p:spPr>
      </p:pic>
      <p:sp>
        <p:nvSpPr>
          <p:cNvPr id="44" name="Text 41"/>
          <p:cNvSpPr/>
          <p:nvPr/>
        </p:nvSpPr>
        <p:spPr>
          <a:xfrm>
            <a:off x="7635240" y="3858768"/>
            <a:ext cx="3840480" cy="3200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Why Signature Verification Matters</a:t>
            </a:r>
            <a:endParaRPr lang="en-US" sz="1250" dirty="0"/>
          </a:p>
        </p:txBody>
      </p:sp>
      <p:sp>
        <p:nvSpPr>
          <p:cNvPr id="45" name="Text 42"/>
          <p:cNvSpPr/>
          <p:nvPr/>
        </p:nvSpPr>
        <p:spPr>
          <a:xfrm>
            <a:off x="7132320" y="4297680"/>
            <a:ext cx="4297680" cy="1874520"/>
          </a:xfrm>
          <a:prstGeom prst="rect">
            <a:avLst/>
          </a:prstGeom>
          <a:noFill/>
          <a:ln/>
        </p:spPr>
        <p:txBody>
          <a:bodyPr wrap="square" lIns="0" tIns="0" rIns="0" bIns="0" rtlCol="0" anchor="ctr"/>
          <a:lstStyle/>
          <a:p>
            <a:pPr indent="0" marL="0">
              <a:lnSpc>
                <a:spcPct val="120000"/>
              </a:lnSpc>
              <a:buNone/>
            </a:pPr>
            <a:r>
              <a:rPr lang="en-US" sz="1000" dirty="0">
                <a:solidFill>
                  <a:srgbClr val="16233B"/>
                </a:solidFill>
                <a:latin typeface="Calibri" pitchFamily="34" charset="0"/>
                <a:ea typeface="Calibri" pitchFamily="34" charset="-122"/>
                <a:cs typeface="Calibri" pitchFamily="34" charset="-120"/>
              </a:rPr>
              <a:t>Razorpay returns a payment ID from the client-side widget — this alone is not proof of payment. payment-service recomputes an HMAC-SHA256 signature from orderId + paymentId using the Razorpay key secret and compares it to the signature sent by the frontend. Only a match is persisted as SUCCESS, preventing forged payment confirmations.</a:t>
            </a:r>
            <a:endParaRPr lang="en-US" sz="1000" dirty="0"/>
          </a:p>
        </p:txBody>
      </p:sp>
      <p:sp>
        <p:nvSpPr>
          <p:cNvPr id="46" name="Text 43"/>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47" name="Text 44"/>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Payment Flow</a:t>
            </a:r>
            <a:endParaRPr lang="en-US" sz="900" dirty="0"/>
          </a:p>
        </p:txBody>
      </p:sp>
      <p:sp>
        <p:nvSpPr>
          <p:cNvPr id="48" name="Text 45"/>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CORE BUSINESS FLOW</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Notification Flow — RabbitMQ + Real-Time SSE</a:t>
            </a:r>
            <a:endParaRPr lang="en-US" sz="2800" dirty="0"/>
          </a:p>
        </p:txBody>
      </p:sp>
      <p:sp>
        <p:nvSpPr>
          <p:cNvPr id="4" name="Shape 2"/>
          <p:cNvSpPr/>
          <p:nvPr/>
        </p:nvSpPr>
        <p:spPr>
          <a:xfrm>
            <a:off x="502920" y="1417320"/>
            <a:ext cx="2606040" cy="502920"/>
          </a:xfrm>
          <a:prstGeom prst="roundRect">
            <a:avLst>
              <a:gd name="adj" fmla="val 1090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5" name="Text 3"/>
          <p:cNvSpPr/>
          <p:nvPr/>
        </p:nvSpPr>
        <p:spPr>
          <a:xfrm>
            <a:off x="502920" y="1417320"/>
            <a:ext cx="2606040" cy="502920"/>
          </a:xfrm>
          <a:prstGeom prst="rect">
            <a:avLst/>
          </a:prstGeom>
          <a:noFill/>
          <a:ln/>
        </p:spPr>
        <p:txBody>
          <a:bodyPr wrap="square" lIns="38100" tIns="38100" rIns="38100" bIns="3810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auth-service</a:t>
            </a:r>
            <a:endParaRPr lang="en-US" sz="1050" dirty="0"/>
          </a:p>
        </p:txBody>
      </p:sp>
      <p:sp>
        <p:nvSpPr>
          <p:cNvPr id="6" name="Shape 4"/>
          <p:cNvSpPr/>
          <p:nvPr/>
        </p:nvSpPr>
        <p:spPr>
          <a:xfrm>
            <a:off x="3246120" y="1417320"/>
            <a:ext cx="2606040" cy="502920"/>
          </a:xfrm>
          <a:prstGeom prst="roundRect">
            <a:avLst>
              <a:gd name="adj" fmla="val 1090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7" name="Text 5"/>
          <p:cNvSpPr/>
          <p:nvPr/>
        </p:nvSpPr>
        <p:spPr>
          <a:xfrm>
            <a:off x="3246120" y="1417320"/>
            <a:ext cx="2606040" cy="502920"/>
          </a:xfrm>
          <a:prstGeom prst="rect">
            <a:avLst/>
          </a:prstGeom>
          <a:noFill/>
          <a:ln/>
        </p:spPr>
        <p:txBody>
          <a:bodyPr wrap="square" lIns="38100" tIns="38100" rIns="38100" bIns="3810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booking-service</a:t>
            </a:r>
            <a:endParaRPr lang="en-US" sz="1050" dirty="0"/>
          </a:p>
        </p:txBody>
      </p:sp>
      <p:sp>
        <p:nvSpPr>
          <p:cNvPr id="8" name="Shape 6"/>
          <p:cNvSpPr/>
          <p:nvPr/>
        </p:nvSpPr>
        <p:spPr>
          <a:xfrm>
            <a:off x="5989320" y="1417320"/>
            <a:ext cx="2606040" cy="502920"/>
          </a:xfrm>
          <a:prstGeom prst="roundRect">
            <a:avLst>
              <a:gd name="adj" fmla="val 1090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9" name="Text 7"/>
          <p:cNvSpPr/>
          <p:nvPr/>
        </p:nvSpPr>
        <p:spPr>
          <a:xfrm>
            <a:off x="5989320" y="1417320"/>
            <a:ext cx="2606040" cy="502920"/>
          </a:xfrm>
          <a:prstGeom prst="rect">
            <a:avLst/>
          </a:prstGeom>
          <a:noFill/>
          <a:ln/>
        </p:spPr>
        <p:txBody>
          <a:bodyPr wrap="square" lIns="38100" tIns="38100" rIns="38100" bIns="3810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payment-service</a:t>
            </a:r>
            <a:endParaRPr lang="en-US" sz="1050" dirty="0"/>
          </a:p>
        </p:txBody>
      </p:sp>
      <p:sp>
        <p:nvSpPr>
          <p:cNvPr id="10" name="Shape 8"/>
          <p:cNvSpPr/>
          <p:nvPr/>
        </p:nvSpPr>
        <p:spPr>
          <a:xfrm>
            <a:off x="8732520" y="1417320"/>
            <a:ext cx="2606040" cy="502920"/>
          </a:xfrm>
          <a:prstGeom prst="roundRect">
            <a:avLst>
              <a:gd name="adj" fmla="val 1090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1" name="Text 9"/>
          <p:cNvSpPr/>
          <p:nvPr/>
        </p:nvSpPr>
        <p:spPr>
          <a:xfrm>
            <a:off x="8732520" y="1417320"/>
            <a:ext cx="2606040" cy="502920"/>
          </a:xfrm>
          <a:prstGeom prst="rect">
            <a:avLst/>
          </a:prstGeom>
          <a:noFill/>
          <a:ln/>
        </p:spPr>
        <p:txBody>
          <a:bodyPr wrap="square" lIns="38100" tIns="38100" rIns="38100" bIns="3810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plan-service (Feign)</a:t>
            </a:r>
            <a:endParaRPr lang="en-US" sz="1050" dirty="0"/>
          </a:p>
        </p:txBody>
      </p:sp>
      <p:sp>
        <p:nvSpPr>
          <p:cNvPr id="12" name="Shape 10"/>
          <p:cNvSpPr/>
          <p:nvPr/>
        </p:nvSpPr>
        <p:spPr>
          <a:xfrm>
            <a:off x="1801368" y="1920240"/>
            <a:ext cx="4507992" cy="502920"/>
          </a:xfrm>
          <a:prstGeom prst="line">
            <a:avLst/>
          </a:prstGeom>
          <a:noFill/>
          <a:ln w="15875">
            <a:solidFill>
              <a:srgbClr val="3E7CC9"/>
            </a:solidFill>
            <a:prstDash val="solid"/>
            <a:tailEnd type="triangle"/>
          </a:ln>
        </p:spPr>
      </p:sp>
      <p:sp>
        <p:nvSpPr>
          <p:cNvPr id="13" name="Shape 11"/>
          <p:cNvSpPr/>
          <p:nvPr/>
        </p:nvSpPr>
        <p:spPr>
          <a:xfrm>
            <a:off x="4544568" y="1920240"/>
            <a:ext cx="1764792" cy="502920"/>
          </a:xfrm>
          <a:prstGeom prst="line">
            <a:avLst/>
          </a:prstGeom>
          <a:noFill/>
          <a:ln w="15875">
            <a:solidFill>
              <a:srgbClr val="3E7CC9"/>
            </a:solidFill>
            <a:prstDash val="solid"/>
            <a:tailEnd type="triangle"/>
          </a:ln>
        </p:spPr>
      </p:sp>
      <p:sp>
        <p:nvSpPr>
          <p:cNvPr id="14" name="Shape 12"/>
          <p:cNvSpPr/>
          <p:nvPr/>
        </p:nvSpPr>
        <p:spPr>
          <a:xfrm>
            <a:off x="7287768" y="1920240"/>
            <a:ext cx="-978408" cy="502920"/>
          </a:xfrm>
          <a:prstGeom prst="line">
            <a:avLst/>
          </a:prstGeom>
          <a:noFill/>
          <a:ln w="15875">
            <a:solidFill>
              <a:srgbClr val="3E7CC9"/>
            </a:solidFill>
            <a:prstDash val="solid"/>
            <a:tailEnd type="triangle"/>
          </a:ln>
        </p:spPr>
      </p:sp>
      <p:sp>
        <p:nvSpPr>
          <p:cNvPr id="15" name="Shape 13"/>
          <p:cNvSpPr/>
          <p:nvPr/>
        </p:nvSpPr>
        <p:spPr>
          <a:xfrm>
            <a:off x="10030968" y="1920240"/>
            <a:ext cx="-3721608" cy="502920"/>
          </a:xfrm>
          <a:prstGeom prst="line">
            <a:avLst/>
          </a:prstGeom>
          <a:noFill/>
          <a:ln w="15875">
            <a:solidFill>
              <a:srgbClr val="3E7CC9"/>
            </a:solidFill>
            <a:prstDash val="solid"/>
            <a:tailEnd type="triangle"/>
          </a:ln>
        </p:spPr>
      </p:sp>
      <p:sp>
        <p:nvSpPr>
          <p:cNvPr id="16" name="Shape 14"/>
          <p:cNvSpPr/>
          <p:nvPr/>
        </p:nvSpPr>
        <p:spPr>
          <a:xfrm>
            <a:off x="4480560" y="2468880"/>
            <a:ext cx="3200400" cy="548640"/>
          </a:xfrm>
          <a:prstGeom prst="roundRect">
            <a:avLst>
              <a:gd name="adj" fmla="val 10000"/>
            </a:avLst>
          </a:prstGeom>
          <a:solidFill>
            <a:srgbClr val="C9781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7" name="Text 15"/>
          <p:cNvSpPr/>
          <p:nvPr/>
        </p:nvSpPr>
        <p:spPr>
          <a:xfrm>
            <a:off x="4480560" y="2468880"/>
            <a:ext cx="3200400" cy="5486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gympro.exchange  (TopicExchange, durable)</a:t>
            </a:r>
            <a:endParaRPr lang="en-US" sz="1100" dirty="0"/>
          </a:p>
        </p:txBody>
      </p:sp>
      <p:sp>
        <p:nvSpPr>
          <p:cNvPr id="18" name="Shape 16"/>
          <p:cNvSpPr/>
          <p:nvPr/>
        </p:nvSpPr>
        <p:spPr>
          <a:xfrm>
            <a:off x="6080760" y="3017520"/>
            <a:ext cx="-3200400" cy="502920"/>
          </a:xfrm>
          <a:prstGeom prst="line">
            <a:avLst/>
          </a:prstGeom>
          <a:noFill/>
          <a:ln w="15875">
            <a:solidFill>
              <a:srgbClr val="C9781F"/>
            </a:solidFill>
            <a:prstDash val="solid"/>
            <a:tailEnd type="triangle"/>
          </a:ln>
        </p:spPr>
      </p:sp>
      <p:sp>
        <p:nvSpPr>
          <p:cNvPr id="19" name="Shape 17"/>
          <p:cNvSpPr/>
          <p:nvPr/>
        </p:nvSpPr>
        <p:spPr>
          <a:xfrm>
            <a:off x="1417320" y="3520440"/>
            <a:ext cx="2926080" cy="566928"/>
          </a:xfrm>
          <a:prstGeom prst="roundRect">
            <a:avLst>
              <a:gd name="adj" fmla="val 9677"/>
            </a:avLst>
          </a:prstGeom>
          <a:solidFill>
            <a:srgbClr val="FFF7E8"/>
          </a:solidFill>
          <a:ln w="15875">
            <a:solidFill>
              <a:srgbClr val="C9781F"/>
            </a:solidFill>
            <a:prstDash val="solid"/>
          </a:ln>
          <a:effectLst>
            <a:outerShdw sx="100000" sy="100000" kx="0" ky="0" algn="bl" rotWithShape="0" blurRad="76200" dist="12700" dir="5400000">
              <a:srgbClr val="0B2545">
                <a:alpha val="10000"/>
              </a:srgbClr>
            </a:outerShdw>
          </a:effectLst>
        </p:spPr>
      </p:sp>
      <p:sp>
        <p:nvSpPr>
          <p:cNvPr id="20" name="Text 18"/>
          <p:cNvSpPr/>
          <p:nvPr/>
        </p:nvSpPr>
        <p:spPr>
          <a:xfrm>
            <a:off x="1417320" y="3520440"/>
            <a:ext cx="2926080" cy="566928"/>
          </a:xfrm>
          <a:prstGeom prst="rect">
            <a:avLst/>
          </a:prstGeom>
          <a:noFill/>
          <a:ln/>
        </p:spPr>
        <p:txBody>
          <a:bodyPr wrap="square" lIns="38100" tIns="38100" rIns="38100" bIns="381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gympro.booking.queue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routing key: booking.notification</a:t>
            </a:r>
            <a:endParaRPr lang="en-US" sz="900" dirty="0"/>
          </a:p>
        </p:txBody>
      </p:sp>
      <p:sp>
        <p:nvSpPr>
          <p:cNvPr id="21" name="Shape 19"/>
          <p:cNvSpPr/>
          <p:nvPr/>
        </p:nvSpPr>
        <p:spPr>
          <a:xfrm>
            <a:off x="6080760" y="3017520"/>
            <a:ext cx="0" cy="502920"/>
          </a:xfrm>
          <a:prstGeom prst="line">
            <a:avLst/>
          </a:prstGeom>
          <a:noFill/>
          <a:ln w="15875">
            <a:solidFill>
              <a:srgbClr val="C9781F"/>
            </a:solidFill>
            <a:prstDash val="solid"/>
            <a:tailEnd type="triangle"/>
          </a:ln>
        </p:spPr>
      </p:sp>
      <p:sp>
        <p:nvSpPr>
          <p:cNvPr id="22" name="Shape 20"/>
          <p:cNvSpPr/>
          <p:nvPr/>
        </p:nvSpPr>
        <p:spPr>
          <a:xfrm>
            <a:off x="4617720" y="3520440"/>
            <a:ext cx="2926080" cy="566928"/>
          </a:xfrm>
          <a:prstGeom prst="roundRect">
            <a:avLst>
              <a:gd name="adj" fmla="val 9677"/>
            </a:avLst>
          </a:prstGeom>
          <a:solidFill>
            <a:srgbClr val="FFF7E8"/>
          </a:solidFill>
          <a:ln w="15875">
            <a:solidFill>
              <a:srgbClr val="C9781F"/>
            </a:solidFill>
            <a:prstDash val="solid"/>
          </a:ln>
          <a:effectLst>
            <a:outerShdw sx="100000" sy="100000" kx="0" ky="0" algn="bl" rotWithShape="0" blurRad="76200" dist="12700" dir="5400000">
              <a:srgbClr val="0B2545">
                <a:alpha val="10000"/>
              </a:srgbClr>
            </a:outerShdw>
          </a:effectLst>
        </p:spPr>
      </p:sp>
      <p:sp>
        <p:nvSpPr>
          <p:cNvPr id="23" name="Text 21"/>
          <p:cNvSpPr/>
          <p:nvPr/>
        </p:nvSpPr>
        <p:spPr>
          <a:xfrm>
            <a:off x="4617720" y="3520440"/>
            <a:ext cx="2926080" cy="566928"/>
          </a:xfrm>
          <a:prstGeom prst="rect">
            <a:avLst/>
          </a:prstGeom>
          <a:noFill/>
          <a:ln/>
        </p:spPr>
        <p:txBody>
          <a:bodyPr wrap="square" lIns="38100" tIns="38100" rIns="38100" bIns="381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gympro.payment.queue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routing key: payment.notification</a:t>
            </a:r>
            <a:endParaRPr lang="en-US" sz="900" dirty="0"/>
          </a:p>
        </p:txBody>
      </p:sp>
      <p:sp>
        <p:nvSpPr>
          <p:cNvPr id="24" name="Shape 22"/>
          <p:cNvSpPr/>
          <p:nvPr/>
        </p:nvSpPr>
        <p:spPr>
          <a:xfrm>
            <a:off x="6080760" y="3017520"/>
            <a:ext cx="3200400" cy="502920"/>
          </a:xfrm>
          <a:prstGeom prst="line">
            <a:avLst/>
          </a:prstGeom>
          <a:noFill/>
          <a:ln w="15875">
            <a:solidFill>
              <a:srgbClr val="C9781F"/>
            </a:solidFill>
            <a:prstDash val="solid"/>
            <a:tailEnd type="triangle"/>
          </a:ln>
        </p:spPr>
      </p:sp>
      <p:sp>
        <p:nvSpPr>
          <p:cNvPr id="25" name="Shape 23"/>
          <p:cNvSpPr/>
          <p:nvPr/>
        </p:nvSpPr>
        <p:spPr>
          <a:xfrm>
            <a:off x="7818120" y="3520440"/>
            <a:ext cx="2926080" cy="566928"/>
          </a:xfrm>
          <a:prstGeom prst="roundRect">
            <a:avLst>
              <a:gd name="adj" fmla="val 9677"/>
            </a:avLst>
          </a:prstGeom>
          <a:solidFill>
            <a:srgbClr val="FFF7E8"/>
          </a:solidFill>
          <a:ln w="15875">
            <a:solidFill>
              <a:srgbClr val="C9781F"/>
            </a:solidFill>
            <a:prstDash val="solid"/>
          </a:ln>
          <a:effectLst>
            <a:outerShdw sx="100000" sy="100000" kx="0" ky="0" algn="bl" rotWithShape="0" blurRad="76200" dist="12700" dir="5400000">
              <a:srgbClr val="0B2545">
                <a:alpha val="10000"/>
              </a:srgbClr>
            </a:outerShdw>
          </a:effectLst>
        </p:spPr>
      </p:sp>
      <p:sp>
        <p:nvSpPr>
          <p:cNvPr id="26" name="Text 24"/>
          <p:cNvSpPr/>
          <p:nvPr/>
        </p:nvSpPr>
        <p:spPr>
          <a:xfrm>
            <a:off x="7818120" y="3520440"/>
            <a:ext cx="2926080" cy="566928"/>
          </a:xfrm>
          <a:prstGeom prst="rect">
            <a:avLst/>
          </a:prstGeom>
          <a:noFill/>
          <a:ln/>
        </p:spPr>
        <p:txBody>
          <a:bodyPr wrap="square" lIns="38100" tIns="38100" rIns="38100" bIns="381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gympro.otp.queue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routing key: auth.otp</a:t>
            </a:r>
            <a:endParaRPr lang="en-US" sz="900" dirty="0"/>
          </a:p>
        </p:txBody>
      </p:sp>
      <p:sp>
        <p:nvSpPr>
          <p:cNvPr id="27" name="Shape 25"/>
          <p:cNvSpPr/>
          <p:nvPr/>
        </p:nvSpPr>
        <p:spPr>
          <a:xfrm>
            <a:off x="2880360" y="4087368"/>
            <a:ext cx="3200400" cy="548640"/>
          </a:xfrm>
          <a:prstGeom prst="line">
            <a:avLst/>
          </a:prstGeom>
          <a:noFill/>
          <a:ln w="15875">
            <a:solidFill>
              <a:srgbClr val="3E7CC9"/>
            </a:solidFill>
            <a:prstDash val="solid"/>
            <a:tailEnd type="triangle"/>
          </a:ln>
        </p:spPr>
      </p:sp>
      <p:sp>
        <p:nvSpPr>
          <p:cNvPr id="28" name="Shape 26"/>
          <p:cNvSpPr/>
          <p:nvPr/>
        </p:nvSpPr>
        <p:spPr>
          <a:xfrm>
            <a:off x="6080760" y="4087368"/>
            <a:ext cx="0" cy="548640"/>
          </a:xfrm>
          <a:prstGeom prst="line">
            <a:avLst/>
          </a:prstGeom>
          <a:noFill/>
          <a:ln w="15875">
            <a:solidFill>
              <a:srgbClr val="3E7CC9"/>
            </a:solidFill>
            <a:prstDash val="solid"/>
            <a:tailEnd type="triangle"/>
          </a:ln>
        </p:spPr>
      </p:sp>
      <p:sp>
        <p:nvSpPr>
          <p:cNvPr id="29" name="Shape 27"/>
          <p:cNvSpPr/>
          <p:nvPr/>
        </p:nvSpPr>
        <p:spPr>
          <a:xfrm>
            <a:off x="9281160" y="4087368"/>
            <a:ext cx="-3200400" cy="548640"/>
          </a:xfrm>
          <a:prstGeom prst="line">
            <a:avLst/>
          </a:prstGeom>
          <a:noFill/>
          <a:ln w="15875">
            <a:solidFill>
              <a:srgbClr val="3E7CC9"/>
            </a:solidFill>
            <a:prstDash val="solid"/>
            <a:tailEnd type="triangle"/>
          </a:ln>
        </p:spPr>
      </p:sp>
      <p:sp>
        <p:nvSpPr>
          <p:cNvPr id="30" name="Shape 28"/>
          <p:cNvSpPr/>
          <p:nvPr/>
        </p:nvSpPr>
        <p:spPr>
          <a:xfrm>
            <a:off x="4480560" y="4663440"/>
            <a:ext cx="3200400" cy="502920"/>
          </a:xfrm>
          <a:prstGeom prst="roundRect">
            <a:avLst>
              <a:gd name="adj" fmla="val 10909"/>
            </a:avLst>
          </a:prstGeom>
          <a:solidFill>
            <a:srgbClr val="1B4F91"/>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31" name="Text 29"/>
          <p:cNvSpPr/>
          <p:nvPr/>
        </p:nvSpPr>
        <p:spPr>
          <a:xfrm>
            <a:off x="4480560" y="4663440"/>
            <a:ext cx="3200400" cy="50292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NotificationConsumer  (@RabbitListener)</a:t>
            </a:r>
            <a:endParaRPr lang="en-US" sz="1100" dirty="0"/>
          </a:p>
        </p:txBody>
      </p:sp>
      <p:sp>
        <p:nvSpPr>
          <p:cNvPr id="32" name="Shape 30"/>
          <p:cNvSpPr/>
          <p:nvPr/>
        </p:nvSpPr>
        <p:spPr>
          <a:xfrm>
            <a:off x="5212080" y="5166360"/>
            <a:ext cx="0" cy="292608"/>
          </a:xfrm>
          <a:prstGeom prst="line">
            <a:avLst/>
          </a:prstGeom>
          <a:noFill/>
          <a:ln w="22225">
            <a:solidFill>
              <a:srgbClr val="3E7CC9"/>
            </a:solidFill>
            <a:prstDash val="solid"/>
            <a:tailEnd type="triangle"/>
          </a:ln>
        </p:spPr>
      </p:sp>
      <p:sp>
        <p:nvSpPr>
          <p:cNvPr id="33" name="Shape 31"/>
          <p:cNvSpPr/>
          <p:nvPr/>
        </p:nvSpPr>
        <p:spPr>
          <a:xfrm>
            <a:off x="3017520" y="5486400"/>
            <a:ext cx="2651760" cy="457200"/>
          </a:xfrm>
          <a:prstGeom prst="roundRect">
            <a:avLst>
              <a:gd name="adj" fmla="val 12000"/>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34" name="Text 32"/>
          <p:cNvSpPr/>
          <p:nvPr/>
        </p:nvSpPr>
        <p:spPr>
          <a:xfrm>
            <a:off x="3017520" y="5486400"/>
            <a:ext cx="2651760" cy="457200"/>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EmailService → Gmail SMTP</a:t>
            </a:r>
            <a:endParaRPr lang="en-US" sz="950" dirty="0"/>
          </a:p>
        </p:txBody>
      </p:sp>
      <p:sp>
        <p:nvSpPr>
          <p:cNvPr id="35" name="Shape 33"/>
          <p:cNvSpPr/>
          <p:nvPr/>
        </p:nvSpPr>
        <p:spPr>
          <a:xfrm>
            <a:off x="5669280" y="5715000"/>
            <a:ext cx="1005840" cy="0"/>
          </a:xfrm>
          <a:prstGeom prst="line">
            <a:avLst/>
          </a:prstGeom>
          <a:noFill/>
          <a:ln w="22225">
            <a:solidFill>
              <a:srgbClr val="3E7CC9"/>
            </a:solidFill>
            <a:prstDash val="solid"/>
            <a:tailEnd type="triangle"/>
          </a:ln>
        </p:spPr>
      </p:sp>
      <p:sp>
        <p:nvSpPr>
          <p:cNvPr id="36" name="Shape 34"/>
          <p:cNvSpPr/>
          <p:nvPr/>
        </p:nvSpPr>
        <p:spPr>
          <a:xfrm>
            <a:off x="6675120" y="5486400"/>
            <a:ext cx="2834640" cy="457200"/>
          </a:xfrm>
          <a:prstGeom prst="roundRect">
            <a:avLst>
              <a:gd name="adj" fmla="val 12000"/>
            </a:avLst>
          </a:prstGeom>
          <a:solidFill>
            <a:srgbClr val="FFFFF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37" name="Text 35"/>
          <p:cNvSpPr/>
          <p:nvPr/>
        </p:nvSpPr>
        <p:spPr>
          <a:xfrm>
            <a:off x="6675120" y="5486400"/>
            <a:ext cx="2834640" cy="457200"/>
          </a:xfrm>
          <a:prstGeom prst="rect">
            <a:avLst/>
          </a:prstGeom>
          <a:noFill/>
          <a:ln/>
        </p:spPr>
        <p:txBody>
          <a:bodyPr wrap="square" lIns="38100" tIns="38100" rIns="38100" bIns="3810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InAppNotificationService → DB + SSE push</a:t>
            </a:r>
            <a:endParaRPr lang="en-US" sz="900" dirty="0"/>
          </a:p>
        </p:txBody>
      </p:sp>
      <p:sp>
        <p:nvSpPr>
          <p:cNvPr id="38" name="Shape 36"/>
          <p:cNvSpPr/>
          <p:nvPr/>
        </p:nvSpPr>
        <p:spPr>
          <a:xfrm>
            <a:off x="8229600" y="1325880"/>
            <a:ext cx="3429000" cy="1920240"/>
          </a:xfrm>
          <a:prstGeom prst="roundRect">
            <a:avLst>
              <a:gd name="adj" fmla="val 3333"/>
            </a:avLst>
          </a:prstGeom>
          <a:solidFill>
            <a:srgbClr val="0B2545"/>
          </a:solidFill>
          <a:ln/>
          <a:effectLst>
            <a:outerShdw sx="100000" sy="100000" kx="0" ky="0" algn="bl" rotWithShape="0" blurRad="101600" dist="25400" dir="5400000">
              <a:srgbClr val="0B2545">
                <a:alpha val="10000"/>
              </a:srgbClr>
            </a:outerShdw>
          </a:effectLst>
        </p:spPr>
      </p:sp>
      <p:sp>
        <p:nvSpPr>
          <p:cNvPr id="39" name="Text 37"/>
          <p:cNvSpPr/>
          <p:nvPr/>
        </p:nvSpPr>
        <p:spPr>
          <a:xfrm>
            <a:off x="8458200" y="1463040"/>
            <a:ext cx="3017520" cy="274320"/>
          </a:xfrm>
          <a:prstGeom prst="rect">
            <a:avLst/>
          </a:prstGeom>
          <a:noFill/>
          <a:ln/>
        </p:spPr>
        <p:txBody>
          <a:bodyPr wrap="square" lIns="0" tIns="0" rIns="0" bIns="0" rtlCol="0" anchor="ctr"/>
          <a:lstStyle/>
          <a:p>
            <a:pPr indent="0" marL="0">
              <a:buNone/>
            </a:pPr>
            <a:r>
              <a:rPr lang="en-US" sz="1050" b="1" spc="100" kern="0" dirty="0">
                <a:solidFill>
                  <a:srgbClr val="00A9E0"/>
                </a:solidFill>
                <a:latin typeface="Calibri" pitchFamily="34" charset="0"/>
                <a:ea typeface="Calibri" pitchFamily="34" charset="-122"/>
                <a:cs typeface="Calibri" pitchFamily="34" charset="-120"/>
              </a:rPr>
              <a:t>RELIABILITY: DLQ + RETRY</a:t>
            </a:r>
            <a:endParaRPr lang="en-US" sz="1050" dirty="0"/>
          </a:p>
        </p:txBody>
      </p:sp>
      <p:sp>
        <p:nvSpPr>
          <p:cNvPr id="40" name="Text 38"/>
          <p:cNvSpPr/>
          <p:nvPr/>
        </p:nvSpPr>
        <p:spPr>
          <a:xfrm>
            <a:off x="8458200" y="1783080"/>
            <a:ext cx="3017520" cy="137160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3 retry attempts, 2s initial backoff (×2 multiplier, capped at 10s). On final failure, RejectAndDontRequeueRecoverer routes the message to gympro.dlx.exchange → *.dlq — nothing is silently lost.</a:t>
            </a:r>
            <a:endParaRPr lang="en-US" sz="950" dirty="0"/>
          </a:p>
        </p:txBody>
      </p:sp>
      <p:sp>
        <p:nvSpPr>
          <p:cNvPr id="41" name="Text 39"/>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42" name="Text 40"/>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Notification Flow</a:t>
            </a:r>
            <a:endParaRPr lang="en-US" sz="900" dirty="0"/>
          </a:p>
        </p:txBody>
      </p:sp>
      <p:sp>
        <p:nvSpPr>
          <p:cNvPr id="43" name="Text 41"/>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CORE BUSINESS FLOW</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Chatbot Flow — GymBot Powered by Gemini</a:t>
            </a:r>
            <a:endParaRPr lang="en-US" sz="2800" dirty="0"/>
          </a:p>
        </p:txBody>
      </p:sp>
      <p:sp>
        <p:nvSpPr>
          <p:cNvPr id="4" name="Shape 2"/>
          <p:cNvSpPr/>
          <p:nvPr/>
        </p:nvSpPr>
        <p:spPr>
          <a:xfrm>
            <a:off x="502920" y="1371600"/>
            <a:ext cx="3639312" cy="1600200"/>
          </a:xfrm>
          <a:prstGeom prst="roundRect">
            <a:avLst>
              <a:gd name="adj" fmla="val 4000"/>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5" name="Shape 3"/>
          <p:cNvSpPr/>
          <p:nvPr/>
        </p:nvSpPr>
        <p:spPr>
          <a:xfrm>
            <a:off x="704088" y="1554480"/>
            <a:ext cx="475488" cy="475488"/>
          </a:xfrm>
          <a:prstGeom prst="ellipse">
            <a:avLst/>
          </a:prstGeom>
          <a:solidFill>
            <a:srgbClr val="EAF2FB"/>
          </a:solidFill>
          <a:ln/>
        </p:spPr>
      </p:sp>
      <p:pic>
        <p:nvPicPr>
          <p:cNvPr id="6" name="Image 0" descr="preencoded.png">    </p:cNvPr>
          <p:cNvPicPr>
            <a:picLocks noChangeAspect="1"/>
          </p:cNvPicPr>
          <p:nvPr/>
        </p:nvPicPr>
        <p:blipFill>
          <a:blip r:embed="rId1"/>
          <a:stretch>
            <a:fillRect/>
          </a:stretch>
        </p:blipFill>
        <p:spPr>
          <a:xfrm>
            <a:off x="827715" y="1678107"/>
            <a:ext cx="228234" cy="228234"/>
          </a:xfrm>
          <a:prstGeom prst="rect">
            <a:avLst/>
          </a:prstGeom>
        </p:spPr>
      </p:pic>
      <p:sp>
        <p:nvSpPr>
          <p:cNvPr id="7" name="Text 4"/>
          <p:cNvSpPr/>
          <p:nvPr/>
        </p:nvSpPr>
        <p:spPr>
          <a:xfrm>
            <a:off x="1298448" y="1600200"/>
            <a:ext cx="2633472"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1.  Client</a:t>
            </a:r>
            <a:endParaRPr lang="en-US" sz="1250" dirty="0"/>
          </a:p>
        </p:txBody>
      </p:sp>
      <p:sp>
        <p:nvSpPr>
          <p:cNvPr id="8" name="Text 5"/>
          <p:cNvSpPr/>
          <p:nvPr/>
        </p:nvSpPr>
        <p:spPr>
          <a:xfrm>
            <a:off x="758952" y="2148840"/>
            <a:ext cx="313639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POST /chatbot/chat</a:t>
            </a:r>
            <a:endParaRPr lang="en-US" sz="1000" dirty="0"/>
          </a:p>
          <a:p>
            <a:pPr indent="0" marL="0">
              <a:buNone/>
            </a:pPr>
            <a:r>
              <a:rPr lang="en-US" sz="1000" dirty="0">
                <a:solidFill>
                  <a:srgbClr val="5B6B85"/>
                </a:solidFill>
                <a:latin typeface="Calibri" pitchFamily="34" charset="0"/>
                <a:ea typeface="Calibri" pitchFamily="34" charset="-122"/>
                <a:cs typeface="Calibri" pitchFamily="34" charset="-120"/>
              </a:rPr>
              <a:t>{ message, conversationId }</a:t>
            </a:r>
            <a:endParaRPr lang="en-US" sz="1000" dirty="0"/>
          </a:p>
        </p:txBody>
      </p:sp>
      <p:sp>
        <p:nvSpPr>
          <p:cNvPr id="9" name="Shape 6"/>
          <p:cNvSpPr/>
          <p:nvPr/>
        </p:nvSpPr>
        <p:spPr>
          <a:xfrm>
            <a:off x="4160520" y="2171700"/>
            <a:ext cx="219456" cy="0"/>
          </a:xfrm>
          <a:prstGeom prst="line">
            <a:avLst/>
          </a:prstGeom>
          <a:noFill/>
          <a:ln w="22225">
            <a:solidFill>
              <a:srgbClr val="3E7CC9"/>
            </a:solidFill>
            <a:prstDash val="solid"/>
            <a:tailEnd type="triangle"/>
          </a:ln>
        </p:spPr>
      </p:sp>
      <p:sp>
        <p:nvSpPr>
          <p:cNvPr id="10" name="Shape 7"/>
          <p:cNvSpPr/>
          <p:nvPr/>
        </p:nvSpPr>
        <p:spPr>
          <a:xfrm>
            <a:off x="4398264" y="1371600"/>
            <a:ext cx="3639312" cy="1600200"/>
          </a:xfrm>
          <a:prstGeom prst="roundRect">
            <a:avLst>
              <a:gd name="adj" fmla="val 4000"/>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11" name="Shape 8"/>
          <p:cNvSpPr/>
          <p:nvPr/>
        </p:nvSpPr>
        <p:spPr>
          <a:xfrm>
            <a:off x="4599432" y="1554480"/>
            <a:ext cx="475488" cy="475488"/>
          </a:xfrm>
          <a:prstGeom prst="ellipse">
            <a:avLst/>
          </a:prstGeom>
          <a:solidFill>
            <a:srgbClr val="EAF2FB"/>
          </a:solidFill>
          <a:ln/>
        </p:spPr>
      </p:sp>
      <p:pic>
        <p:nvPicPr>
          <p:cNvPr id="12" name="Image 1" descr="preencoded.png">    </p:cNvPr>
          <p:cNvPicPr>
            <a:picLocks noChangeAspect="1"/>
          </p:cNvPicPr>
          <p:nvPr/>
        </p:nvPicPr>
        <p:blipFill>
          <a:blip r:embed="rId2"/>
          <a:stretch>
            <a:fillRect/>
          </a:stretch>
        </p:blipFill>
        <p:spPr>
          <a:xfrm>
            <a:off x="4723059" y="1678107"/>
            <a:ext cx="228234" cy="228234"/>
          </a:xfrm>
          <a:prstGeom prst="rect">
            <a:avLst/>
          </a:prstGeom>
        </p:spPr>
      </p:pic>
      <p:sp>
        <p:nvSpPr>
          <p:cNvPr id="13" name="Text 9"/>
          <p:cNvSpPr/>
          <p:nvPr/>
        </p:nvSpPr>
        <p:spPr>
          <a:xfrm>
            <a:off x="5193792" y="1600200"/>
            <a:ext cx="2633472"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2.  Gateway</a:t>
            </a:r>
            <a:endParaRPr lang="en-US" sz="1250" dirty="0"/>
          </a:p>
        </p:txBody>
      </p:sp>
      <p:sp>
        <p:nvSpPr>
          <p:cNvPr id="14" name="Text 10"/>
          <p:cNvSpPr/>
          <p:nvPr/>
        </p:nvSpPr>
        <p:spPr>
          <a:xfrm>
            <a:off x="4654296" y="2148840"/>
            <a:ext cx="313639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/chatbot/** is a PUBLIC_URL —</a:t>
            </a:r>
            <a:endParaRPr lang="en-US" sz="1000" dirty="0"/>
          </a:p>
          <a:p>
            <a:pPr indent="0" marL="0">
              <a:buNone/>
            </a:pPr>
            <a:r>
              <a:rPr lang="en-US" sz="1000" dirty="0">
                <a:solidFill>
                  <a:srgbClr val="5B6B85"/>
                </a:solidFill>
                <a:latin typeface="Calibri" pitchFamily="34" charset="0"/>
                <a:ea typeface="Calibri" pitchFamily="34" charset="-122"/>
                <a:cs typeface="Calibri" pitchFamily="34" charset="-120"/>
              </a:rPr>
              <a:t>no JWT required (open assistant)</a:t>
            </a:r>
            <a:endParaRPr lang="en-US" sz="1000" dirty="0"/>
          </a:p>
        </p:txBody>
      </p:sp>
      <p:sp>
        <p:nvSpPr>
          <p:cNvPr id="15" name="Shape 11"/>
          <p:cNvSpPr/>
          <p:nvPr/>
        </p:nvSpPr>
        <p:spPr>
          <a:xfrm>
            <a:off x="8055864" y="2171700"/>
            <a:ext cx="219456" cy="0"/>
          </a:xfrm>
          <a:prstGeom prst="line">
            <a:avLst/>
          </a:prstGeom>
          <a:noFill/>
          <a:ln w="22225">
            <a:solidFill>
              <a:srgbClr val="3E7CC9"/>
            </a:solidFill>
            <a:prstDash val="solid"/>
            <a:tailEnd type="triangle"/>
          </a:ln>
        </p:spPr>
      </p:sp>
      <p:sp>
        <p:nvSpPr>
          <p:cNvPr id="16" name="Shape 12"/>
          <p:cNvSpPr/>
          <p:nvPr/>
        </p:nvSpPr>
        <p:spPr>
          <a:xfrm>
            <a:off x="8293608" y="1371600"/>
            <a:ext cx="3639312" cy="1600200"/>
          </a:xfrm>
          <a:prstGeom prst="roundRect">
            <a:avLst>
              <a:gd name="adj" fmla="val 4000"/>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17" name="Shape 13"/>
          <p:cNvSpPr/>
          <p:nvPr/>
        </p:nvSpPr>
        <p:spPr>
          <a:xfrm>
            <a:off x="8494776" y="1554480"/>
            <a:ext cx="475488" cy="475488"/>
          </a:xfrm>
          <a:prstGeom prst="ellipse">
            <a:avLst/>
          </a:prstGeom>
          <a:solidFill>
            <a:srgbClr val="EAF2FB"/>
          </a:solidFill>
          <a:ln/>
        </p:spPr>
      </p:sp>
      <p:pic>
        <p:nvPicPr>
          <p:cNvPr id="18" name="Image 2" descr="preencoded.png">    </p:cNvPr>
          <p:cNvPicPr>
            <a:picLocks noChangeAspect="1"/>
          </p:cNvPicPr>
          <p:nvPr/>
        </p:nvPicPr>
        <p:blipFill>
          <a:blip r:embed="rId3"/>
          <a:stretch>
            <a:fillRect/>
          </a:stretch>
        </p:blipFill>
        <p:spPr>
          <a:xfrm>
            <a:off x="8618403" y="1678107"/>
            <a:ext cx="228234" cy="228234"/>
          </a:xfrm>
          <a:prstGeom prst="rect">
            <a:avLst/>
          </a:prstGeom>
        </p:spPr>
      </p:pic>
      <p:sp>
        <p:nvSpPr>
          <p:cNvPr id="19" name="Text 14"/>
          <p:cNvSpPr/>
          <p:nvPr/>
        </p:nvSpPr>
        <p:spPr>
          <a:xfrm>
            <a:off x="9089136" y="1600200"/>
            <a:ext cx="2633472"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3.  ChatbotController</a:t>
            </a:r>
            <a:endParaRPr lang="en-US" sz="1250" dirty="0"/>
          </a:p>
        </p:txBody>
      </p:sp>
      <p:sp>
        <p:nvSpPr>
          <p:cNvPr id="20" name="Text 15"/>
          <p:cNvSpPr/>
          <p:nvPr/>
        </p:nvSpPr>
        <p:spPr>
          <a:xfrm>
            <a:off x="8549640" y="2148840"/>
            <a:ext cx="313639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Validates request; delegates to</a:t>
            </a:r>
            <a:endParaRPr lang="en-US" sz="1000" dirty="0"/>
          </a:p>
          <a:p>
            <a:pPr indent="0" marL="0">
              <a:buNone/>
            </a:pPr>
            <a:r>
              <a:rPr lang="en-US" sz="1000" dirty="0">
                <a:solidFill>
                  <a:srgbClr val="5B6B85"/>
                </a:solidFill>
                <a:latin typeface="Calibri" pitchFamily="34" charset="0"/>
                <a:ea typeface="Calibri" pitchFamily="34" charset="-122"/>
                <a:cs typeface="Calibri" pitchFamily="34" charset="-120"/>
              </a:rPr>
              <a:t>ChatbotService</a:t>
            </a:r>
            <a:endParaRPr lang="en-US" sz="1000" dirty="0"/>
          </a:p>
        </p:txBody>
      </p:sp>
      <p:sp>
        <p:nvSpPr>
          <p:cNvPr id="21" name="Shape 16"/>
          <p:cNvSpPr/>
          <p:nvPr/>
        </p:nvSpPr>
        <p:spPr>
          <a:xfrm>
            <a:off x="502920" y="3227832"/>
            <a:ext cx="3639312" cy="1600200"/>
          </a:xfrm>
          <a:prstGeom prst="roundRect">
            <a:avLst>
              <a:gd name="adj" fmla="val 4000"/>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22" name="Shape 17"/>
          <p:cNvSpPr/>
          <p:nvPr/>
        </p:nvSpPr>
        <p:spPr>
          <a:xfrm>
            <a:off x="704088" y="3410712"/>
            <a:ext cx="475488" cy="475488"/>
          </a:xfrm>
          <a:prstGeom prst="ellipse">
            <a:avLst/>
          </a:prstGeom>
          <a:solidFill>
            <a:srgbClr val="EAF2FB"/>
          </a:solidFill>
          <a:ln/>
        </p:spPr>
      </p:sp>
      <p:pic>
        <p:nvPicPr>
          <p:cNvPr id="23" name="Image 3" descr="preencoded.png">    </p:cNvPr>
          <p:cNvPicPr>
            <a:picLocks noChangeAspect="1"/>
          </p:cNvPicPr>
          <p:nvPr/>
        </p:nvPicPr>
        <p:blipFill>
          <a:blip r:embed="rId4"/>
          <a:stretch>
            <a:fillRect/>
          </a:stretch>
        </p:blipFill>
        <p:spPr>
          <a:xfrm>
            <a:off x="827715" y="3534339"/>
            <a:ext cx="228234" cy="228234"/>
          </a:xfrm>
          <a:prstGeom prst="rect">
            <a:avLst/>
          </a:prstGeom>
        </p:spPr>
      </p:pic>
      <p:sp>
        <p:nvSpPr>
          <p:cNvPr id="24" name="Text 18"/>
          <p:cNvSpPr/>
          <p:nvPr/>
        </p:nvSpPr>
        <p:spPr>
          <a:xfrm>
            <a:off x="1298448" y="3456432"/>
            <a:ext cx="2633472"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4.  ChatbotService</a:t>
            </a:r>
            <a:endParaRPr lang="en-US" sz="1250" dirty="0"/>
          </a:p>
        </p:txBody>
      </p:sp>
      <p:sp>
        <p:nvSpPr>
          <p:cNvPr id="25" name="Text 19"/>
          <p:cNvSpPr/>
          <p:nvPr/>
        </p:nvSpPr>
        <p:spPr>
          <a:xfrm>
            <a:off x="758952" y="4005072"/>
            <a:ext cx="313639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Loads/creates per-conversation</a:t>
            </a:r>
            <a:endParaRPr lang="en-US" sz="1000" dirty="0"/>
          </a:p>
          <a:p>
            <a:pPr indent="0" marL="0">
              <a:buNone/>
            </a:pPr>
            <a:r>
              <a:rPr lang="en-US" sz="1000" dirty="0">
                <a:solidFill>
                  <a:srgbClr val="5B6B85"/>
                </a:solidFill>
                <a:latin typeface="Calibri" pitchFamily="34" charset="0"/>
                <a:ea typeface="Calibri" pitchFamily="34" charset="-122"/>
                <a:cs typeface="Calibri" pitchFamily="34" charset="-120"/>
              </a:rPr>
              <a:t>history in a ConcurrentHashMap</a:t>
            </a:r>
            <a:endParaRPr lang="en-US" sz="1000" dirty="0"/>
          </a:p>
        </p:txBody>
      </p:sp>
      <p:sp>
        <p:nvSpPr>
          <p:cNvPr id="26" name="Shape 20"/>
          <p:cNvSpPr/>
          <p:nvPr/>
        </p:nvSpPr>
        <p:spPr>
          <a:xfrm>
            <a:off x="4160520" y="4027932"/>
            <a:ext cx="219456" cy="0"/>
          </a:xfrm>
          <a:prstGeom prst="line">
            <a:avLst/>
          </a:prstGeom>
          <a:noFill/>
          <a:ln w="22225">
            <a:solidFill>
              <a:srgbClr val="3E7CC9"/>
            </a:solidFill>
            <a:prstDash val="solid"/>
            <a:tailEnd type="triangle"/>
          </a:ln>
        </p:spPr>
      </p:sp>
      <p:sp>
        <p:nvSpPr>
          <p:cNvPr id="27" name="Shape 21"/>
          <p:cNvSpPr/>
          <p:nvPr/>
        </p:nvSpPr>
        <p:spPr>
          <a:xfrm>
            <a:off x="4398264" y="3227832"/>
            <a:ext cx="3639312" cy="1600200"/>
          </a:xfrm>
          <a:prstGeom prst="roundRect">
            <a:avLst>
              <a:gd name="adj" fmla="val 4000"/>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28" name="Shape 22"/>
          <p:cNvSpPr/>
          <p:nvPr/>
        </p:nvSpPr>
        <p:spPr>
          <a:xfrm>
            <a:off x="4599432" y="3410712"/>
            <a:ext cx="475488" cy="475488"/>
          </a:xfrm>
          <a:prstGeom prst="ellipse">
            <a:avLst/>
          </a:prstGeom>
          <a:solidFill>
            <a:srgbClr val="EAF2FB"/>
          </a:solidFill>
          <a:ln/>
        </p:spPr>
      </p:sp>
      <p:pic>
        <p:nvPicPr>
          <p:cNvPr id="29" name="Image 4" descr="preencoded.png">    </p:cNvPr>
          <p:cNvPicPr>
            <a:picLocks noChangeAspect="1"/>
          </p:cNvPicPr>
          <p:nvPr/>
        </p:nvPicPr>
        <p:blipFill>
          <a:blip r:embed="rId5"/>
          <a:stretch>
            <a:fillRect/>
          </a:stretch>
        </p:blipFill>
        <p:spPr>
          <a:xfrm>
            <a:off x="4723059" y="3534339"/>
            <a:ext cx="228234" cy="228234"/>
          </a:xfrm>
          <a:prstGeom prst="rect">
            <a:avLst/>
          </a:prstGeom>
        </p:spPr>
      </p:pic>
      <p:sp>
        <p:nvSpPr>
          <p:cNvPr id="30" name="Text 23"/>
          <p:cNvSpPr/>
          <p:nvPr/>
        </p:nvSpPr>
        <p:spPr>
          <a:xfrm>
            <a:off x="5193792" y="3456432"/>
            <a:ext cx="2633472"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5.  Gemini API call</a:t>
            </a:r>
            <a:endParaRPr lang="en-US" sz="1250" dirty="0"/>
          </a:p>
        </p:txBody>
      </p:sp>
      <p:sp>
        <p:nvSpPr>
          <p:cNvPr id="31" name="Text 24"/>
          <p:cNvSpPr/>
          <p:nvPr/>
        </p:nvSpPr>
        <p:spPr>
          <a:xfrm>
            <a:off x="4654296" y="4005072"/>
            <a:ext cx="313639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geminiRestTemplate → POST</a:t>
            </a:r>
            <a:endParaRPr lang="en-US" sz="1000" dirty="0"/>
          </a:p>
          <a:p>
            <a:pPr indent="0" marL="0">
              <a:buNone/>
            </a:pPr>
            <a:r>
              <a:rPr lang="en-US" sz="1000" dirty="0">
                <a:solidFill>
                  <a:srgbClr val="5B6B85"/>
                </a:solidFill>
                <a:latin typeface="Calibri" pitchFamily="34" charset="0"/>
                <a:ea typeface="Calibri" pitchFamily="34" charset="-122"/>
                <a:cs typeface="Calibri" pitchFamily="34" charset="-120"/>
              </a:rPr>
              <a:t>generateContent?key=...</a:t>
            </a:r>
            <a:endParaRPr lang="en-US" sz="1000" dirty="0"/>
          </a:p>
        </p:txBody>
      </p:sp>
      <p:sp>
        <p:nvSpPr>
          <p:cNvPr id="32" name="Shape 25"/>
          <p:cNvSpPr/>
          <p:nvPr/>
        </p:nvSpPr>
        <p:spPr>
          <a:xfrm>
            <a:off x="8055864" y="4027932"/>
            <a:ext cx="219456" cy="0"/>
          </a:xfrm>
          <a:prstGeom prst="line">
            <a:avLst/>
          </a:prstGeom>
          <a:noFill/>
          <a:ln w="22225">
            <a:solidFill>
              <a:srgbClr val="3E7CC9"/>
            </a:solidFill>
            <a:prstDash val="solid"/>
            <a:tailEnd type="triangle"/>
          </a:ln>
        </p:spPr>
      </p:sp>
      <p:sp>
        <p:nvSpPr>
          <p:cNvPr id="33" name="Shape 26"/>
          <p:cNvSpPr/>
          <p:nvPr/>
        </p:nvSpPr>
        <p:spPr>
          <a:xfrm>
            <a:off x="8293608" y="3227832"/>
            <a:ext cx="3639312" cy="1600200"/>
          </a:xfrm>
          <a:prstGeom prst="roundRect">
            <a:avLst>
              <a:gd name="adj" fmla="val 4000"/>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34" name="Shape 27"/>
          <p:cNvSpPr/>
          <p:nvPr/>
        </p:nvSpPr>
        <p:spPr>
          <a:xfrm>
            <a:off x="8494776" y="3410712"/>
            <a:ext cx="475488" cy="475488"/>
          </a:xfrm>
          <a:prstGeom prst="ellipse">
            <a:avLst/>
          </a:prstGeom>
          <a:solidFill>
            <a:srgbClr val="EAF2FB"/>
          </a:solidFill>
          <a:ln/>
        </p:spPr>
      </p:sp>
      <p:pic>
        <p:nvPicPr>
          <p:cNvPr id="35" name="Image 5" descr="preencoded.png">    </p:cNvPr>
          <p:cNvPicPr>
            <a:picLocks noChangeAspect="1"/>
          </p:cNvPicPr>
          <p:nvPr/>
        </p:nvPicPr>
        <p:blipFill>
          <a:blip r:embed="rId6"/>
          <a:stretch>
            <a:fillRect/>
          </a:stretch>
        </p:blipFill>
        <p:spPr>
          <a:xfrm>
            <a:off x="8618403" y="3534339"/>
            <a:ext cx="228234" cy="228234"/>
          </a:xfrm>
          <a:prstGeom prst="rect">
            <a:avLst/>
          </a:prstGeom>
        </p:spPr>
      </p:pic>
      <p:sp>
        <p:nvSpPr>
          <p:cNvPr id="36" name="Text 28"/>
          <p:cNvSpPr/>
          <p:nvPr/>
        </p:nvSpPr>
        <p:spPr>
          <a:xfrm>
            <a:off x="9089136" y="3456432"/>
            <a:ext cx="2633472"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6.  Response</a:t>
            </a:r>
            <a:endParaRPr lang="en-US" sz="1250" dirty="0"/>
          </a:p>
        </p:txBody>
      </p:sp>
      <p:sp>
        <p:nvSpPr>
          <p:cNvPr id="37" name="Text 29"/>
          <p:cNvSpPr/>
          <p:nvPr/>
        </p:nvSpPr>
        <p:spPr>
          <a:xfrm>
            <a:off x="8549640" y="4005072"/>
            <a:ext cx="313639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Reply appended to history</a:t>
            </a:r>
            <a:endParaRPr lang="en-US" sz="1000" dirty="0"/>
          </a:p>
          <a:p>
            <a:pPr indent="0" marL="0">
              <a:buNone/>
            </a:pPr>
            <a:r>
              <a:rPr lang="en-US" sz="1000" dirty="0">
                <a:solidFill>
                  <a:srgbClr val="5B6B85"/>
                </a:solidFill>
                <a:latin typeface="Calibri" pitchFamily="34" charset="0"/>
                <a:ea typeface="Calibri" pitchFamily="34" charset="-122"/>
                <a:cs typeface="Calibri" pitchFamily="34" charset="-120"/>
              </a:rPr>
              <a:t>(trimmed to maxHistory=20)</a:t>
            </a:r>
            <a:endParaRPr lang="en-US" sz="1000" dirty="0"/>
          </a:p>
        </p:txBody>
      </p:sp>
      <p:sp>
        <p:nvSpPr>
          <p:cNvPr id="38" name="Shape 30"/>
          <p:cNvSpPr/>
          <p:nvPr/>
        </p:nvSpPr>
        <p:spPr>
          <a:xfrm>
            <a:off x="502920" y="5120640"/>
            <a:ext cx="11155680" cy="1143000"/>
          </a:xfrm>
          <a:prstGeom prst="roundRect">
            <a:avLst>
              <a:gd name="adj" fmla="val 5600"/>
            </a:avLst>
          </a:prstGeom>
          <a:solidFill>
            <a:srgbClr val="EAF2FB"/>
          </a:solidFill>
          <a:ln/>
        </p:spPr>
      </p:sp>
      <p:sp>
        <p:nvSpPr>
          <p:cNvPr id="39" name="Text 31"/>
          <p:cNvSpPr/>
          <p:nvPr/>
        </p:nvSpPr>
        <p:spPr>
          <a:xfrm>
            <a:off x="777240" y="5257800"/>
            <a:ext cx="10607040" cy="914400"/>
          </a:xfrm>
          <a:prstGeom prst="rect">
            <a:avLst/>
          </a:prstGeom>
          <a:noFill/>
          <a:ln/>
        </p:spPr>
        <p:txBody>
          <a:bodyPr wrap="square" lIns="0" tIns="0" rIns="0" bIns="0" rtlCol="0" anchor="ctr"/>
          <a:lstStyle/>
          <a:p>
            <a:pPr indent="0" marL="0">
              <a:buNone/>
            </a:pPr>
            <a:r>
              <a:rPr lang="en-US" sz="1030" b="1" dirty="0">
                <a:solidFill>
                  <a:srgbClr val="0B2545"/>
                </a:solidFill>
                <a:latin typeface="Calibri" pitchFamily="34" charset="0"/>
                <a:ea typeface="Calibri" pitchFamily="34" charset="-122"/>
                <a:cs typeface="Calibri" pitchFamily="34" charset="-120"/>
              </a:rPr>
              <a:t>System prompt engineering:  </a:t>
            </a:r>
            <a:pPr indent="0" marL="0">
              <a:buNone/>
            </a:pPr>
            <a:r>
              <a:rPr lang="en-US" sz="1030" dirty="0">
                <a:solidFill>
                  <a:srgbClr val="16233B"/>
                </a:solidFill>
                <a:latin typeface="Calibri" pitchFamily="34" charset="0"/>
                <a:ea typeface="Calibri" pitchFamily="34" charset="-122"/>
                <a:cs typeface="Calibri" pitchFamily="34" charset="-120"/>
              </a:rPr>
              <a:t>GYMPRO_SYSTEM_PROMPT is sent as Gemini's systemInstruction — a rich description of what Members, Trainers, and Admins can each do — so GymBot stays on-topic. Gemini uses "user"/"model" roles (not OpenAI's "assistant"); the service never throws — it always returns a graceful fallback response.</a:t>
            </a:r>
            <a:endParaRPr lang="en-US" sz="1030" dirty="0"/>
          </a:p>
        </p:txBody>
      </p:sp>
      <p:sp>
        <p:nvSpPr>
          <p:cNvPr id="40" name="Text 32"/>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41" name="Text 33"/>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Chatbot Flow</a:t>
            </a:r>
            <a:endParaRPr lang="en-US" sz="900" dirty="0"/>
          </a:p>
        </p:txBody>
      </p:sp>
      <p:sp>
        <p:nvSpPr>
          <p:cNvPr id="42" name="Text 34"/>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DATABASE DESIGN</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Database-Per-Service Pattern</a:t>
            </a:r>
            <a:endParaRPr lang="en-US" sz="2800" dirty="0"/>
          </a:p>
        </p:txBody>
      </p:sp>
      <p:sp>
        <p:nvSpPr>
          <p:cNvPr id="4" name="Shape 2"/>
          <p:cNvSpPr/>
          <p:nvPr/>
        </p:nvSpPr>
        <p:spPr>
          <a:xfrm>
            <a:off x="502920" y="1371600"/>
            <a:ext cx="2697480" cy="1417320"/>
          </a:xfrm>
          <a:prstGeom prst="roundRect">
            <a:avLst>
              <a:gd name="adj" fmla="val 4516"/>
            </a:avLst>
          </a:prstGeom>
          <a:solidFill>
            <a:srgbClr val="FFFFFF"/>
          </a:solidFill>
          <a:ln w="12700">
            <a:solidFill>
              <a:srgbClr val="D7E3F3"/>
            </a:solidFill>
            <a:prstDash val="solid"/>
          </a:ln>
        </p:spPr>
      </p:sp>
      <p:sp>
        <p:nvSpPr>
          <p:cNvPr id="5" name="Shape 3"/>
          <p:cNvSpPr/>
          <p:nvPr/>
        </p:nvSpPr>
        <p:spPr>
          <a:xfrm>
            <a:off x="667512" y="1517904"/>
            <a:ext cx="365760" cy="365760"/>
          </a:xfrm>
          <a:prstGeom prst="ellipse">
            <a:avLst/>
          </a:prstGeom>
          <a:solidFill>
            <a:srgbClr val="1B4F91"/>
          </a:solidFill>
          <a:ln/>
        </p:spPr>
      </p:sp>
      <p:sp>
        <p:nvSpPr>
          <p:cNvPr id="6" name="Text 4"/>
          <p:cNvSpPr/>
          <p:nvPr/>
        </p:nvSpPr>
        <p:spPr>
          <a:xfrm>
            <a:off x="667512" y="15179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p:nvPr/>
        </p:nvSpPr>
        <p:spPr>
          <a:xfrm>
            <a:off x="1124712" y="1499616"/>
            <a:ext cx="1920240" cy="32004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auth_db</a:t>
            </a:r>
            <a:endParaRPr lang="en-US" sz="1200" dirty="0"/>
          </a:p>
        </p:txBody>
      </p:sp>
      <p:sp>
        <p:nvSpPr>
          <p:cNvPr id="8" name="Text 6"/>
          <p:cNvSpPr/>
          <p:nvPr/>
        </p:nvSpPr>
        <p:spPr>
          <a:xfrm>
            <a:off x="685800" y="1938528"/>
            <a:ext cx="2331720" cy="7772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users, otp_entries</a:t>
            </a:r>
            <a:endParaRPr lang="en-US" sz="900" dirty="0"/>
          </a:p>
        </p:txBody>
      </p:sp>
      <p:sp>
        <p:nvSpPr>
          <p:cNvPr id="9" name="Shape 7"/>
          <p:cNvSpPr/>
          <p:nvPr/>
        </p:nvSpPr>
        <p:spPr>
          <a:xfrm>
            <a:off x="3383280" y="1371600"/>
            <a:ext cx="2697480" cy="1417320"/>
          </a:xfrm>
          <a:prstGeom prst="roundRect">
            <a:avLst>
              <a:gd name="adj" fmla="val 4516"/>
            </a:avLst>
          </a:prstGeom>
          <a:solidFill>
            <a:srgbClr val="FFFFFF"/>
          </a:solidFill>
          <a:ln w="12700">
            <a:solidFill>
              <a:srgbClr val="D7E3F3"/>
            </a:solidFill>
            <a:prstDash val="solid"/>
          </a:ln>
        </p:spPr>
      </p:sp>
      <p:sp>
        <p:nvSpPr>
          <p:cNvPr id="10" name="Shape 8"/>
          <p:cNvSpPr/>
          <p:nvPr/>
        </p:nvSpPr>
        <p:spPr>
          <a:xfrm>
            <a:off x="3547872" y="1517904"/>
            <a:ext cx="365760" cy="365760"/>
          </a:xfrm>
          <a:prstGeom prst="ellipse">
            <a:avLst/>
          </a:prstGeom>
          <a:solidFill>
            <a:srgbClr val="1B4F91"/>
          </a:solidFill>
          <a:ln/>
        </p:spPr>
      </p:sp>
      <p:sp>
        <p:nvSpPr>
          <p:cNvPr id="11" name="Text 9"/>
          <p:cNvSpPr/>
          <p:nvPr/>
        </p:nvSpPr>
        <p:spPr>
          <a:xfrm>
            <a:off x="3547872" y="15179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p:nvPr/>
        </p:nvSpPr>
        <p:spPr>
          <a:xfrm>
            <a:off x="4005072" y="1499616"/>
            <a:ext cx="1920240" cy="32004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member_db</a:t>
            </a:r>
            <a:endParaRPr lang="en-US" sz="1200" dirty="0"/>
          </a:p>
        </p:txBody>
      </p:sp>
      <p:sp>
        <p:nvSpPr>
          <p:cNvPr id="13" name="Text 11"/>
          <p:cNvSpPr/>
          <p:nvPr/>
        </p:nvSpPr>
        <p:spPr>
          <a:xfrm>
            <a:off x="3566160" y="1938528"/>
            <a:ext cx="2331720" cy="7772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members</a:t>
            </a:r>
            <a:endParaRPr lang="en-US" sz="900" dirty="0"/>
          </a:p>
        </p:txBody>
      </p:sp>
      <p:sp>
        <p:nvSpPr>
          <p:cNvPr id="14" name="Shape 12"/>
          <p:cNvSpPr/>
          <p:nvPr/>
        </p:nvSpPr>
        <p:spPr>
          <a:xfrm>
            <a:off x="6263640" y="1371600"/>
            <a:ext cx="2697480" cy="1417320"/>
          </a:xfrm>
          <a:prstGeom prst="roundRect">
            <a:avLst>
              <a:gd name="adj" fmla="val 4516"/>
            </a:avLst>
          </a:prstGeom>
          <a:solidFill>
            <a:srgbClr val="FFFFFF"/>
          </a:solidFill>
          <a:ln w="12700">
            <a:solidFill>
              <a:srgbClr val="D7E3F3"/>
            </a:solidFill>
            <a:prstDash val="solid"/>
          </a:ln>
        </p:spPr>
      </p:sp>
      <p:sp>
        <p:nvSpPr>
          <p:cNvPr id="15" name="Shape 13"/>
          <p:cNvSpPr/>
          <p:nvPr/>
        </p:nvSpPr>
        <p:spPr>
          <a:xfrm>
            <a:off x="6428232" y="1517904"/>
            <a:ext cx="365760" cy="365760"/>
          </a:xfrm>
          <a:prstGeom prst="ellipse">
            <a:avLst/>
          </a:prstGeom>
          <a:solidFill>
            <a:srgbClr val="1B4F91"/>
          </a:solidFill>
          <a:ln/>
        </p:spPr>
      </p:sp>
      <p:sp>
        <p:nvSpPr>
          <p:cNvPr id="16" name="Text 14"/>
          <p:cNvSpPr/>
          <p:nvPr/>
        </p:nvSpPr>
        <p:spPr>
          <a:xfrm>
            <a:off x="6428232" y="15179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p:nvPr/>
        </p:nvSpPr>
        <p:spPr>
          <a:xfrm>
            <a:off x="6885432" y="1499616"/>
            <a:ext cx="1920240" cy="32004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trainer_db</a:t>
            </a:r>
            <a:endParaRPr lang="en-US" sz="1200" dirty="0"/>
          </a:p>
        </p:txBody>
      </p:sp>
      <p:sp>
        <p:nvSpPr>
          <p:cNvPr id="18" name="Text 16"/>
          <p:cNvSpPr/>
          <p:nvPr/>
        </p:nvSpPr>
        <p:spPr>
          <a:xfrm>
            <a:off x="6446520" y="1938528"/>
            <a:ext cx="2331720" cy="7772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trainers, trainer_schedules</a:t>
            </a:r>
            <a:endParaRPr lang="en-US" sz="900" dirty="0"/>
          </a:p>
        </p:txBody>
      </p:sp>
      <p:sp>
        <p:nvSpPr>
          <p:cNvPr id="19" name="Shape 17"/>
          <p:cNvSpPr/>
          <p:nvPr/>
        </p:nvSpPr>
        <p:spPr>
          <a:xfrm>
            <a:off x="9144000" y="1371600"/>
            <a:ext cx="2697480" cy="1417320"/>
          </a:xfrm>
          <a:prstGeom prst="roundRect">
            <a:avLst>
              <a:gd name="adj" fmla="val 4516"/>
            </a:avLst>
          </a:prstGeom>
          <a:solidFill>
            <a:srgbClr val="FFFFFF"/>
          </a:solidFill>
          <a:ln w="12700">
            <a:solidFill>
              <a:srgbClr val="D7E3F3"/>
            </a:solidFill>
            <a:prstDash val="solid"/>
          </a:ln>
        </p:spPr>
      </p:sp>
      <p:sp>
        <p:nvSpPr>
          <p:cNvPr id="20" name="Shape 18"/>
          <p:cNvSpPr/>
          <p:nvPr/>
        </p:nvSpPr>
        <p:spPr>
          <a:xfrm>
            <a:off x="9308592" y="1517904"/>
            <a:ext cx="365760" cy="365760"/>
          </a:xfrm>
          <a:prstGeom prst="ellipse">
            <a:avLst/>
          </a:prstGeom>
          <a:solidFill>
            <a:srgbClr val="1B4F91"/>
          </a:solidFill>
          <a:ln/>
        </p:spPr>
      </p:sp>
      <p:sp>
        <p:nvSpPr>
          <p:cNvPr id="21" name="Text 19"/>
          <p:cNvSpPr/>
          <p:nvPr/>
        </p:nvSpPr>
        <p:spPr>
          <a:xfrm>
            <a:off x="9308592" y="15179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2" name="Text 20"/>
          <p:cNvSpPr/>
          <p:nvPr/>
        </p:nvSpPr>
        <p:spPr>
          <a:xfrm>
            <a:off x="9765792" y="1499616"/>
            <a:ext cx="1920240" cy="32004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plan_db</a:t>
            </a:r>
            <a:endParaRPr lang="en-US" sz="1200" dirty="0"/>
          </a:p>
        </p:txBody>
      </p:sp>
      <p:sp>
        <p:nvSpPr>
          <p:cNvPr id="23" name="Text 21"/>
          <p:cNvSpPr/>
          <p:nvPr/>
        </p:nvSpPr>
        <p:spPr>
          <a:xfrm>
            <a:off x="9326880" y="1938528"/>
            <a:ext cx="2331720" cy="7772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membership_plans, member_subscriptions, member_free_session_usage</a:t>
            </a:r>
            <a:endParaRPr lang="en-US" sz="900" dirty="0"/>
          </a:p>
        </p:txBody>
      </p:sp>
      <p:sp>
        <p:nvSpPr>
          <p:cNvPr id="24" name="Shape 22"/>
          <p:cNvSpPr/>
          <p:nvPr/>
        </p:nvSpPr>
        <p:spPr>
          <a:xfrm>
            <a:off x="502920" y="2990088"/>
            <a:ext cx="2697480" cy="1417320"/>
          </a:xfrm>
          <a:prstGeom prst="roundRect">
            <a:avLst>
              <a:gd name="adj" fmla="val 4516"/>
            </a:avLst>
          </a:prstGeom>
          <a:solidFill>
            <a:srgbClr val="FFFFFF"/>
          </a:solidFill>
          <a:ln w="12700">
            <a:solidFill>
              <a:srgbClr val="D7E3F3"/>
            </a:solidFill>
            <a:prstDash val="solid"/>
          </a:ln>
        </p:spPr>
      </p:sp>
      <p:sp>
        <p:nvSpPr>
          <p:cNvPr id="25" name="Shape 23"/>
          <p:cNvSpPr/>
          <p:nvPr/>
        </p:nvSpPr>
        <p:spPr>
          <a:xfrm>
            <a:off x="667512" y="3136392"/>
            <a:ext cx="365760" cy="365760"/>
          </a:xfrm>
          <a:prstGeom prst="ellipse">
            <a:avLst/>
          </a:prstGeom>
          <a:solidFill>
            <a:srgbClr val="1B4F91"/>
          </a:solidFill>
          <a:ln/>
        </p:spPr>
      </p:sp>
      <p:sp>
        <p:nvSpPr>
          <p:cNvPr id="26" name="Text 24"/>
          <p:cNvSpPr/>
          <p:nvPr/>
        </p:nvSpPr>
        <p:spPr>
          <a:xfrm>
            <a:off x="667512" y="31363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7" name="Text 25"/>
          <p:cNvSpPr/>
          <p:nvPr/>
        </p:nvSpPr>
        <p:spPr>
          <a:xfrm>
            <a:off x="1124712" y="3118104"/>
            <a:ext cx="1920240" cy="32004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booking_db</a:t>
            </a:r>
            <a:endParaRPr lang="en-US" sz="1200" dirty="0"/>
          </a:p>
        </p:txBody>
      </p:sp>
      <p:sp>
        <p:nvSpPr>
          <p:cNvPr id="28" name="Text 26"/>
          <p:cNvSpPr/>
          <p:nvPr/>
        </p:nvSpPr>
        <p:spPr>
          <a:xfrm>
            <a:off x="685800" y="3557016"/>
            <a:ext cx="2331720" cy="7772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bookings</a:t>
            </a:r>
            <a:endParaRPr lang="en-US" sz="900" dirty="0"/>
          </a:p>
        </p:txBody>
      </p:sp>
      <p:sp>
        <p:nvSpPr>
          <p:cNvPr id="29" name="Shape 27"/>
          <p:cNvSpPr/>
          <p:nvPr/>
        </p:nvSpPr>
        <p:spPr>
          <a:xfrm>
            <a:off x="3383280" y="2990088"/>
            <a:ext cx="2697480" cy="1417320"/>
          </a:xfrm>
          <a:prstGeom prst="roundRect">
            <a:avLst>
              <a:gd name="adj" fmla="val 4516"/>
            </a:avLst>
          </a:prstGeom>
          <a:solidFill>
            <a:srgbClr val="FFFFFF"/>
          </a:solidFill>
          <a:ln w="12700">
            <a:solidFill>
              <a:srgbClr val="D7E3F3"/>
            </a:solidFill>
            <a:prstDash val="solid"/>
          </a:ln>
        </p:spPr>
      </p:sp>
      <p:sp>
        <p:nvSpPr>
          <p:cNvPr id="30" name="Shape 28"/>
          <p:cNvSpPr/>
          <p:nvPr/>
        </p:nvSpPr>
        <p:spPr>
          <a:xfrm>
            <a:off x="3547872" y="3136392"/>
            <a:ext cx="365760" cy="365760"/>
          </a:xfrm>
          <a:prstGeom prst="ellipse">
            <a:avLst/>
          </a:prstGeom>
          <a:solidFill>
            <a:srgbClr val="1B4F91"/>
          </a:solidFill>
          <a:ln/>
        </p:spPr>
      </p:sp>
      <p:sp>
        <p:nvSpPr>
          <p:cNvPr id="31" name="Text 29"/>
          <p:cNvSpPr/>
          <p:nvPr/>
        </p:nvSpPr>
        <p:spPr>
          <a:xfrm>
            <a:off x="3547872" y="31363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2" name="Text 30"/>
          <p:cNvSpPr/>
          <p:nvPr/>
        </p:nvSpPr>
        <p:spPr>
          <a:xfrm>
            <a:off x="4005072" y="3118104"/>
            <a:ext cx="1920240" cy="32004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payment_db</a:t>
            </a:r>
            <a:endParaRPr lang="en-US" sz="1200" dirty="0"/>
          </a:p>
        </p:txBody>
      </p:sp>
      <p:sp>
        <p:nvSpPr>
          <p:cNvPr id="33" name="Text 31"/>
          <p:cNvSpPr/>
          <p:nvPr/>
        </p:nvSpPr>
        <p:spPr>
          <a:xfrm>
            <a:off x="3566160" y="3557016"/>
            <a:ext cx="2331720" cy="7772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payments</a:t>
            </a:r>
            <a:endParaRPr lang="en-US" sz="900" dirty="0"/>
          </a:p>
        </p:txBody>
      </p:sp>
      <p:sp>
        <p:nvSpPr>
          <p:cNvPr id="34" name="Shape 32"/>
          <p:cNvSpPr/>
          <p:nvPr/>
        </p:nvSpPr>
        <p:spPr>
          <a:xfrm>
            <a:off x="6263640" y="2990088"/>
            <a:ext cx="2697480" cy="1417320"/>
          </a:xfrm>
          <a:prstGeom prst="roundRect">
            <a:avLst>
              <a:gd name="adj" fmla="val 4516"/>
            </a:avLst>
          </a:prstGeom>
          <a:solidFill>
            <a:srgbClr val="FFFFFF"/>
          </a:solidFill>
          <a:ln w="12700">
            <a:solidFill>
              <a:srgbClr val="D7E3F3"/>
            </a:solidFill>
            <a:prstDash val="solid"/>
          </a:ln>
        </p:spPr>
      </p:sp>
      <p:sp>
        <p:nvSpPr>
          <p:cNvPr id="35" name="Shape 33"/>
          <p:cNvSpPr/>
          <p:nvPr/>
        </p:nvSpPr>
        <p:spPr>
          <a:xfrm>
            <a:off x="6428232" y="3136392"/>
            <a:ext cx="365760" cy="365760"/>
          </a:xfrm>
          <a:prstGeom prst="ellipse">
            <a:avLst/>
          </a:prstGeom>
          <a:solidFill>
            <a:srgbClr val="1B4F91"/>
          </a:solidFill>
          <a:ln/>
        </p:spPr>
      </p:sp>
      <p:sp>
        <p:nvSpPr>
          <p:cNvPr id="36" name="Text 34"/>
          <p:cNvSpPr/>
          <p:nvPr/>
        </p:nvSpPr>
        <p:spPr>
          <a:xfrm>
            <a:off x="6428232" y="31363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7" name="Text 35"/>
          <p:cNvSpPr/>
          <p:nvPr/>
        </p:nvSpPr>
        <p:spPr>
          <a:xfrm>
            <a:off x="6885432" y="3118104"/>
            <a:ext cx="1920240" cy="32004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notification_db</a:t>
            </a:r>
            <a:endParaRPr lang="en-US" sz="1200" dirty="0"/>
          </a:p>
        </p:txBody>
      </p:sp>
      <p:sp>
        <p:nvSpPr>
          <p:cNvPr id="38" name="Text 36"/>
          <p:cNvSpPr/>
          <p:nvPr/>
        </p:nvSpPr>
        <p:spPr>
          <a:xfrm>
            <a:off x="6446520" y="3557016"/>
            <a:ext cx="2331720" cy="7772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in_app_notifications</a:t>
            </a:r>
            <a:endParaRPr lang="en-US" sz="900" dirty="0"/>
          </a:p>
        </p:txBody>
      </p:sp>
      <p:sp>
        <p:nvSpPr>
          <p:cNvPr id="39" name="Shape 37"/>
          <p:cNvSpPr/>
          <p:nvPr/>
        </p:nvSpPr>
        <p:spPr>
          <a:xfrm>
            <a:off x="9144000" y="2990088"/>
            <a:ext cx="2697480" cy="1417320"/>
          </a:xfrm>
          <a:prstGeom prst="roundRect">
            <a:avLst>
              <a:gd name="adj" fmla="val 4516"/>
            </a:avLst>
          </a:prstGeom>
          <a:solidFill>
            <a:srgbClr val="0B2545"/>
          </a:solidFill>
          <a:ln/>
          <a:effectLst>
            <a:outerShdw sx="100000" sy="100000" kx="0" ky="0" algn="bl" rotWithShape="0" blurRad="101600" dist="25400" dir="5400000">
              <a:srgbClr val="0B2545">
                <a:alpha val="10000"/>
              </a:srgbClr>
            </a:outerShdw>
          </a:effectLst>
        </p:spPr>
      </p:sp>
      <p:sp>
        <p:nvSpPr>
          <p:cNvPr id="40" name="Text 38"/>
          <p:cNvSpPr/>
          <p:nvPr/>
        </p:nvSpPr>
        <p:spPr>
          <a:xfrm>
            <a:off x="9308592" y="3118104"/>
            <a:ext cx="2368296" cy="502920"/>
          </a:xfrm>
          <a:prstGeom prst="rect">
            <a:avLst/>
          </a:prstGeom>
          <a:noFill/>
          <a:ln/>
        </p:spPr>
        <p:txBody>
          <a:bodyPr wrap="square" lIns="0" tIns="0" rIns="0" bIns="0" rtlCol="0" anchor="ctr"/>
          <a:lstStyle/>
          <a:p>
            <a:pPr indent="0" marL="0">
              <a:buNone/>
            </a:pPr>
            <a:r>
              <a:rPr lang="en-US" sz="1100" b="1" dirty="0">
                <a:solidFill>
                  <a:srgbClr val="00A9E0"/>
                </a:solidFill>
                <a:latin typeface="Courier New" pitchFamily="34" charset="0"/>
                <a:ea typeface="Courier New" pitchFamily="34" charset="-122"/>
                <a:cs typeface="Courier New" pitchFamily="34" charset="-120"/>
              </a:rPr>
              <a:t>+ payment_db</a:t>
            </a:r>
            <a:endParaRPr lang="en-US" sz="1100" dirty="0"/>
          </a:p>
          <a:p>
            <a:pPr indent="0" marL="0">
              <a:buNone/>
            </a:pPr>
            <a:r>
              <a:rPr lang="en-US" sz="1100" b="1" dirty="0">
                <a:solidFill>
                  <a:srgbClr val="00A9E0"/>
                </a:solidFill>
                <a:latin typeface="Courier New" pitchFamily="34" charset="0"/>
                <a:ea typeface="Courier New" pitchFamily="34" charset="-122"/>
                <a:cs typeface="Courier New" pitchFamily="34" charset="-120"/>
              </a:rPr>
              <a:t>(payments)</a:t>
            </a:r>
            <a:endParaRPr lang="en-US" sz="1100" dirty="0"/>
          </a:p>
        </p:txBody>
      </p:sp>
      <p:sp>
        <p:nvSpPr>
          <p:cNvPr id="41" name="Shape 39"/>
          <p:cNvSpPr/>
          <p:nvPr/>
        </p:nvSpPr>
        <p:spPr>
          <a:xfrm>
            <a:off x="502920" y="4434840"/>
            <a:ext cx="11155680" cy="1783080"/>
          </a:xfrm>
          <a:prstGeom prst="roundRect">
            <a:avLst>
              <a:gd name="adj" fmla="val 3590"/>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42" name="Text 40"/>
          <p:cNvSpPr/>
          <p:nvPr/>
        </p:nvSpPr>
        <p:spPr>
          <a:xfrm>
            <a:off x="777240" y="4572000"/>
            <a:ext cx="5486400" cy="274320"/>
          </a:xfrm>
          <a:prstGeom prst="rect">
            <a:avLst/>
          </a:prstGeom>
          <a:noFill/>
          <a:ln/>
        </p:spPr>
        <p:txBody>
          <a:bodyPr wrap="square" lIns="0" tIns="0" rIns="0" bIns="0" rtlCol="0" anchor="ctr"/>
          <a:lstStyle/>
          <a:p>
            <a:pPr indent="0" marL="0">
              <a:buNone/>
            </a:pPr>
            <a:r>
              <a:rPr lang="en-US" sz="1150" b="1" spc="150" kern="0" dirty="0">
                <a:solidFill>
                  <a:srgbClr val="0086B3"/>
                </a:solidFill>
                <a:latin typeface="Calibri" pitchFamily="34" charset="0"/>
                <a:ea typeface="Calibri" pitchFamily="34" charset="-122"/>
                <a:cs typeface="Calibri" pitchFamily="34" charset="-120"/>
              </a:rPr>
              <a:t>WHY DATABASE-PER-SERVICE</a:t>
            </a:r>
            <a:endParaRPr lang="en-US" sz="1150" dirty="0"/>
          </a:p>
        </p:txBody>
      </p:sp>
      <p:sp>
        <p:nvSpPr>
          <p:cNvPr id="43" name="Text 41"/>
          <p:cNvSpPr/>
          <p:nvPr/>
        </p:nvSpPr>
        <p:spPr>
          <a:xfrm>
            <a:off x="777240" y="4864608"/>
            <a:ext cx="10607040" cy="128016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6233B"/>
                </a:solidFill>
                <a:latin typeface="Calibri" pitchFamily="34" charset="0"/>
                <a:ea typeface="Calibri" pitchFamily="34" charset="-122"/>
                <a:cs typeface="Calibri" pitchFamily="34" charset="-120"/>
              </a:rPr>
              <a:t>Independent schema evolution — trainer-service adding session_fee never touches other schemas</a:t>
            </a:r>
            <a:endParaRPr lang="en-US" sz="1100" dirty="0"/>
          </a:p>
          <a:p>
            <a:pPr marL="342900" indent="-342900">
              <a:spcAft>
                <a:spcPts val="600"/>
              </a:spcAft>
              <a:buSzPct val="100000"/>
              <a:buChar char="•"/>
            </a:pPr>
            <a:r>
              <a:rPr lang="en-US" sz="1100" dirty="0">
                <a:solidFill>
                  <a:srgbClr val="16233B"/>
                </a:solidFill>
                <a:latin typeface="Calibri" pitchFamily="34" charset="0"/>
                <a:ea typeface="Calibri" pitchFamily="34" charset="-122"/>
                <a:cs typeface="Calibri" pitchFamily="34" charset="-120"/>
              </a:rPr>
              <a:t>Failure isolation — a slow/locked plan_db doesn't degrade member-service queries</a:t>
            </a:r>
            <a:endParaRPr lang="en-US" sz="1100" dirty="0"/>
          </a:p>
          <a:p>
            <a:pPr marL="342900" indent="-342900">
              <a:spcAft>
                <a:spcPts val="600"/>
              </a:spcAft>
              <a:buSzPct val="100000"/>
              <a:buChar char="•"/>
            </a:pPr>
            <a:r>
              <a:rPr lang="en-US" sz="1100" dirty="0">
                <a:solidFill>
                  <a:srgbClr val="16233B"/>
                </a:solidFill>
                <a:latin typeface="Calibri" pitchFamily="34" charset="0"/>
                <a:ea typeface="Calibri" pitchFamily="34" charset="-122"/>
                <a:cs typeface="Calibri" pitchFamily="34" charset="-120"/>
              </a:rPr>
              <a:t>Clear ownership — services never read another service's tables directly, only via REST/Feign</a:t>
            </a:r>
            <a:endParaRPr lang="en-US" sz="1100" dirty="0"/>
          </a:p>
          <a:p>
            <a:pPr marL="342900" indent="-342900">
              <a:spcAft>
                <a:spcPts val="600"/>
              </a:spcAft>
              <a:buSzPct val="100000"/>
              <a:buChar char="•"/>
            </a:pPr>
            <a:r>
              <a:rPr lang="en-US" sz="1100" dirty="0">
                <a:solidFill>
                  <a:srgbClr val="16233B"/>
                </a:solidFill>
                <a:latin typeface="Calibri" pitchFamily="34" charset="0"/>
                <a:ea typeface="Calibri" pitchFamily="34" charset="-122"/>
                <a:cs typeface="Calibri" pitchFamily="34" charset="-120"/>
              </a:rPr>
              <a:t>Enables independent scaling &amp; deployment of each service's datastore</a:t>
            </a:r>
            <a:endParaRPr lang="en-US" sz="1100" dirty="0"/>
          </a:p>
        </p:txBody>
      </p:sp>
      <p:sp>
        <p:nvSpPr>
          <p:cNvPr id="44" name="Text 42"/>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45" name="Text 43"/>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Database Design</a:t>
            </a:r>
            <a:endParaRPr lang="en-US" sz="900" dirty="0"/>
          </a:p>
        </p:txBody>
      </p:sp>
      <p:sp>
        <p:nvSpPr>
          <p:cNvPr id="46" name="Text 44"/>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SECURITY</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Defense in Depth — JWT, Gateway, and RBAC</a:t>
            </a:r>
            <a:endParaRPr lang="en-US" sz="2800" dirty="0"/>
          </a:p>
        </p:txBody>
      </p:sp>
      <p:sp>
        <p:nvSpPr>
          <p:cNvPr id="4" name="Shape 2"/>
          <p:cNvSpPr/>
          <p:nvPr/>
        </p:nvSpPr>
        <p:spPr>
          <a:xfrm>
            <a:off x="502920" y="1371600"/>
            <a:ext cx="5486400" cy="1417320"/>
          </a:xfrm>
          <a:prstGeom prst="roundRect">
            <a:avLst>
              <a:gd name="adj" fmla="val 4516"/>
            </a:avLst>
          </a:prstGeom>
          <a:solidFill>
            <a:srgbClr val="FFFFFF"/>
          </a:solidFill>
          <a:ln w="12700">
            <a:solidFill>
              <a:srgbClr val="D7E3F3"/>
            </a:solidFill>
            <a:prstDash val="solid"/>
          </a:ln>
        </p:spPr>
      </p:sp>
      <p:sp>
        <p:nvSpPr>
          <p:cNvPr id="5" name="Shape 3"/>
          <p:cNvSpPr/>
          <p:nvPr/>
        </p:nvSpPr>
        <p:spPr>
          <a:xfrm>
            <a:off x="685800" y="1554480"/>
            <a:ext cx="502920" cy="502920"/>
          </a:xfrm>
          <a:prstGeom prst="ellipse">
            <a:avLst/>
          </a:prstGeom>
          <a:solidFill>
            <a:srgbClr val="EAF2FB"/>
          </a:solidFill>
          <a:ln/>
        </p:spPr>
      </p:sp>
      <p:pic>
        <p:nvPicPr>
          <p:cNvPr id="6" name="Image 0" descr="preencoded.png">    </p:cNvPr>
          <p:cNvPicPr>
            <a:picLocks noChangeAspect="1"/>
          </p:cNvPicPr>
          <p:nvPr/>
        </p:nvPicPr>
        <p:blipFill>
          <a:blip r:embed="rId1"/>
          <a:stretch>
            <a:fillRect/>
          </a:stretch>
        </p:blipFill>
        <p:spPr>
          <a:xfrm>
            <a:off x="816559" y="1685239"/>
            <a:ext cx="241402" cy="241402"/>
          </a:xfrm>
          <a:prstGeom prst="rect">
            <a:avLst/>
          </a:prstGeom>
        </p:spPr>
      </p:pic>
      <p:sp>
        <p:nvSpPr>
          <p:cNvPr id="7" name="Text 4"/>
          <p:cNvSpPr/>
          <p:nvPr/>
        </p:nvSpPr>
        <p:spPr>
          <a:xfrm>
            <a:off x="1344168" y="1536192"/>
            <a:ext cx="443484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JWT Generation</a:t>
            </a:r>
            <a:endParaRPr lang="en-US" sz="1300" dirty="0"/>
          </a:p>
        </p:txBody>
      </p:sp>
      <p:sp>
        <p:nvSpPr>
          <p:cNvPr id="8" name="Text 5"/>
          <p:cNvSpPr/>
          <p:nvPr/>
        </p:nvSpPr>
        <p:spPr>
          <a:xfrm>
            <a:off x="758952" y="1938528"/>
            <a:ext cx="4983480" cy="777240"/>
          </a:xfrm>
          <a:prstGeom prst="rect">
            <a:avLst/>
          </a:prstGeom>
          <a:noFill/>
          <a:ln/>
        </p:spPr>
        <p:txBody>
          <a:bodyPr wrap="square" lIns="0" tIns="0" rIns="0" bIns="0" rtlCol="0" anchor="ctr"/>
          <a:lstStyle/>
          <a:p>
            <a:pPr indent="0" marL="0">
              <a:buNone/>
            </a:pPr>
            <a:r>
              <a:rPr lang="en-US" sz="980" dirty="0">
                <a:solidFill>
                  <a:srgbClr val="5B6B85"/>
                </a:solidFill>
                <a:latin typeface="Calibri" pitchFamily="34" charset="0"/>
                <a:ea typeface="Calibri" pitchFamily="34" charset="-122"/>
                <a:cs typeface="Calibri" pitchFamily="34" charset="-120"/>
              </a:rPr>
              <a:t>JwtUtil signs HS256 tokens with email (subject), role, and userId claims; 256-bit secret from application.properties.</a:t>
            </a:r>
            <a:endParaRPr lang="en-US" sz="980" dirty="0"/>
          </a:p>
        </p:txBody>
      </p:sp>
      <p:sp>
        <p:nvSpPr>
          <p:cNvPr id="9" name="Shape 6"/>
          <p:cNvSpPr/>
          <p:nvPr/>
        </p:nvSpPr>
        <p:spPr>
          <a:xfrm>
            <a:off x="6263640" y="1371600"/>
            <a:ext cx="5486400" cy="1417320"/>
          </a:xfrm>
          <a:prstGeom prst="roundRect">
            <a:avLst>
              <a:gd name="adj" fmla="val 4516"/>
            </a:avLst>
          </a:prstGeom>
          <a:solidFill>
            <a:srgbClr val="FFFFFF"/>
          </a:solidFill>
          <a:ln w="12700">
            <a:solidFill>
              <a:srgbClr val="D7E3F3"/>
            </a:solidFill>
            <a:prstDash val="solid"/>
          </a:ln>
        </p:spPr>
      </p:sp>
      <p:sp>
        <p:nvSpPr>
          <p:cNvPr id="10" name="Shape 7"/>
          <p:cNvSpPr/>
          <p:nvPr/>
        </p:nvSpPr>
        <p:spPr>
          <a:xfrm>
            <a:off x="6446520" y="1554480"/>
            <a:ext cx="502920" cy="502920"/>
          </a:xfrm>
          <a:prstGeom prst="ellipse">
            <a:avLst/>
          </a:prstGeom>
          <a:solidFill>
            <a:srgbClr val="EAF2FB"/>
          </a:solidFill>
          <a:ln/>
        </p:spPr>
      </p:sp>
      <p:pic>
        <p:nvPicPr>
          <p:cNvPr id="11" name="Image 1" descr="preencoded.png">    </p:cNvPr>
          <p:cNvPicPr>
            <a:picLocks noChangeAspect="1"/>
          </p:cNvPicPr>
          <p:nvPr/>
        </p:nvPicPr>
        <p:blipFill>
          <a:blip r:embed="rId2"/>
          <a:stretch>
            <a:fillRect/>
          </a:stretch>
        </p:blipFill>
        <p:spPr>
          <a:xfrm>
            <a:off x="6577279" y="1685239"/>
            <a:ext cx="241402" cy="241402"/>
          </a:xfrm>
          <a:prstGeom prst="rect">
            <a:avLst/>
          </a:prstGeom>
        </p:spPr>
      </p:pic>
      <p:sp>
        <p:nvSpPr>
          <p:cNvPr id="12" name="Text 8"/>
          <p:cNvSpPr/>
          <p:nvPr/>
        </p:nvSpPr>
        <p:spPr>
          <a:xfrm>
            <a:off x="7104888" y="1536192"/>
            <a:ext cx="443484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Gateway JWT Filter</a:t>
            </a:r>
            <a:endParaRPr lang="en-US" sz="1300" dirty="0"/>
          </a:p>
        </p:txBody>
      </p:sp>
      <p:sp>
        <p:nvSpPr>
          <p:cNvPr id="13" name="Text 9"/>
          <p:cNvSpPr/>
          <p:nvPr/>
        </p:nvSpPr>
        <p:spPr>
          <a:xfrm>
            <a:off x="6519672" y="1938528"/>
            <a:ext cx="4983480" cy="777240"/>
          </a:xfrm>
          <a:prstGeom prst="rect">
            <a:avLst/>
          </a:prstGeom>
          <a:noFill/>
          <a:ln/>
        </p:spPr>
        <p:txBody>
          <a:bodyPr wrap="square" lIns="0" tIns="0" rIns="0" bIns="0" rtlCol="0" anchor="ctr"/>
          <a:lstStyle/>
          <a:p>
            <a:pPr indent="0" marL="0">
              <a:buNone/>
            </a:pPr>
            <a:r>
              <a:rPr lang="en-US" sz="980" dirty="0">
                <a:solidFill>
                  <a:srgbClr val="5B6B85"/>
                </a:solidFill>
                <a:latin typeface="Calibri" pitchFamily="34" charset="0"/>
                <a:ea typeface="Calibri" pitchFamily="34" charset="-122"/>
                <a:cs typeface="Calibri" pitchFamily="34" charset="-120"/>
              </a:rPr>
              <a:t>JwtAuthFilter (GlobalFilter, order=-1) validates every request first; PUBLIC_URLS bypass list for login/register/chatbot.</a:t>
            </a:r>
            <a:endParaRPr lang="en-US" sz="980" dirty="0"/>
          </a:p>
        </p:txBody>
      </p:sp>
      <p:sp>
        <p:nvSpPr>
          <p:cNvPr id="14" name="Shape 10"/>
          <p:cNvSpPr/>
          <p:nvPr/>
        </p:nvSpPr>
        <p:spPr>
          <a:xfrm>
            <a:off x="502920" y="2971800"/>
            <a:ext cx="5486400" cy="1417320"/>
          </a:xfrm>
          <a:prstGeom prst="roundRect">
            <a:avLst>
              <a:gd name="adj" fmla="val 4516"/>
            </a:avLst>
          </a:prstGeom>
          <a:solidFill>
            <a:srgbClr val="FFFFFF"/>
          </a:solidFill>
          <a:ln w="12700">
            <a:solidFill>
              <a:srgbClr val="D7E3F3"/>
            </a:solidFill>
            <a:prstDash val="solid"/>
          </a:ln>
        </p:spPr>
      </p:sp>
      <p:sp>
        <p:nvSpPr>
          <p:cNvPr id="15" name="Shape 11"/>
          <p:cNvSpPr/>
          <p:nvPr/>
        </p:nvSpPr>
        <p:spPr>
          <a:xfrm>
            <a:off x="685800" y="3154680"/>
            <a:ext cx="502920" cy="502920"/>
          </a:xfrm>
          <a:prstGeom prst="ellipse">
            <a:avLst/>
          </a:prstGeom>
          <a:solidFill>
            <a:srgbClr val="EAF2FB"/>
          </a:solidFill>
          <a:ln/>
        </p:spPr>
      </p:sp>
      <p:pic>
        <p:nvPicPr>
          <p:cNvPr id="16" name="Image 2" descr="preencoded.png">    </p:cNvPr>
          <p:cNvPicPr>
            <a:picLocks noChangeAspect="1"/>
          </p:cNvPicPr>
          <p:nvPr/>
        </p:nvPicPr>
        <p:blipFill>
          <a:blip r:embed="rId3"/>
          <a:stretch>
            <a:fillRect/>
          </a:stretch>
        </p:blipFill>
        <p:spPr>
          <a:xfrm>
            <a:off x="816559" y="3285439"/>
            <a:ext cx="241402" cy="241402"/>
          </a:xfrm>
          <a:prstGeom prst="rect">
            <a:avLst/>
          </a:prstGeom>
        </p:spPr>
      </p:pic>
      <p:sp>
        <p:nvSpPr>
          <p:cNvPr id="17" name="Text 12"/>
          <p:cNvSpPr/>
          <p:nvPr/>
        </p:nvSpPr>
        <p:spPr>
          <a:xfrm>
            <a:off x="1344168" y="3136392"/>
            <a:ext cx="443484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Password Hashing</a:t>
            </a:r>
            <a:endParaRPr lang="en-US" sz="1300" dirty="0"/>
          </a:p>
        </p:txBody>
      </p:sp>
      <p:sp>
        <p:nvSpPr>
          <p:cNvPr id="18" name="Text 13"/>
          <p:cNvSpPr/>
          <p:nvPr/>
        </p:nvSpPr>
        <p:spPr>
          <a:xfrm>
            <a:off x="758952" y="3538728"/>
            <a:ext cx="4983480" cy="777240"/>
          </a:xfrm>
          <a:prstGeom prst="rect">
            <a:avLst/>
          </a:prstGeom>
          <a:noFill/>
          <a:ln/>
        </p:spPr>
        <p:txBody>
          <a:bodyPr wrap="square" lIns="0" tIns="0" rIns="0" bIns="0" rtlCol="0" anchor="ctr"/>
          <a:lstStyle/>
          <a:p>
            <a:pPr indent="0" marL="0">
              <a:buNone/>
            </a:pPr>
            <a:r>
              <a:rPr lang="en-US" sz="980" dirty="0">
                <a:solidFill>
                  <a:srgbClr val="5B6B85"/>
                </a:solidFill>
                <a:latin typeface="Calibri" pitchFamily="34" charset="0"/>
                <a:ea typeface="Calibri" pitchFamily="34" charset="-122"/>
                <a:cs typeface="Calibri" pitchFamily="34" charset="-120"/>
              </a:rPr>
              <a:t>BCryptPasswordEncoder hashes passwords in auth-service — plaintext is never persisted or logged (LoggingAspect masks it).</a:t>
            </a:r>
            <a:endParaRPr lang="en-US" sz="980" dirty="0"/>
          </a:p>
        </p:txBody>
      </p:sp>
      <p:sp>
        <p:nvSpPr>
          <p:cNvPr id="19" name="Shape 14"/>
          <p:cNvSpPr/>
          <p:nvPr/>
        </p:nvSpPr>
        <p:spPr>
          <a:xfrm>
            <a:off x="6263640" y="2971800"/>
            <a:ext cx="5486400" cy="1417320"/>
          </a:xfrm>
          <a:prstGeom prst="roundRect">
            <a:avLst>
              <a:gd name="adj" fmla="val 4516"/>
            </a:avLst>
          </a:prstGeom>
          <a:solidFill>
            <a:srgbClr val="FFFFFF"/>
          </a:solidFill>
          <a:ln w="12700">
            <a:solidFill>
              <a:srgbClr val="D7E3F3"/>
            </a:solidFill>
            <a:prstDash val="solid"/>
          </a:ln>
        </p:spPr>
      </p:sp>
      <p:sp>
        <p:nvSpPr>
          <p:cNvPr id="20" name="Shape 15"/>
          <p:cNvSpPr/>
          <p:nvPr/>
        </p:nvSpPr>
        <p:spPr>
          <a:xfrm>
            <a:off x="6446520" y="3154680"/>
            <a:ext cx="502920" cy="502920"/>
          </a:xfrm>
          <a:prstGeom prst="ellipse">
            <a:avLst/>
          </a:prstGeom>
          <a:solidFill>
            <a:srgbClr val="EAF2FB"/>
          </a:solidFill>
          <a:ln/>
        </p:spPr>
      </p:sp>
      <p:pic>
        <p:nvPicPr>
          <p:cNvPr id="21" name="Image 3" descr="preencoded.png">    </p:cNvPr>
          <p:cNvPicPr>
            <a:picLocks noChangeAspect="1"/>
          </p:cNvPicPr>
          <p:nvPr/>
        </p:nvPicPr>
        <p:blipFill>
          <a:blip r:embed="rId4"/>
          <a:stretch>
            <a:fillRect/>
          </a:stretch>
        </p:blipFill>
        <p:spPr>
          <a:xfrm>
            <a:off x="6577279" y="3285439"/>
            <a:ext cx="241402" cy="241402"/>
          </a:xfrm>
          <a:prstGeom prst="rect">
            <a:avLst/>
          </a:prstGeom>
        </p:spPr>
      </p:pic>
      <p:sp>
        <p:nvSpPr>
          <p:cNvPr id="22" name="Text 16"/>
          <p:cNvSpPr/>
          <p:nvPr/>
        </p:nvSpPr>
        <p:spPr>
          <a:xfrm>
            <a:off x="7104888" y="3136392"/>
            <a:ext cx="443484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Header-Based Identity</a:t>
            </a:r>
            <a:endParaRPr lang="en-US" sz="1300" dirty="0"/>
          </a:p>
        </p:txBody>
      </p:sp>
      <p:sp>
        <p:nvSpPr>
          <p:cNvPr id="23" name="Text 17"/>
          <p:cNvSpPr/>
          <p:nvPr/>
        </p:nvSpPr>
        <p:spPr>
          <a:xfrm>
            <a:off x="6519672" y="3538728"/>
            <a:ext cx="4983480" cy="777240"/>
          </a:xfrm>
          <a:prstGeom prst="rect">
            <a:avLst/>
          </a:prstGeom>
          <a:noFill/>
          <a:ln/>
        </p:spPr>
        <p:txBody>
          <a:bodyPr wrap="square" lIns="0" tIns="0" rIns="0" bIns="0" rtlCol="0" anchor="ctr"/>
          <a:lstStyle/>
          <a:p>
            <a:pPr indent="0" marL="0">
              <a:buNone/>
            </a:pPr>
            <a:r>
              <a:rPr lang="en-US" sz="980" dirty="0">
                <a:solidFill>
                  <a:srgbClr val="5B6B85"/>
                </a:solidFill>
                <a:latin typeface="Calibri" pitchFamily="34" charset="0"/>
                <a:ea typeface="Calibri" pitchFamily="34" charset="-122"/>
                <a:cs typeface="Calibri" pitchFamily="34" charset="-120"/>
              </a:rPr>
              <a:t>Gateway injects X-User-Email / X-User-Role / X-User-Id; downstream services trust these instead of re-parsing JWTs.</a:t>
            </a:r>
            <a:endParaRPr lang="en-US" sz="980" dirty="0"/>
          </a:p>
        </p:txBody>
      </p:sp>
      <p:sp>
        <p:nvSpPr>
          <p:cNvPr id="24" name="Shape 18"/>
          <p:cNvSpPr/>
          <p:nvPr/>
        </p:nvSpPr>
        <p:spPr>
          <a:xfrm>
            <a:off x="502920" y="4572000"/>
            <a:ext cx="5486400" cy="1417320"/>
          </a:xfrm>
          <a:prstGeom prst="roundRect">
            <a:avLst>
              <a:gd name="adj" fmla="val 4516"/>
            </a:avLst>
          </a:prstGeom>
          <a:solidFill>
            <a:srgbClr val="FFFFFF"/>
          </a:solidFill>
          <a:ln w="12700">
            <a:solidFill>
              <a:srgbClr val="D7E3F3"/>
            </a:solidFill>
            <a:prstDash val="solid"/>
          </a:ln>
        </p:spPr>
      </p:sp>
      <p:sp>
        <p:nvSpPr>
          <p:cNvPr id="25" name="Shape 19"/>
          <p:cNvSpPr/>
          <p:nvPr/>
        </p:nvSpPr>
        <p:spPr>
          <a:xfrm>
            <a:off x="685800" y="4754880"/>
            <a:ext cx="502920" cy="502920"/>
          </a:xfrm>
          <a:prstGeom prst="ellipse">
            <a:avLst/>
          </a:prstGeom>
          <a:solidFill>
            <a:srgbClr val="EAF2FB"/>
          </a:solidFill>
          <a:ln/>
        </p:spPr>
      </p:sp>
      <p:pic>
        <p:nvPicPr>
          <p:cNvPr id="26" name="Image 4" descr="preencoded.png">    </p:cNvPr>
          <p:cNvPicPr>
            <a:picLocks noChangeAspect="1"/>
          </p:cNvPicPr>
          <p:nvPr/>
        </p:nvPicPr>
        <p:blipFill>
          <a:blip r:embed="rId5"/>
          <a:stretch>
            <a:fillRect/>
          </a:stretch>
        </p:blipFill>
        <p:spPr>
          <a:xfrm>
            <a:off x="816559" y="4885639"/>
            <a:ext cx="241402" cy="241402"/>
          </a:xfrm>
          <a:prstGeom prst="rect">
            <a:avLst/>
          </a:prstGeom>
        </p:spPr>
      </p:pic>
      <p:sp>
        <p:nvSpPr>
          <p:cNvPr id="27" name="Text 20"/>
          <p:cNvSpPr/>
          <p:nvPr/>
        </p:nvSpPr>
        <p:spPr>
          <a:xfrm>
            <a:off x="1344168" y="4736592"/>
            <a:ext cx="443484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Stateless Sessions</a:t>
            </a:r>
            <a:endParaRPr lang="en-US" sz="1300" dirty="0"/>
          </a:p>
        </p:txBody>
      </p:sp>
      <p:sp>
        <p:nvSpPr>
          <p:cNvPr id="28" name="Text 21"/>
          <p:cNvSpPr/>
          <p:nvPr/>
        </p:nvSpPr>
        <p:spPr>
          <a:xfrm>
            <a:off x="758952" y="5138928"/>
            <a:ext cx="4983480" cy="777240"/>
          </a:xfrm>
          <a:prstGeom prst="rect">
            <a:avLst/>
          </a:prstGeom>
          <a:noFill/>
          <a:ln/>
        </p:spPr>
        <p:txBody>
          <a:bodyPr wrap="square" lIns="0" tIns="0" rIns="0" bIns="0" rtlCol="0" anchor="ctr"/>
          <a:lstStyle/>
          <a:p>
            <a:pPr indent="0" marL="0">
              <a:buNone/>
            </a:pPr>
            <a:r>
              <a:rPr lang="en-US" sz="980" dirty="0">
                <a:solidFill>
                  <a:srgbClr val="5B6B85"/>
                </a:solidFill>
                <a:latin typeface="Calibri" pitchFamily="34" charset="0"/>
                <a:ea typeface="Calibri" pitchFamily="34" charset="-122"/>
                <a:cs typeface="Calibri" pitchFamily="34" charset="-120"/>
              </a:rPr>
              <a:t>Every SecurityConfig sets SessionCreationPolicy.STATELESS — no server-side session state, horizontally scalable.</a:t>
            </a:r>
            <a:endParaRPr lang="en-US" sz="980" dirty="0"/>
          </a:p>
        </p:txBody>
      </p:sp>
      <p:sp>
        <p:nvSpPr>
          <p:cNvPr id="29" name="Shape 22"/>
          <p:cNvSpPr/>
          <p:nvPr/>
        </p:nvSpPr>
        <p:spPr>
          <a:xfrm>
            <a:off x="6263640" y="4572000"/>
            <a:ext cx="5486400" cy="1417320"/>
          </a:xfrm>
          <a:prstGeom prst="roundRect">
            <a:avLst>
              <a:gd name="adj" fmla="val 4516"/>
            </a:avLst>
          </a:prstGeom>
          <a:solidFill>
            <a:srgbClr val="FFFFFF"/>
          </a:solidFill>
          <a:ln w="12700">
            <a:solidFill>
              <a:srgbClr val="D7E3F3"/>
            </a:solidFill>
            <a:prstDash val="solid"/>
          </a:ln>
        </p:spPr>
      </p:sp>
      <p:sp>
        <p:nvSpPr>
          <p:cNvPr id="30" name="Shape 23"/>
          <p:cNvSpPr/>
          <p:nvPr/>
        </p:nvSpPr>
        <p:spPr>
          <a:xfrm>
            <a:off x="6446520" y="4754880"/>
            <a:ext cx="502920" cy="502920"/>
          </a:xfrm>
          <a:prstGeom prst="ellipse">
            <a:avLst/>
          </a:prstGeom>
          <a:solidFill>
            <a:srgbClr val="EAF2FB"/>
          </a:solidFill>
          <a:ln/>
        </p:spPr>
      </p:sp>
      <p:pic>
        <p:nvPicPr>
          <p:cNvPr id="31" name="Image 5" descr="preencoded.png">    </p:cNvPr>
          <p:cNvPicPr>
            <a:picLocks noChangeAspect="1"/>
          </p:cNvPicPr>
          <p:nvPr/>
        </p:nvPicPr>
        <p:blipFill>
          <a:blip r:embed="rId6"/>
          <a:stretch>
            <a:fillRect/>
          </a:stretch>
        </p:blipFill>
        <p:spPr>
          <a:xfrm>
            <a:off x="6577279" y="4885639"/>
            <a:ext cx="241402" cy="241402"/>
          </a:xfrm>
          <a:prstGeom prst="rect">
            <a:avLst/>
          </a:prstGeom>
        </p:spPr>
      </p:pic>
      <p:sp>
        <p:nvSpPr>
          <p:cNvPr id="32" name="Text 24"/>
          <p:cNvSpPr/>
          <p:nvPr/>
        </p:nvSpPr>
        <p:spPr>
          <a:xfrm>
            <a:off x="7104888" y="4736592"/>
            <a:ext cx="443484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SSE Token Fallback</a:t>
            </a:r>
            <a:endParaRPr lang="en-US" sz="1300" dirty="0"/>
          </a:p>
        </p:txBody>
      </p:sp>
      <p:sp>
        <p:nvSpPr>
          <p:cNvPr id="33" name="Text 25"/>
          <p:cNvSpPr/>
          <p:nvPr/>
        </p:nvSpPr>
        <p:spPr>
          <a:xfrm>
            <a:off x="6519672" y="5138928"/>
            <a:ext cx="4983480" cy="777240"/>
          </a:xfrm>
          <a:prstGeom prst="rect">
            <a:avLst/>
          </a:prstGeom>
          <a:noFill/>
          <a:ln/>
        </p:spPr>
        <p:txBody>
          <a:bodyPr wrap="square" lIns="0" tIns="0" rIns="0" bIns="0" rtlCol="0" anchor="ctr"/>
          <a:lstStyle/>
          <a:p>
            <a:pPr indent="0" marL="0">
              <a:buNone/>
            </a:pPr>
            <a:r>
              <a:rPr lang="en-US" sz="980" dirty="0">
                <a:solidFill>
                  <a:srgbClr val="5B6B85"/>
                </a:solidFill>
                <a:latin typeface="Calibri" pitchFamily="34" charset="0"/>
                <a:ea typeface="Calibri" pitchFamily="34" charset="-122"/>
                <a:cs typeface="Calibri" pitchFamily="34" charset="-120"/>
              </a:rPr>
              <a:t>EventSource can't set headers, so /notify/inapp/{userId}/stream accepts ?token= as a scoped, path-restricted fallback.</a:t>
            </a:r>
            <a:endParaRPr lang="en-US" sz="980" dirty="0"/>
          </a:p>
        </p:txBody>
      </p:sp>
      <p:sp>
        <p:nvSpPr>
          <p:cNvPr id="34" name="Text 26"/>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35" name="Text 27"/>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Security</a:t>
            </a:r>
            <a:endParaRPr lang="en-US" sz="900" dirty="0"/>
          </a:p>
        </p:txBody>
      </p:sp>
      <p:sp>
        <p:nvSpPr>
          <p:cNvPr id="36" name="Text 28"/>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MESSAGING INFRASTRUCTURE</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RabbitMQ — Topology &amp; Reliability</a:t>
            </a:r>
            <a:endParaRPr lang="en-US" sz="2800" dirty="0"/>
          </a:p>
        </p:txBody>
      </p:sp>
      <p:sp>
        <p:nvSpPr>
          <p:cNvPr id="4" name="Shape 2"/>
          <p:cNvSpPr/>
          <p:nvPr/>
        </p:nvSpPr>
        <p:spPr>
          <a:xfrm>
            <a:off x="502920" y="1371600"/>
            <a:ext cx="5532120" cy="4846320"/>
          </a:xfrm>
          <a:prstGeom prst="roundRect">
            <a:avLst>
              <a:gd name="adj" fmla="val 1321"/>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5" name="Text 3"/>
          <p:cNvSpPr/>
          <p:nvPr/>
        </p:nvSpPr>
        <p:spPr>
          <a:xfrm>
            <a:off x="777240" y="1536192"/>
            <a:ext cx="4572000" cy="274320"/>
          </a:xfrm>
          <a:prstGeom prst="rect">
            <a:avLst/>
          </a:prstGeom>
          <a:noFill/>
          <a:ln/>
        </p:spPr>
        <p:txBody>
          <a:bodyPr wrap="square" lIns="0" tIns="0" rIns="0" bIns="0" rtlCol="0" anchor="ctr"/>
          <a:lstStyle/>
          <a:p>
            <a:pPr indent="0" marL="0">
              <a:buNone/>
            </a:pPr>
            <a:r>
              <a:rPr lang="en-US" sz="1200" b="1" spc="150" kern="0" dirty="0">
                <a:solidFill>
                  <a:srgbClr val="0086B3"/>
                </a:solidFill>
                <a:latin typeface="Calibri" pitchFamily="34" charset="0"/>
                <a:ea typeface="Calibri" pitchFamily="34" charset="-122"/>
                <a:cs typeface="Calibri" pitchFamily="34" charset="-120"/>
              </a:rPr>
              <a:t>TOPOLOGY</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874520"/>
          <a:ext cx="4983480" cy="914400"/>
        </p:xfrm>
        <a:graphic>
          <a:graphicData uri="http://schemas.openxmlformats.org/drawingml/2006/table">
            <a:tbl>
              <a:tblPr/>
              <a:tblGrid>
                <a:gridCol w="914400"/>
                <a:gridCol w="2194560"/>
                <a:gridCol w="1874520"/>
              </a:tblGrid>
              <a:tr h="402336">
                <a:tc>
                  <a:txBody>
                    <a:bodyPr/>
                    <a:lstStyle/>
                    <a:p>
                      <a:pPr indent="0" marL="0">
                        <a:buNone/>
                      </a:pPr>
                      <a:r>
                        <a:rPr lang="en-US" sz="1000" b="1" dirty="0">
                          <a:solidFill>
                            <a:srgbClr val="16233B"/>
                          </a:solidFill>
                          <a:latin typeface="Calibri" pitchFamily="34" charset="0"/>
                          <a:ea typeface="Calibri" pitchFamily="34" charset="-122"/>
                          <a:cs typeface="Calibri" pitchFamily="34" charset="-120"/>
                        </a:rPr>
                        <a:t>Exchange</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ourier New" pitchFamily="34" charset="0"/>
                          <a:ea typeface="Courier New" pitchFamily="34" charset="-122"/>
                          <a:cs typeface="Courier New" pitchFamily="34" charset="-120"/>
                        </a:rPr>
                        <a:t>gympro.exchange</a:t>
                      </a:r>
                      <a:endParaRPr lang="en-US" sz="100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alibri" pitchFamily="34" charset="0"/>
                          <a:ea typeface="Calibri" pitchFamily="34" charset="-122"/>
                          <a:cs typeface="Calibri" pitchFamily="34" charset="-120"/>
                        </a:rPr>
                        <a:t>TopicExchange, durable</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r>
              <a:tr h="402336">
                <a:tc>
                  <a:txBody>
                    <a:bodyPr/>
                    <a:lstStyle/>
                    <a:p>
                      <a:pPr indent="0" marL="0">
                        <a:buNone/>
                      </a:pPr>
                      <a:r>
                        <a:rPr lang="en-US" sz="1000" b="1" dirty="0">
                          <a:solidFill>
                            <a:srgbClr val="16233B"/>
                          </a:solidFill>
                          <a:latin typeface="Calibri" pitchFamily="34" charset="0"/>
                          <a:ea typeface="Calibri" pitchFamily="34" charset="-122"/>
                          <a:cs typeface="Calibri" pitchFamily="34" charset="-120"/>
                        </a:rPr>
                        <a:t>DLX</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ourier New" pitchFamily="34" charset="0"/>
                          <a:ea typeface="Courier New" pitchFamily="34" charset="-122"/>
                          <a:cs typeface="Courier New" pitchFamily="34" charset="-120"/>
                        </a:rPr>
                        <a:t>gympro.dlx.exchange</a:t>
                      </a:r>
                      <a:endParaRPr lang="en-US" sz="100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alibri" pitchFamily="34" charset="0"/>
                          <a:ea typeface="Calibri" pitchFamily="34" charset="-122"/>
                          <a:cs typeface="Calibri" pitchFamily="34" charset="-120"/>
                        </a:rPr>
                        <a:t>TopicExchange, durable</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r>
              <a:tr h="402336">
                <a:tc>
                  <a:txBody>
                    <a:bodyPr/>
                    <a:lstStyle/>
                    <a:p>
                      <a:pPr indent="0" marL="0">
                        <a:buNone/>
                      </a:pPr>
                      <a:r>
                        <a:rPr lang="en-US" sz="1000" b="1" dirty="0">
                          <a:solidFill>
                            <a:srgbClr val="16233B"/>
                          </a:solidFill>
                          <a:latin typeface="Calibri" pitchFamily="34" charset="0"/>
                          <a:ea typeface="Calibri" pitchFamily="34" charset="-122"/>
                          <a:cs typeface="Calibri" pitchFamily="34" charset="-120"/>
                        </a:rPr>
                        <a:t>Queue</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ourier New" pitchFamily="34" charset="0"/>
                          <a:ea typeface="Courier New" pitchFamily="34" charset="-122"/>
                          <a:cs typeface="Courier New" pitchFamily="34" charset="-120"/>
                        </a:rPr>
                        <a:t>gympro.booking.queue</a:t>
                      </a:r>
                      <a:endParaRPr lang="en-US" sz="100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alibri" pitchFamily="34" charset="0"/>
                          <a:ea typeface="Calibri" pitchFamily="34" charset="-122"/>
                          <a:cs typeface="Calibri" pitchFamily="34" charset="-120"/>
                        </a:rPr>
                        <a:t>key: booking.notification</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r>
              <a:tr h="402336">
                <a:tc>
                  <a:txBody>
                    <a:bodyPr/>
                    <a:lstStyle/>
                    <a:p>
                      <a:pPr indent="0" marL="0">
                        <a:buNone/>
                      </a:pPr>
                      <a:r>
                        <a:rPr lang="en-US" sz="1000" b="1" dirty="0">
                          <a:solidFill>
                            <a:srgbClr val="16233B"/>
                          </a:solidFill>
                          <a:latin typeface="Calibri" pitchFamily="34" charset="0"/>
                          <a:ea typeface="Calibri" pitchFamily="34" charset="-122"/>
                          <a:cs typeface="Calibri" pitchFamily="34" charset="-120"/>
                        </a:rPr>
                        <a:t>Queue</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ourier New" pitchFamily="34" charset="0"/>
                          <a:ea typeface="Courier New" pitchFamily="34" charset="-122"/>
                          <a:cs typeface="Courier New" pitchFamily="34" charset="-120"/>
                        </a:rPr>
                        <a:t>gympro.payment.queue</a:t>
                      </a:r>
                      <a:endParaRPr lang="en-US" sz="100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alibri" pitchFamily="34" charset="0"/>
                          <a:ea typeface="Calibri" pitchFamily="34" charset="-122"/>
                          <a:cs typeface="Calibri" pitchFamily="34" charset="-120"/>
                        </a:rPr>
                        <a:t>key: payment.notification</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r>
              <a:tr h="402336">
                <a:tc>
                  <a:txBody>
                    <a:bodyPr/>
                    <a:lstStyle/>
                    <a:p>
                      <a:pPr indent="0" marL="0">
                        <a:buNone/>
                      </a:pPr>
                      <a:r>
                        <a:rPr lang="en-US" sz="1000" b="1" dirty="0">
                          <a:solidFill>
                            <a:srgbClr val="16233B"/>
                          </a:solidFill>
                          <a:latin typeface="Calibri" pitchFamily="34" charset="0"/>
                          <a:ea typeface="Calibri" pitchFamily="34" charset="-122"/>
                          <a:cs typeface="Calibri" pitchFamily="34" charset="-120"/>
                        </a:rPr>
                        <a:t>Queue</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ourier New" pitchFamily="34" charset="0"/>
                          <a:ea typeface="Courier New" pitchFamily="34" charset="-122"/>
                          <a:cs typeface="Courier New" pitchFamily="34" charset="-120"/>
                        </a:rPr>
                        <a:t>gympro.otp.queue</a:t>
                      </a:r>
                      <a:endParaRPr lang="en-US" sz="100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alibri" pitchFamily="34" charset="0"/>
                          <a:ea typeface="Calibri" pitchFamily="34" charset="-122"/>
                          <a:cs typeface="Calibri" pitchFamily="34" charset="-120"/>
                        </a:rPr>
                        <a:t>key: auth.otp</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r>
              <a:tr h="402336">
                <a:tc>
                  <a:txBody>
                    <a:bodyPr/>
                    <a:lstStyle/>
                    <a:p>
                      <a:pPr indent="0" marL="0">
                        <a:buNone/>
                      </a:pPr>
                      <a:r>
                        <a:rPr lang="en-US" sz="1000" b="1" dirty="0">
                          <a:solidFill>
                            <a:srgbClr val="16233B"/>
                          </a:solidFill>
                          <a:latin typeface="Calibri" pitchFamily="34" charset="0"/>
                          <a:ea typeface="Calibri" pitchFamily="34" charset="-122"/>
                          <a:cs typeface="Calibri" pitchFamily="34" charset="-120"/>
                        </a:rPr>
                        <a:t>DLQ ×3</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ourier New" pitchFamily="34" charset="0"/>
                          <a:ea typeface="Courier New" pitchFamily="34" charset="-122"/>
                          <a:cs typeface="Courier New" pitchFamily="34" charset="-120"/>
                        </a:rPr>
                        <a:t>*.dlq</a:t>
                      </a:r>
                      <a:endParaRPr lang="en-US" sz="100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c>
                  <a:txBody>
                    <a:bodyPr/>
                    <a:lstStyle/>
                    <a:p>
                      <a:pPr indent="0" marL="0">
                        <a:buNone/>
                      </a:pPr>
                      <a:r>
                        <a:rPr lang="en-US" sz="1000" dirty="0">
                          <a:solidFill>
                            <a:srgbClr val="16233B"/>
                          </a:solidFill>
                          <a:latin typeface="Calibri" pitchFamily="34" charset="0"/>
                          <a:ea typeface="Calibri" pitchFamily="34" charset="-122"/>
                          <a:cs typeface="Calibri" pitchFamily="34" charset="-120"/>
                        </a:rPr>
                        <a:t>booking / payment / otp</a:t>
                      </a:r>
                      <a:endParaRPr lang="en-US" sz="100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tcPr>
                </a:tc>
              </a:tr>
            </a:tbl>
          </a:graphicData>
        </a:graphic>
      </p:graphicFrame>
      <p:sp>
        <p:nvSpPr>
          <p:cNvPr id="7" name="Text 4"/>
          <p:cNvSpPr/>
          <p:nvPr/>
        </p:nvSpPr>
        <p:spPr>
          <a:xfrm>
            <a:off x="777240" y="4343400"/>
            <a:ext cx="4572000" cy="274320"/>
          </a:xfrm>
          <a:prstGeom prst="rect">
            <a:avLst/>
          </a:prstGeom>
          <a:noFill/>
          <a:ln/>
        </p:spPr>
        <p:txBody>
          <a:bodyPr wrap="square" lIns="0" tIns="0" rIns="0" bIns="0" rtlCol="0" anchor="ctr"/>
          <a:lstStyle/>
          <a:p>
            <a:pPr indent="0" marL="0">
              <a:buNone/>
            </a:pPr>
            <a:r>
              <a:rPr lang="en-US" sz="1200" b="1" spc="150" kern="0" dirty="0">
                <a:solidFill>
                  <a:srgbClr val="0086B3"/>
                </a:solidFill>
                <a:latin typeface="Calibri" pitchFamily="34" charset="0"/>
                <a:ea typeface="Calibri" pitchFamily="34" charset="-122"/>
                <a:cs typeface="Calibri" pitchFamily="34" charset="-120"/>
              </a:rPr>
              <a:t>PRODUCER / CONSUMER SERVICES</a:t>
            </a:r>
            <a:endParaRPr lang="en-US" sz="1200" dirty="0"/>
          </a:p>
        </p:txBody>
      </p:sp>
      <p:sp>
        <p:nvSpPr>
          <p:cNvPr id="8" name="Text 5"/>
          <p:cNvSpPr/>
          <p:nvPr/>
        </p:nvSpPr>
        <p:spPr>
          <a:xfrm>
            <a:off x="777240" y="4663440"/>
            <a:ext cx="4983480" cy="502920"/>
          </a:xfrm>
          <a:prstGeom prst="rect">
            <a:avLst/>
          </a:prstGeom>
          <a:noFill/>
          <a:ln/>
        </p:spPr>
        <p:txBody>
          <a:bodyPr wrap="square" lIns="0" tIns="0" rIns="0" bIns="0" rtlCol="0" anchor="ctr"/>
          <a:lstStyle/>
          <a:p>
            <a:pPr indent="0" marL="0">
              <a:buNone/>
            </a:pPr>
            <a:r>
              <a:rPr lang="en-US" sz="1030" b="1" dirty="0">
                <a:solidFill>
                  <a:srgbClr val="0B2545"/>
                </a:solidFill>
                <a:latin typeface="Calibri" pitchFamily="34" charset="0"/>
                <a:ea typeface="Calibri" pitchFamily="34" charset="-122"/>
                <a:cs typeface="Calibri" pitchFamily="34" charset="-120"/>
              </a:rPr>
              <a:t>Producers:  </a:t>
            </a:r>
            <a:pPr indent="0" marL="0">
              <a:buNone/>
            </a:pPr>
            <a:r>
              <a:rPr lang="en-US" sz="1030" dirty="0">
                <a:solidFill>
                  <a:srgbClr val="16233B"/>
                </a:solidFill>
                <a:latin typeface="Calibri" pitchFamily="34" charset="0"/>
                <a:ea typeface="Calibri" pitchFamily="34" charset="-122"/>
                <a:cs typeface="Calibri" pitchFamily="34" charset="-120"/>
              </a:rPr>
              <a:t>auth-service, booking-service, payment-service (all via NotificationPublisher)</a:t>
            </a:r>
            <a:endParaRPr lang="en-US" sz="1030" dirty="0"/>
          </a:p>
        </p:txBody>
      </p:sp>
      <p:sp>
        <p:nvSpPr>
          <p:cNvPr id="9" name="Text 6"/>
          <p:cNvSpPr/>
          <p:nvPr/>
        </p:nvSpPr>
        <p:spPr>
          <a:xfrm>
            <a:off x="777240" y="5074920"/>
            <a:ext cx="4983480" cy="502920"/>
          </a:xfrm>
          <a:prstGeom prst="rect">
            <a:avLst/>
          </a:prstGeom>
          <a:noFill/>
          <a:ln/>
        </p:spPr>
        <p:txBody>
          <a:bodyPr wrap="square" lIns="0" tIns="0" rIns="0" bIns="0" rtlCol="0" anchor="ctr"/>
          <a:lstStyle/>
          <a:p>
            <a:pPr indent="0" marL="0">
              <a:buNone/>
            </a:pPr>
            <a:r>
              <a:rPr lang="en-US" sz="1030" b="1" dirty="0">
                <a:solidFill>
                  <a:srgbClr val="0B2545"/>
                </a:solidFill>
                <a:latin typeface="Calibri" pitchFamily="34" charset="0"/>
                <a:ea typeface="Calibri" pitchFamily="34" charset="-122"/>
                <a:cs typeface="Calibri" pitchFamily="34" charset="-120"/>
              </a:rPr>
              <a:t>Consumer:  </a:t>
            </a:r>
            <a:pPr indent="0" marL="0">
              <a:buNone/>
            </a:pPr>
            <a:r>
              <a:rPr lang="en-US" sz="1030" dirty="0">
                <a:solidFill>
                  <a:srgbClr val="16233B"/>
                </a:solidFill>
                <a:latin typeface="Calibri" pitchFamily="34" charset="0"/>
                <a:ea typeface="Calibri" pitchFamily="34" charset="-122"/>
                <a:cs typeface="Calibri" pitchFamily="34" charset="-120"/>
              </a:rPr>
              <a:t>notification-service only (NotificationConsumer, @RabbitListener on all 3 queues)</a:t>
            </a:r>
            <a:endParaRPr lang="en-US" sz="1030" dirty="0"/>
          </a:p>
        </p:txBody>
      </p:sp>
      <p:sp>
        <p:nvSpPr>
          <p:cNvPr id="10" name="Text 7"/>
          <p:cNvSpPr/>
          <p:nvPr/>
        </p:nvSpPr>
        <p:spPr>
          <a:xfrm>
            <a:off x="777240" y="5532120"/>
            <a:ext cx="4983480" cy="594360"/>
          </a:xfrm>
          <a:prstGeom prst="rect">
            <a:avLst/>
          </a:prstGeom>
          <a:noFill/>
          <a:ln/>
        </p:spPr>
        <p:txBody>
          <a:bodyPr wrap="square" lIns="0" tIns="0" rIns="0" bIns="0" rtlCol="0" anchor="ctr"/>
          <a:lstStyle/>
          <a:p>
            <a:pPr indent="0" marL="0">
              <a:buNone/>
            </a:pPr>
            <a:r>
              <a:rPr lang="en-US" sz="1030" b="1" dirty="0">
                <a:solidFill>
                  <a:srgbClr val="C9781F"/>
                </a:solidFill>
                <a:latin typeface="Calibri" pitchFamily="34" charset="0"/>
                <a:ea typeface="Calibri" pitchFamily="34" charset="-122"/>
                <a:cs typeface="Calibri" pitchFamily="34" charset="-120"/>
              </a:rPr>
              <a:t>Outlier:  </a:t>
            </a:r>
            <a:pPr indent="0" marL="0">
              <a:buNone/>
            </a:pPr>
            <a:r>
              <a:rPr lang="en-US" sz="1030" dirty="0">
                <a:solidFill>
                  <a:srgbClr val="16233B"/>
                </a:solidFill>
                <a:latin typeface="Calibri" pitchFamily="34" charset="0"/>
                <a:ea typeface="Calibri" pitchFamily="34" charset="-122"/>
                <a:cs typeface="Calibri" pitchFamily="34" charset="-120"/>
              </a:rPr>
              <a:t>plan-service does NOT publish to RabbitMQ — it calls notification-service synchronously via OpenFeign (NotificationClient) for plan-subscription emails.</a:t>
            </a:r>
            <a:endParaRPr lang="en-US" sz="1030" dirty="0"/>
          </a:p>
        </p:txBody>
      </p:sp>
      <p:sp>
        <p:nvSpPr>
          <p:cNvPr id="11" name="Shape 8"/>
          <p:cNvSpPr/>
          <p:nvPr/>
        </p:nvSpPr>
        <p:spPr>
          <a:xfrm>
            <a:off x="6309360" y="1371600"/>
            <a:ext cx="5394960" cy="4846320"/>
          </a:xfrm>
          <a:prstGeom prst="roundRect">
            <a:avLst>
              <a:gd name="adj" fmla="val 1321"/>
            </a:avLst>
          </a:prstGeom>
          <a:solidFill>
            <a:srgbClr val="0B2545"/>
          </a:solidFill>
          <a:ln/>
          <a:effectLst>
            <a:outerShdw sx="100000" sy="100000" kx="0" ky="0" algn="bl" rotWithShape="0" blurRad="101600" dist="25400" dir="5400000">
              <a:srgbClr val="0B2545">
                <a:alpha val="10000"/>
              </a:srgbClr>
            </a:outerShdw>
          </a:effectLst>
        </p:spPr>
      </p:sp>
      <p:sp>
        <p:nvSpPr>
          <p:cNvPr id="12" name="Text 9"/>
          <p:cNvSpPr/>
          <p:nvPr/>
        </p:nvSpPr>
        <p:spPr>
          <a:xfrm>
            <a:off x="6583680" y="1554480"/>
            <a:ext cx="4846320" cy="274320"/>
          </a:xfrm>
          <a:prstGeom prst="rect">
            <a:avLst/>
          </a:prstGeom>
          <a:noFill/>
          <a:ln/>
        </p:spPr>
        <p:txBody>
          <a:bodyPr wrap="square" lIns="0" tIns="0" rIns="0" bIns="0" rtlCol="0" anchor="ctr"/>
          <a:lstStyle/>
          <a:p>
            <a:pPr indent="0" marL="0">
              <a:buNone/>
            </a:pPr>
            <a:r>
              <a:rPr lang="en-US" sz="1200" b="1" spc="150" kern="0" dirty="0">
                <a:solidFill>
                  <a:srgbClr val="00A9E0"/>
                </a:solidFill>
                <a:latin typeface="Calibri" pitchFamily="34" charset="0"/>
                <a:ea typeface="Calibri" pitchFamily="34" charset="-122"/>
                <a:cs typeface="Calibri" pitchFamily="34" charset="-120"/>
              </a:rPr>
              <a:t>RELIABILITY ENGINEERING</a:t>
            </a:r>
            <a:endParaRPr lang="en-US" sz="1200" dirty="0"/>
          </a:p>
        </p:txBody>
      </p:sp>
      <p:sp>
        <p:nvSpPr>
          <p:cNvPr id="13" name="Text 10"/>
          <p:cNvSpPr/>
          <p:nvPr/>
        </p:nvSpPr>
        <p:spPr>
          <a:xfrm>
            <a:off x="6583680" y="1920240"/>
            <a:ext cx="4846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Dead-Letter Routing</a:t>
            </a:r>
            <a:endParaRPr lang="en-US" sz="1100" dirty="0"/>
          </a:p>
        </p:txBody>
      </p:sp>
      <p:sp>
        <p:nvSpPr>
          <p:cNvPr id="14" name="Text 11"/>
          <p:cNvSpPr/>
          <p:nvPr/>
        </p:nvSpPr>
        <p:spPr>
          <a:xfrm>
            <a:off x="6720840" y="2167128"/>
            <a:ext cx="4709160" cy="411480"/>
          </a:xfrm>
          <a:prstGeom prst="rect">
            <a:avLst/>
          </a:prstGeom>
          <a:noFill/>
          <a:ln/>
        </p:spPr>
        <p:txBody>
          <a:bodyPr wrap="square" lIns="0" tIns="0" rIns="0" bIns="0" rtlCol="0" anchor="ctr"/>
          <a:lstStyle/>
          <a:p>
            <a:pPr indent="0" marL="0">
              <a:buNone/>
            </a:pPr>
            <a:r>
              <a:rPr lang="en-US" sz="920" dirty="0">
                <a:solidFill>
                  <a:srgbClr val="B9CBEA"/>
                </a:solidFill>
                <a:latin typeface="Calibri" pitchFamily="34" charset="0"/>
                <a:ea typeface="Calibri" pitchFamily="34" charset="-122"/>
                <a:cs typeface="Calibri" pitchFamily="34" charset="-120"/>
              </a:rPr>
              <a:t>Every main queue is created with x-dead-letter-exchange + x-dead-letter-routing-key args pointing at gympro.dlx.exchange.</a:t>
            </a:r>
            <a:endParaRPr lang="en-US" sz="920" dirty="0"/>
          </a:p>
        </p:txBody>
      </p:sp>
      <p:sp>
        <p:nvSpPr>
          <p:cNvPr id="15" name="Text 12"/>
          <p:cNvSpPr/>
          <p:nvPr/>
        </p:nvSpPr>
        <p:spPr>
          <a:xfrm>
            <a:off x="6583680" y="2633472"/>
            <a:ext cx="4846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Retry Interceptor</a:t>
            </a:r>
            <a:endParaRPr lang="en-US" sz="1100" dirty="0"/>
          </a:p>
        </p:txBody>
      </p:sp>
      <p:sp>
        <p:nvSpPr>
          <p:cNvPr id="16" name="Text 13"/>
          <p:cNvSpPr/>
          <p:nvPr/>
        </p:nvSpPr>
        <p:spPr>
          <a:xfrm>
            <a:off x="6720840" y="2880360"/>
            <a:ext cx="4709160" cy="411480"/>
          </a:xfrm>
          <a:prstGeom prst="rect">
            <a:avLst/>
          </a:prstGeom>
          <a:noFill/>
          <a:ln/>
        </p:spPr>
        <p:txBody>
          <a:bodyPr wrap="square" lIns="0" tIns="0" rIns="0" bIns="0" rtlCol="0" anchor="ctr"/>
          <a:lstStyle/>
          <a:p>
            <a:pPr indent="0" marL="0">
              <a:buNone/>
            </a:pPr>
            <a:r>
              <a:rPr lang="en-US" sz="920" dirty="0">
                <a:solidFill>
                  <a:srgbClr val="B9CBEA"/>
                </a:solidFill>
                <a:latin typeface="Calibri" pitchFamily="34" charset="0"/>
                <a:ea typeface="Calibri" pitchFamily="34" charset="-122"/>
                <a:cs typeface="Calibri" pitchFamily="34" charset="-120"/>
              </a:rPr>
              <a:t>RetryOperationsInterceptor: maxAttempts=3, backoff 2s → 4s → 8s (multiplier 2.0, capped 10s).</a:t>
            </a:r>
            <a:endParaRPr lang="en-US" sz="920" dirty="0"/>
          </a:p>
        </p:txBody>
      </p:sp>
      <p:sp>
        <p:nvSpPr>
          <p:cNvPr id="17" name="Text 14"/>
          <p:cNvSpPr/>
          <p:nvPr/>
        </p:nvSpPr>
        <p:spPr>
          <a:xfrm>
            <a:off x="6583680" y="3346704"/>
            <a:ext cx="4846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Recoverer</a:t>
            </a:r>
            <a:endParaRPr lang="en-US" sz="1100" dirty="0"/>
          </a:p>
        </p:txBody>
      </p:sp>
      <p:sp>
        <p:nvSpPr>
          <p:cNvPr id="18" name="Text 15"/>
          <p:cNvSpPr/>
          <p:nvPr/>
        </p:nvSpPr>
        <p:spPr>
          <a:xfrm>
            <a:off x="6720840" y="3593592"/>
            <a:ext cx="4709160" cy="411480"/>
          </a:xfrm>
          <a:prstGeom prst="rect">
            <a:avLst/>
          </a:prstGeom>
          <a:noFill/>
          <a:ln/>
        </p:spPr>
        <p:txBody>
          <a:bodyPr wrap="square" lIns="0" tIns="0" rIns="0" bIns="0" rtlCol="0" anchor="ctr"/>
          <a:lstStyle/>
          <a:p>
            <a:pPr indent="0" marL="0">
              <a:buNone/>
            </a:pPr>
            <a:r>
              <a:rPr lang="en-US" sz="920" dirty="0">
                <a:solidFill>
                  <a:srgbClr val="B9CBEA"/>
                </a:solidFill>
                <a:latin typeface="Calibri" pitchFamily="34" charset="0"/>
                <a:ea typeface="Calibri" pitchFamily="34" charset="-122"/>
                <a:cs typeface="Calibri" pitchFamily="34" charset="-120"/>
              </a:rPr>
              <a:t>RejectAndDontRequeueRecoverer — after 3 failed attempts, message is rejected (not requeued) and lands in the DLQ.</a:t>
            </a:r>
            <a:endParaRPr lang="en-US" sz="920" dirty="0"/>
          </a:p>
        </p:txBody>
      </p:sp>
      <p:sp>
        <p:nvSpPr>
          <p:cNvPr id="19" name="Text 16"/>
          <p:cNvSpPr/>
          <p:nvPr/>
        </p:nvSpPr>
        <p:spPr>
          <a:xfrm>
            <a:off x="6583680" y="4059936"/>
            <a:ext cx="4846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Listener Tuning</a:t>
            </a:r>
            <a:endParaRPr lang="en-US" sz="1100" dirty="0"/>
          </a:p>
        </p:txBody>
      </p:sp>
      <p:sp>
        <p:nvSpPr>
          <p:cNvPr id="20" name="Text 17"/>
          <p:cNvSpPr/>
          <p:nvPr/>
        </p:nvSpPr>
        <p:spPr>
          <a:xfrm>
            <a:off x="6720840" y="4306824"/>
            <a:ext cx="4709160" cy="411480"/>
          </a:xfrm>
          <a:prstGeom prst="rect">
            <a:avLst/>
          </a:prstGeom>
          <a:noFill/>
          <a:ln/>
        </p:spPr>
        <p:txBody>
          <a:bodyPr wrap="square" lIns="0" tIns="0" rIns="0" bIns="0" rtlCol="0" anchor="ctr"/>
          <a:lstStyle/>
          <a:p>
            <a:pPr indent="0" marL="0">
              <a:buNone/>
            </a:pPr>
            <a:r>
              <a:rPr lang="en-US" sz="920" dirty="0">
                <a:solidFill>
                  <a:srgbClr val="B9CBEA"/>
                </a:solidFill>
                <a:latin typeface="Calibri" pitchFamily="34" charset="0"/>
                <a:ea typeface="Calibri" pitchFamily="34" charset="-122"/>
                <a:cs typeface="Calibri" pitchFamily="34" charset="-120"/>
              </a:rPr>
              <a:t>concurrentConsumers=1, maxConcurrentConsumers=3, prefetchCount=1 for fair dispatch.</a:t>
            </a:r>
            <a:endParaRPr lang="en-US" sz="920" dirty="0"/>
          </a:p>
        </p:txBody>
      </p:sp>
      <p:sp>
        <p:nvSpPr>
          <p:cNvPr id="21" name="Text 18"/>
          <p:cNvSpPr/>
          <p:nvPr/>
        </p:nvSpPr>
        <p:spPr>
          <a:xfrm>
            <a:off x="6583680" y="4773168"/>
            <a:ext cx="4846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JSON Serialization</a:t>
            </a:r>
            <a:endParaRPr lang="en-US" sz="1100" dirty="0"/>
          </a:p>
        </p:txBody>
      </p:sp>
      <p:sp>
        <p:nvSpPr>
          <p:cNvPr id="22" name="Text 19"/>
          <p:cNvSpPr/>
          <p:nvPr/>
        </p:nvSpPr>
        <p:spPr>
          <a:xfrm>
            <a:off x="6720840" y="5020056"/>
            <a:ext cx="4709160" cy="411480"/>
          </a:xfrm>
          <a:prstGeom prst="rect">
            <a:avLst/>
          </a:prstGeom>
          <a:noFill/>
          <a:ln/>
        </p:spPr>
        <p:txBody>
          <a:bodyPr wrap="square" lIns="0" tIns="0" rIns="0" bIns="0" rtlCol="0" anchor="ctr"/>
          <a:lstStyle/>
          <a:p>
            <a:pPr indent="0" marL="0">
              <a:buNone/>
            </a:pPr>
            <a:r>
              <a:rPr lang="en-US" sz="920" dirty="0">
                <a:solidFill>
                  <a:srgbClr val="B9CBEA"/>
                </a:solidFill>
                <a:latin typeface="Calibri" pitchFamily="34" charset="0"/>
                <a:ea typeface="Calibri" pitchFamily="34" charset="-122"/>
                <a:cs typeface="Calibri" pitchFamily="34" charset="-120"/>
              </a:rPr>
              <a:t>Jackson2JsonMessageConverter on both RabbitTemplate and listener factory — human-readable payloads, no Java binary serialization.</a:t>
            </a:r>
            <a:endParaRPr lang="en-US" sz="920" dirty="0"/>
          </a:p>
        </p:txBody>
      </p:sp>
      <p:sp>
        <p:nvSpPr>
          <p:cNvPr id="23" name="Text 20"/>
          <p:cNvSpPr/>
          <p:nvPr/>
        </p:nvSpPr>
        <p:spPr>
          <a:xfrm>
            <a:off x="6583680" y="5486400"/>
            <a:ext cx="4846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Best-Effort Publish</a:t>
            </a:r>
            <a:endParaRPr lang="en-US" sz="1100" dirty="0"/>
          </a:p>
        </p:txBody>
      </p:sp>
      <p:sp>
        <p:nvSpPr>
          <p:cNvPr id="24" name="Text 21"/>
          <p:cNvSpPr/>
          <p:nvPr/>
        </p:nvSpPr>
        <p:spPr>
          <a:xfrm>
            <a:off x="6720840" y="5733288"/>
            <a:ext cx="4709160" cy="411480"/>
          </a:xfrm>
          <a:prstGeom prst="rect">
            <a:avLst/>
          </a:prstGeom>
          <a:noFill/>
          <a:ln/>
        </p:spPr>
        <p:txBody>
          <a:bodyPr wrap="square" lIns="0" tIns="0" rIns="0" bIns="0" rtlCol="0" anchor="ctr"/>
          <a:lstStyle/>
          <a:p>
            <a:pPr indent="0" marL="0">
              <a:buNone/>
            </a:pPr>
            <a:r>
              <a:rPr lang="en-US" sz="920" dirty="0">
                <a:solidFill>
                  <a:srgbClr val="B9CBEA"/>
                </a:solidFill>
                <a:latin typeface="Calibri" pitchFamily="34" charset="0"/>
                <a:ea typeface="Calibri" pitchFamily="34" charset="-122"/>
                <a:cs typeface="Calibri" pitchFamily="34" charset="-120"/>
              </a:rPr>
              <a:t>NotificationPublisher catches AmqpException and only logs — a broker outage never fails the booking/payment operation itself.</a:t>
            </a:r>
            <a:endParaRPr lang="en-US" sz="920" dirty="0"/>
          </a:p>
        </p:txBody>
      </p:sp>
      <p:sp>
        <p:nvSpPr>
          <p:cNvPr id="25" name="Text 22"/>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26" name="Text 23"/>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RabbitMQ Architecture</a:t>
            </a:r>
            <a:endParaRPr lang="en-US" sz="900" dirty="0"/>
          </a:p>
        </p:txBody>
      </p:sp>
      <p:sp>
        <p:nvSpPr>
          <p:cNvPr id="27" name="Text 24"/>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API GATEWAY</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Spring Cloud Gateway — Single Entry Point</a:t>
            </a:r>
            <a:endParaRPr lang="en-US" sz="2800" dirty="0"/>
          </a:p>
        </p:txBody>
      </p:sp>
      <p:sp>
        <p:nvSpPr>
          <p:cNvPr id="4" name="Shape 2"/>
          <p:cNvSpPr/>
          <p:nvPr/>
        </p:nvSpPr>
        <p:spPr>
          <a:xfrm>
            <a:off x="502920" y="1371600"/>
            <a:ext cx="530352" cy="530352"/>
          </a:xfrm>
          <a:prstGeom prst="ellipse">
            <a:avLst/>
          </a:prstGeom>
          <a:solidFill>
            <a:srgbClr val="EAF2FB"/>
          </a:solidFill>
          <a:ln/>
        </p:spPr>
      </p:sp>
      <p:pic>
        <p:nvPicPr>
          <p:cNvPr id="5" name="Image 0" descr="preencoded.png">    </p:cNvPr>
          <p:cNvPicPr>
            <a:picLocks noChangeAspect="1"/>
          </p:cNvPicPr>
          <p:nvPr/>
        </p:nvPicPr>
        <p:blipFill>
          <a:blip r:embed="rId1"/>
          <a:stretch>
            <a:fillRect/>
          </a:stretch>
        </p:blipFill>
        <p:spPr>
          <a:xfrm>
            <a:off x="640812" y="1509492"/>
            <a:ext cx="254569" cy="254569"/>
          </a:xfrm>
          <a:prstGeom prst="rect">
            <a:avLst/>
          </a:prstGeom>
        </p:spPr>
      </p:pic>
      <p:sp>
        <p:nvSpPr>
          <p:cNvPr id="6" name="Text 3"/>
          <p:cNvSpPr/>
          <p:nvPr/>
        </p:nvSpPr>
        <p:spPr>
          <a:xfrm>
            <a:off x="1234440" y="1353312"/>
            <a:ext cx="3108960" cy="5486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Routing</a:t>
            </a:r>
            <a:endParaRPr lang="en-US" sz="1350" dirty="0"/>
          </a:p>
        </p:txBody>
      </p:sp>
      <p:sp>
        <p:nvSpPr>
          <p:cNvPr id="7" name="Text 4"/>
          <p:cNvSpPr/>
          <p:nvPr/>
        </p:nvSpPr>
        <p:spPr>
          <a:xfrm>
            <a:off x="4480560" y="1325880"/>
            <a:ext cx="7178040" cy="594360"/>
          </a:xfrm>
          <a:prstGeom prst="rect">
            <a:avLst/>
          </a:prstGeom>
          <a:noFill/>
          <a:ln/>
        </p:spPr>
        <p:txBody>
          <a:bodyPr wrap="square" lIns="0" tIns="0" rIns="0" bIns="0" rtlCol="0" anchor="ctr"/>
          <a:lstStyle/>
          <a:p>
            <a:pPr indent="0" marL="0">
              <a:buNone/>
            </a:pPr>
            <a:r>
              <a:rPr lang="en-US" sz="1030" dirty="0">
                <a:solidFill>
                  <a:srgbClr val="5B6B85"/>
                </a:solidFill>
                <a:latin typeface="Calibri" pitchFamily="34" charset="0"/>
                <a:ea typeface="Calibri" pitchFamily="34" charset="-122"/>
                <a:cs typeface="Calibri" pitchFamily="34" charset="-120"/>
              </a:rPr>
              <a:t>25 declarative routes in application.properties — Path predicates map /auth/**, /members/**, /bookings/** etc. to lb://&lt;service-name&gt; URIs resolved via Eureka.</a:t>
            </a:r>
            <a:endParaRPr lang="en-US" sz="1030" dirty="0"/>
          </a:p>
        </p:txBody>
      </p:sp>
      <p:sp>
        <p:nvSpPr>
          <p:cNvPr id="8" name="Shape 5"/>
          <p:cNvSpPr/>
          <p:nvPr/>
        </p:nvSpPr>
        <p:spPr>
          <a:xfrm>
            <a:off x="502920" y="2212848"/>
            <a:ext cx="530352" cy="530352"/>
          </a:xfrm>
          <a:prstGeom prst="ellipse">
            <a:avLst/>
          </a:prstGeom>
          <a:solidFill>
            <a:srgbClr val="EAF2FB"/>
          </a:solidFill>
          <a:ln/>
        </p:spPr>
      </p:sp>
      <p:pic>
        <p:nvPicPr>
          <p:cNvPr id="9" name="Image 1" descr="preencoded.png">    </p:cNvPr>
          <p:cNvPicPr>
            <a:picLocks noChangeAspect="1"/>
          </p:cNvPicPr>
          <p:nvPr/>
        </p:nvPicPr>
        <p:blipFill>
          <a:blip r:embed="rId2"/>
          <a:stretch>
            <a:fillRect/>
          </a:stretch>
        </p:blipFill>
        <p:spPr>
          <a:xfrm>
            <a:off x="640812" y="2350740"/>
            <a:ext cx="254569" cy="254569"/>
          </a:xfrm>
          <a:prstGeom prst="rect">
            <a:avLst/>
          </a:prstGeom>
        </p:spPr>
      </p:pic>
      <p:sp>
        <p:nvSpPr>
          <p:cNvPr id="10" name="Text 6"/>
          <p:cNvSpPr/>
          <p:nvPr/>
        </p:nvSpPr>
        <p:spPr>
          <a:xfrm>
            <a:off x="1234440" y="2194560"/>
            <a:ext cx="3108960" cy="5486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Authentication</a:t>
            </a:r>
            <a:endParaRPr lang="en-US" sz="1350" dirty="0"/>
          </a:p>
        </p:txBody>
      </p:sp>
      <p:sp>
        <p:nvSpPr>
          <p:cNvPr id="11" name="Text 7"/>
          <p:cNvSpPr/>
          <p:nvPr/>
        </p:nvSpPr>
        <p:spPr>
          <a:xfrm>
            <a:off x="4480560" y="2167128"/>
            <a:ext cx="7178040" cy="594360"/>
          </a:xfrm>
          <a:prstGeom prst="rect">
            <a:avLst/>
          </a:prstGeom>
          <a:noFill/>
          <a:ln/>
        </p:spPr>
        <p:txBody>
          <a:bodyPr wrap="square" lIns="0" tIns="0" rIns="0" bIns="0" rtlCol="0" anchor="ctr"/>
          <a:lstStyle/>
          <a:p>
            <a:pPr indent="0" marL="0">
              <a:buNone/>
            </a:pPr>
            <a:r>
              <a:rPr lang="en-US" sz="1030" dirty="0">
                <a:solidFill>
                  <a:srgbClr val="5B6B85"/>
                </a:solidFill>
                <a:latin typeface="Calibri" pitchFamily="34" charset="0"/>
                <a:ea typeface="Calibri" pitchFamily="34" charset="-122"/>
                <a:cs typeface="Calibri" pitchFamily="34" charset="-120"/>
              </a:rPr>
              <a:t>JwtAuthFilter runs first (order=-1) on every request, rejecting invalid/missing tokens with 401 before any routing occurs.</a:t>
            </a:r>
            <a:endParaRPr lang="en-US" sz="1030" dirty="0"/>
          </a:p>
        </p:txBody>
      </p:sp>
      <p:sp>
        <p:nvSpPr>
          <p:cNvPr id="12" name="Shape 8"/>
          <p:cNvSpPr/>
          <p:nvPr/>
        </p:nvSpPr>
        <p:spPr>
          <a:xfrm>
            <a:off x="502920" y="3054096"/>
            <a:ext cx="530352" cy="530352"/>
          </a:xfrm>
          <a:prstGeom prst="ellipse">
            <a:avLst/>
          </a:prstGeom>
          <a:solidFill>
            <a:srgbClr val="EAF2FB"/>
          </a:solidFill>
          <a:ln/>
        </p:spPr>
      </p:sp>
      <p:pic>
        <p:nvPicPr>
          <p:cNvPr id="13" name="Image 2" descr="preencoded.png">    </p:cNvPr>
          <p:cNvPicPr>
            <a:picLocks noChangeAspect="1"/>
          </p:cNvPicPr>
          <p:nvPr/>
        </p:nvPicPr>
        <p:blipFill>
          <a:blip r:embed="rId3"/>
          <a:stretch>
            <a:fillRect/>
          </a:stretch>
        </p:blipFill>
        <p:spPr>
          <a:xfrm>
            <a:off x="640812" y="3191988"/>
            <a:ext cx="254569" cy="254569"/>
          </a:xfrm>
          <a:prstGeom prst="rect">
            <a:avLst/>
          </a:prstGeom>
        </p:spPr>
      </p:pic>
      <p:sp>
        <p:nvSpPr>
          <p:cNvPr id="14" name="Text 9"/>
          <p:cNvSpPr/>
          <p:nvPr/>
        </p:nvSpPr>
        <p:spPr>
          <a:xfrm>
            <a:off x="1234440" y="3035808"/>
            <a:ext cx="3108960" cy="5486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Load Balancing</a:t>
            </a:r>
            <a:endParaRPr lang="en-US" sz="1350" dirty="0"/>
          </a:p>
        </p:txBody>
      </p:sp>
      <p:sp>
        <p:nvSpPr>
          <p:cNvPr id="15" name="Text 10"/>
          <p:cNvSpPr/>
          <p:nvPr/>
        </p:nvSpPr>
        <p:spPr>
          <a:xfrm>
            <a:off x="4480560" y="3008376"/>
            <a:ext cx="7178040" cy="594360"/>
          </a:xfrm>
          <a:prstGeom prst="rect">
            <a:avLst/>
          </a:prstGeom>
          <a:noFill/>
          <a:ln/>
        </p:spPr>
        <p:txBody>
          <a:bodyPr wrap="square" lIns="0" tIns="0" rIns="0" bIns="0" rtlCol="0" anchor="ctr"/>
          <a:lstStyle/>
          <a:p>
            <a:pPr indent="0" marL="0">
              <a:buNone/>
            </a:pPr>
            <a:r>
              <a:rPr lang="en-US" sz="1030" dirty="0">
                <a:solidFill>
                  <a:srgbClr val="5B6B85"/>
                </a:solidFill>
                <a:latin typeface="Calibri" pitchFamily="34" charset="0"/>
                <a:ea typeface="Calibri" pitchFamily="34" charset="-122"/>
                <a:cs typeface="Calibri" pitchFamily="34" charset="-120"/>
              </a:rPr>
              <a:t>lb:// URI scheme delegates to Spring Cloud LoadBalancer, round-robin across all registered instances of a service in Eureka.</a:t>
            </a:r>
            <a:endParaRPr lang="en-US" sz="1030" dirty="0"/>
          </a:p>
        </p:txBody>
      </p:sp>
      <p:sp>
        <p:nvSpPr>
          <p:cNvPr id="16" name="Shape 11"/>
          <p:cNvSpPr/>
          <p:nvPr/>
        </p:nvSpPr>
        <p:spPr>
          <a:xfrm>
            <a:off x="502920" y="3895344"/>
            <a:ext cx="530352" cy="530352"/>
          </a:xfrm>
          <a:prstGeom prst="ellipse">
            <a:avLst/>
          </a:prstGeom>
          <a:solidFill>
            <a:srgbClr val="EAF2FB"/>
          </a:solidFill>
          <a:ln/>
        </p:spPr>
      </p:sp>
      <p:pic>
        <p:nvPicPr>
          <p:cNvPr id="17" name="Image 3" descr="preencoded.png">    </p:cNvPr>
          <p:cNvPicPr>
            <a:picLocks noChangeAspect="1"/>
          </p:cNvPicPr>
          <p:nvPr/>
        </p:nvPicPr>
        <p:blipFill>
          <a:blip r:embed="rId4"/>
          <a:stretch>
            <a:fillRect/>
          </a:stretch>
        </p:blipFill>
        <p:spPr>
          <a:xfrm>
            <a:off x="640812" y="4033236"/>
            <a:ext cx="254569" cy="254569"/>
          </a:xfrm>
          <a:prstGeom prst="rect">
            <a:avLst/>
          </a:prstGeom>
        </p:spPr>
      </p:pic>
      <p:sp>
        <p:nvSpPr>
          <p:cNvPr id="18" name="Text 12"/>
          <p:cNvSpPr/>
          <p:nvPr/>
        </p:nvSpPr>
        <p:spPr>
          <a:xfrm>
            <a:off x="1234440" y="3877056"/>
            <a:ext cx="3108960" cy="5486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CORS</a:t>
            </a:r>
            <a:endParaRPr lang="en-US" sz="1350" dirty="0"/>
          </a:p>
        </p:txBody>
      </p:sp>
      <p:sp>
        <p:nvSpPr>
          <p:cNvPr id="19" name="Text 13"/>
          <p:cNvSpPr/>
          <p:nvPr/>
        </p:nvSpPr>
        <p:spPr>
          <a:xfrm>
            <a:off x="4480560" y="3849624"/>
            <a:ext cx="7178040" cy="594360"/>
          </a:xfrm>
          <a:prstGeom prst="rect">
            <a:avLst/>
          </a:prstGeom>
          <a:noFill/>
          <a:ln/>
        </p:spPr>
        <p:txBody>
          <a:bodyPr wrap="square" lIns="0" tIns="0" rIns="0" bIns="0" rtlCol="0" anchor="ctr"/>
          <a:lstStyle/>
          <a:p>
            <a:pPr indent="0" marL="0">
              <a:buNone/>
            </a:pPr>
            <a:r>
              <a:rPr lang="en-US" sz="1030" dirty="0">
                <a:solidFill>
                  <a:srgbClr val="5B6B85"/>
                </a:solidFill>
                <a:latin typeface="Calibri" pitchFamily="34" charset="0"/>
                <a:ea typeface="Calibri" pitchFamily="34" charset="-122"/>
                <a:cs typeface="Calibri" pitchFamily="34" charset="-120"/>
              </a:rPr>
              <a:t>CorsWebFilter (reactive, not WebMvcConfigurer) allows configurable origins — defaults to Vite dev server ports 3000/5173.</a:t>
            </a:r>
            <a:endParaRPr lang="en-US" sz="1030" dirty="0"/>
          </a:p>
        </p:txBody>
      </p:sp>
      <p:sp>
        <p:nvSpPr>
          <p:cNvPr id="20" name="Shape 14"/>
          <p:cNvSpPr/>
          <p:nvPr/>
        </p:nvSpPr>
        <p:spPr>
          <a:xfrm>
            <a:off x="502920" y="4736592"/>
            <a:ext cx="530352" cy="530352"/>
          </a:xfrm>
          <a:prstGeom prst="ellipse">
            <a:avLst/>
          </a:prstGeom>
          <a:solidFill>
            <a:srgbClr val="EAF2FB"/>
          </a:solidFill>
          <a:ln/>
        </p:spPr>
      </p:sp>
      <p:pic>
        <p:nvPicPr>
          <p:cNvPr id="21" name="Image 4" descr="preencoded.png">    </p:cNvPr>
          <p:cNvPicPr>
            <a:picLocks noChangeAspect="1"/>
          </p:cNvPicPr>
          <p:nvPr/>
        </p:nvPicPr>
        <p:blipFill>
          <a:blip r:embed="rId5"/>
          <a:stretch>
            <a:fillRect/>
          </a:stretch>
        </p:blipFill>
        <p:spPr>
          <a:xfrm>
            <a:off x="640812" y="4874484"/>
            <a:ext cx="254569" cy="254569"/>
          </a:xfrm>
          <a:prstGeom prst="rect">
            <a:avLst/>
          </a:prstGeom>
        </p:spPr>
      </p:pic>
      <p:sp>
        <p:nvSpPr>
          <p:cNvPr id="22" name="Text 15"/>
          <p:cNvSpPr/>
          <p:nvPr/>
        </p:nvSpPr>
        <p:spPr>
          <a:xfrm>
            <a:off x="1234440" y="4718304"/>
            <a:ext cx="3108960" cy="54864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Path Rewriting</a:t>
            </a:r>
            <a:endParaRPr lang="en-US" sz="1350" dirty="0"/>
          </a:p>
        </p:txBody>
      </p:sp>
      <p:sp>
        <p:nvSpPr>
          <p:cNvPr id="23" name="Text 16"/>
          <p:cNvSpPr/>
          <p:nvPr/>
        </p:nvSpPr>
        <p:spPr>
          <a:xfrm>
            <a:off x="4480560" y="4690872"/>
            <a:ext cx="7178040" cy="594360"/>
          </a:xfrm>
          <a:prstGeom prst="rect">
            <a:avLst/>
          </a:prstGeom>
          <a:noFill/>
          <a:ln/>
        </p:spPr>
        <p:txBody>
          <a:bodyPr wrap="square" lIns="0" tIns="0" rIns="0" bIns="0" rtlCol="0" anchor="ctr"/>
          <a:lstStyle/>
          <a:p>
            <a:pPr indent="0" marL="0">
              <a:buNone/>
            </a:pPr>
            <a:r>
              <a:rPr lang="en-US" sz="1030" dirty="0">
                <a:solidFill>
                  <a:srgbClr val="5B6B85"/>
                </a:solidFill>
                <a:latin typeface="Calibri" pitchFamily="34" charset="0"/>
                <a:ea typeface="Calibri" pitchFamily="34" charset="-122"/>
                <a:cs typeface="Calibri" pitchFamily="34" charset="-120"/>
              </a:rPr>
              <a:t>RewritePath filters strip service prefixes for actuator and api-docs routes, e.g. /auth/actuator/** → /actuator/**.</a:t>
            </a:r>
            <a:endParaRPr lang="en-US" sz="1030" dirty="0"/>
          </a:p>
        </p:txBody>
      </p:sp>
      <p:sp>
        <p:nvSpPr>
          <p:cNvPr id="24" name="Shape 17"/>
          <p:cNvSpPr/>
          <p:nvPr/>
        </p:nvSpPr>
        <p:spPr>
          <a:xfrm>
            <a:off x="502920" y="5623560"/>
            <a:ext cx="11155680" cy="777240"/>
          </a:xfrm>
          <a:prstGeom prst="roundRect">
            <a:avLst>
              <a:gd name="adj" fmla="val 8235"/>
            </a:avLst>
          </a:prstGeom>
          <a:solidFill>
            <a:srgbClr val="EAF2FB"/>
          </a:solidFill>
          <a:ln/>
        </p:spPr>
      </p:sp>
      <p:sp>
        <p:nvSpPr>
          <p:cNvPr id="25" name="Text 18"/>
          <p:cNvSpPr/>
          <p:nvPr/>
        </p:nvSpPr>
        <p:spPr>
          <a:xfrm>
            <a:off x="777240" y="5623560"/>
            <a:ext cx="10607040" cy="777240"/>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Actual config snippet:  </a:t>
            </a:r>
            <a:pPr indent="0" marL="0">
              <a:buNone/>
            </a:pPr>
            <a:r>
              <a:rPr lang="en-US" sz="1000" dirty="0">
                <a:solidFill>
                  <a:srgbClr val="16233B"/>
                </a:solidFill>
                <a:latin typeface="Courier New" pitchFamily="34" charset="0"/>
                <a:ea typeface="Courier New" pitchFamily="34" charset="-122"/>
                <a:cs typeface="Courier New" pitchFamily="34" charset="-120"/>
              </a:rPr>
              <a:t>spring.cloud.gateway.routes[8].id=auth-service · uri=lb://auth-service · predicates[0]=Path=/auth/**  —  16 primary service routes + 9 actuator/api-docs routes.</a:t>
            </a:r>
            <a:endParaRPr lang="en-US" sz="1000" dirty="0"/>
          </a:p>
        </p:txBody>
      </p:sp>
      <p:sp>
        <p:nvSpPr>
          <p:cNvPr id="26" name="Text 19"/>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27" name="Text 20"/>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API Gateway</a:t>
            </a:r>
            <a:endParaRPr lang="en-US" sz="900" dirty="0"/>
          </a:p>
        </p:txBody>
      </p:sp>
      <p:sp>
        <p:nvSpPr>
          <p:cNvPr id="28" name="Text 21"/>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SERVICE DISCOVERY</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Eureka Discovery Server</a:t>
            </a:r>
            <a:endParaRPr lang="en-US" sz="2800" dirty="0"/>
          </a:p>
        </p:txBody>
      </p:sp>
      <p:sp>
        <p:nvSpPr>
          <p:cNvPr id="4" name="Shape 2"/>
          <p:cNvSpPr/>
          <p:nvPr/>
        </p:nvSpPr>
        <p:spPr>
          <a:xfrm>
            <a:off x="5166360" y="3154680"/>
            <a:ext cx="1828800" cy="1005840"/>
          </a:xfrm>
          <a:prstGeom prst="roundRect">
            <a:avLst>
              <a:gd name="adj" fmla="val 5455"/>
            </a:avLst>
          </a:prstGeom>
          <a:solidFill>
            <a:srgbClr val="0B2545"/>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5" name="Text 3"/>
          <p:cNvSpPr/>
          <p:nvPr/>
        </p:nvSpPr>
        <p:spPr>
          <a:xfrm>
            <a:off x="5166360" y="3154680"/>
            <a:ext cx="1828800" cy="100584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Eureka Server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:8761</a:t>
            </a:r>
            <a:endParaRPr lang="en-US" sz="1300" dirty="0"/>
          </a:p>
        </p:txBody>
      </p:sp>
      <p:sp>
        <p:nvSpPr>
          <p:cNvPr id="6" name="Shape 4"/>
          <p:cNvSpPr/>
          <p:nvPr/>
        </p:nvSpPr>
        <p:spPr>
          <a:xfrm>
            <a:off x="6080760" y="1745590"/>
            <a:ext cx="9144" cy="1912010"/>
          </a:xfrm>
          <a:prstGeom prst="line">
            <a:avLst/>
          </a:prstGeom>
          <a:noFill/>
          <a:ln w="12700">
            <a:solidFill>
              <a:srgbClr val="00A9E0"/>
            </a:solidFill>
            <a:prstDash val="dash"/>
          </a:ln>
        </p:spPr>
      </p:sp>
      <p:sp>
        <p:nvSpPr>
          <p:cNvPr id="7" name="Shape 5"/>
          <p:cNvSpPr/>
          <p:nvPr/>
        </p:nvSpPr>
        <p:spPr>
          <a:xfrm>
            <a:off x="5394960" y="1489558"/>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8" name="Text 6"/>
          <p:cNvSpPr/>
          <p:nvPr/>
        </p:nvSpPr>
        <p:spPr>
          <a:xfrm>
            <a:off x="5394960" y="1489558"/>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gateway</a:t>
            </a:r>
            <a:endParaRPr lang="en-US" sz="950" dirty="0"/>
          </a:p>
        </p:txBody>
      </p:sp>
      <p:sp>
        <p:nvSpPr>
          <p:cNvPr id="9" name="Shape 7"/>
          <p:cNvSpPr/>
          <p:nvPr/>
        </p:nvSpPr>
        <p:spPr>
          <a:xfrm>
            <a:off x="6080760" y="2192915"/>
            <a:ext cx="1498801" cy="1464685"/>
          </a:xfrm>
          <a:prstGeom prst="line">
            <a:avLst/>
          </a:prstGeom>
          <a:noFill/>
          <a:ln w="12700">
            <a:solidFill>
              <a:srgbClr val="00A9E0"/>
            </a:solidFill>
            <a:prstDash val="dash"/>
          </a:ln>
        </p:spPr>
      </p:sp>
      <p:sp>
        <p:nvSpPr>
          <p:cNvPr id="10" name="Shape 8"/>
          <p:cNvSpPr/>
          <p:nvPr/>
        </p:nvSpPr>
        <p:spPr>
          <a:xfrm>
            <a:off x="6893761" y="1936883"/>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1" name="Text 9"/>
          <p:cNvSpPr/>
          <p:nvPr/>
        </p:nvSpPr>
        <p:spPr>
          <a:xfrm>
            <a:off x="6893761" y="1936883"/>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auth</a:t>
            </a:r>
            <a:endParaRPr lang="en-US" sz="950" dirty="0"/>
          </a:p>
        </p:txBody>
      </p:sp>
      <p:sp>
        <p:nvSpPr>
          <p:cNvPr id="12" name="Shape 10"/>
          <p:cNvSpPr/>
          <p:nvPr/>
        </p:nvSpPr>
        <p:spPr>
          <a:xfrm>
            <a:off x="6080760" y="3325583"/>
            <a:ext cx="2296296" cy="332017"/>
          </a:xfrm>
          <a:prstGeom prst="line">
            <a:avLst/>
          </a:prstGeom>
          <a:noFill/>
          <a:ln w="12700">
            <a:solidFill>
              <a:srgbClr val="00A9E0"/>
            </a:solidFill>
            <a:prstDash val="dash"/>
          </a:ln>
        </p:spPr>
      </p:sp>
      <p:sp>
        <p:nvSpPr>
          <p:cNvPr id="13" name="Shape 11"/>
          <p:cNvSpPr/>
          <p:nvPr/>
        </p:nvSpPr>
        <p:spPr>
          <a:xfrm>
            <a:off x="7691256" y="3069551"/>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4" name="Text 12"/>
          <p:cNvSpPr/>
          <p:nvPr/>
        </p:nvSpPr>
        <p:spPr>
          <a:xfrm>
            <a:off x="7691256" y="3069551"/>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member</a:t>
            </a:r>
            <a:endParaRPr lang="en-US" sz="950" dirty="0"/>
          </a:p>
        </p:txBody>
      </p:sp>
      <p:sp>
        <p:nvSpPr>
          <p:cNvPr id="15" name="Shape 13"/>
          <p:cNvSpPr/>
          <p:nvPr/>
        </p:nvSpPr>
        <p:spPr>
          <a:xfrm>
            <a:off x="6080760" y="3657600"/>
            <a:ext cx="2019329" cy="956005"/>
          </a:xfrm>
          <a:prstGeom prst="line">
            <a:avLst/>
          </a:prstGeom>
          <a:noFill/>
          <a:ln w="12700">
            <a:solidFill>
              <a:srgbClr val="00A9E0"/>
            </a:solidFill>
            <a:prstDash val="dash"/>
          </a:ln>
        </p:spPr>
      </p:sp>
      <p:sp>
        <p:nvSpPr>
          <p:cNvPr id="16" name="Shape 14"/>
          <p:cNvSpPr/>
          <p:nvPr/>
        </p:nvSpPr>
        <p:spPr>
          <a:xfrm>
            <a:off x="7414289" y="4357573"/>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7" name="Text 15"/>
          <p:cNvSpPr/>
          <p:nvPr/>
        </p:nvSpPr>
        <p:spPr>
          <a:xfrm>
            <a:off x="7414289" y="4357573"/>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trainer</a:t>
            </a:r>
            <a:endParaRPr lang="en-US" sz="950" dirty="0"/>
          </a:p>
        </p:txBody>
      </p:sp>
      <p:sp>
        <p:nvSpPr>
          <p:cNvPr id="18" name="Shape 16"/>
          <p:cNvSpPr/>
          <p:nvPr/>
        </p:nvSpPr>
        <p:spPr>
          <a:xfrm>
            <a:off x="6080760" y="3657600"/>
            <a:ext cx="797495" cy="1796702"/>
          </a:xfrm>
          <a:prstGeom prst="line">
            <a:avLst/>
          </a:prstGeom>
          <a:noFill/>
          <a:ln w="12700">
            <a:solidFill>
              <a:srgbClr val="00A9E0"/>
            </a:solidFill>
            <a:prstDash val="dash"/>
          </a:ln>
        </p:spPr>
      </p:sp>
      <p:sp>
        <p:nvSpPr>
          <p:cNvPr id="19" name="Shape 17"/>
          <p:cNvSpPr/>
          <p:nvPr/>
        </p:nvSpPr>
        <p:spPr>
          <a:xfrm>
            <a:off x="6192455" y="5198270"/>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0" name="Text 18"/>
          <p:cNvSpPr/>
          <p:nvPr/>
        </p:nvSpPr>
        <p:spPr>
          <a:xfrm>
            <a:off x="6192455" y="5198270"/>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plan</a:t>
            </a:r>
            <a:endParaRPr lang="en-US" sz="950" dirty="0"/>
          </a:p>
        </p:txBody>
      </p:sp>
      <p:sp>
        <p:nvSpPr>
          <p:cNvPr id="21" name="Shape 19"/>
          <p:cNvSpPr/>
          <p:nvPr/>
        </p:nvSpPr>
        <p:spPr>
          <a:xfrm>
            <a:off x="5283265" y="3657600"/>
            <a:ext cx="797495" cy="1796702"/>
          </a:xfrm>
          <a:prstGeom prst="line">
            <a:avLst/>
          </a:prstGeom>
          <a:noFill/>
          <a:ln w="12700">
            <a:solidFill>
              <a:srgbClr val="00A9E0"/>
            </a:solidFill>
            <a:prstDash val="dash"/>
          </a:ln>
        </p:spPr>
      </p:sp>
      <p:sp>
        <p:nvSpPr>
          <p:cNvPr id="22" name="Shape 20"/>
          <p:cNvSpPr/>
          <p:nvPr/>
        </p:nvSpPr>
        <p:spPr>
          <a:xfrm>
            <a:off x="4597465" y="5198270"/>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3" name="Text 21"/>
          <p:cNvSpPr/>
          <p:nvPr/>
        </p:nvSpPr>
        <p:spPr>
          <a:xfrm>
            <a:off x="4597465" y="5198270"/>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booking</a:t>
            </a:r>
            <a:endParaRPr lang="en-US" sz="950" dirty="0"/>
          </a:p>
        </p:txBody>
      </p:sp>
      <p:sp>
        <p:nvSpPr>
          <p:cNvPr id="24" name="Shape 22"/>
          <p:cNvSpPr/>
          <p:nvPr/>
        </p:nvSpPr>
        <p:spPr>
          <a:xfrm>
            <a:off x="4061431" y="3657600"/>
            <a:ext cx="2019329" cy="956005"/>
          </a:xfrm>
          <a:prstGeom prst="line">
            <a:avLst/>
          </a:prstGeom>
          <a:noFill/>
          <a:ln w="12700">
            <a:solidFill>
              <a:srgbClr val="00A9E0"/>
            </a:solidFill>
            <a:prstDash val="dash"/>
          </a:ln>
        </p:spPr>
      </p:sp>
      <p:sp>
        <p:nvSpPr>
          <p:cNvPr id="25" name="Shape 23"/>
          <p:cNvSpPr/>
          <p:nvPr/>
        </p:nvSpPr>
        <p:spPr>
          <a:xfrm>
            <a:off x="3375631" y="4357573"/>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6" name="Text 24"/>
          <p:cNvSpPr/>
          <p:nvPr/>
        </p:nvSpPr>
        <p:spPr>
          <a:xfrm>
            <a:off x="3375631" y="4357573"/>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notification</a:t>
            </a:r>
            <a:endParaRPr lang="en-US" sz="950" dirty="0"/>
          </a:p>
        </p:txBody>
      </p:sp>
      <p:sp>
        <p:nvSpPr>
          <p:cNvPr id="27" name="Shape 25"/>
          <p:cNvSpPr/>
          <p:nvPr/>
        </p:nvSpPr>
        <p:spPr>
          <a:xfrm>
            <a:off x="3784464" y="3325583"/>
            <a:ext cx="2296296" cy="332017"/>
          </a:xfrm>
          <a:prstGeom prst="line">
            <a:avLst/>
          </a:prstGeom>
          <a:noFill/>
          <a:ln w="12700">
            <a:solidFill>
              <a:srgbClr val="00A9E0"/>
            </a:solidFill>
            <a:prstDash val="dash"/>
          </a:ln>
        </p:spPr>
      </p:sp>
      <p:sp>
        <p:nvSpPr>
          <p:cNvPr id="28" name="Shape 26"/>
          <p:cNvSpPr/>
          <p:nvPr/>
        </p:nvSpPr>
        <p:spPr>
          <a:xfrm>
            <a:off x="3098664" y="3069551"/>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9" name="Text 27"/>
          <p:cNvSpPr/>
          <p:nvPr/>
        </p:nvSpPr>
        <p:spPr>
          <a:xfrm>
            <a:off x="3098664" y="3069551"/>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payment</a:t>
            </a:r>
            <a:endParaRPr lang="en-US" sz="950" dirty="0"/>
          </a:p>
        </p:txBody>
      </p:sp>
      <p:sp>
        <p:nvSpPr>
          <p:cNvPr id="30" name="Shape 28"/>
          <p:cNvSpPr/>
          <p:nvPr/>
        </p:nvSpPr>
        <p:spPr>
          <a:xfrm>
            <a:off x="4581959" y="2192915"/>
            <a:ext cx="1498801" cy="1464685"/>
          </a:xfrm>
          <a:prstGeom prst="line">
            <a:avLst/>
          </a:prstGeom>
          <a:noFill/>
          <a:ln w="12700">
            <a:solidFill>
              <a:srgbClr val="00A9E0"/>
            </a:solidFill>
            <a:prstDash val="dash"/>
          </a:ln>
        </p:spPr>
      </p:sp>
      <p:sp>
        <p:nvSpPr>
          <p:cNvPr id="31" name="Shape 29"/>
          <p:cNvSpPr/>
          <p:nvPr/>
        </p:nvSpPr>
        <p:spPr>
          <a:xfrm>
            <a:off x="3896159" y="1936883"/>
            <a:ext cx="1371600" cy="512064"/>
          </a:xfrm>
          <a:prstGeom prst="roundRect">
            <a:avLst>
              <a:gd name="adj" fmla="val 10714"/>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32" name="Text 30"/>
          <p:cNvSpPr/>
          <p:nvPr/>
        </p:nvSpPr>
        <p:spPr>
          <a:xfrm>
            <a:off x="3896159" y="1936883"/>
            <a:ext cx="1371600" cy="512064"/>
          </a:xfrm>
          <a:prstGeom prst="rect">
            <a:avLst/>
          </a:prstGeom>
          <a:noFill/>
          <a:ln/>
        </p:spPr>
        <p:txBody>
          <a:bodyPr wrap="square" lIns="38100" tIns="38100" rIns="38100" bIns="3810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chatbot</a:t>
            </a:r>
            <a:endParaRPr lang="en-US" sz="950" dirty="0"/>
          </a:p>
        </p:txBody>
      </p:sp>
      <p:sp>
        <p:nvSpPr>
          <p:cNvPr id="33" name="Shape 31"/>
          <p:cNvSpPr/>
          <p:nvPr/>
        </p:nvSpPr>
        <p:spPr>
          <a:xfrm>
            <a:off x="502920" y="5806440"/>
            <a:ext cx="11155680" cy="685800"/>
          </a:xfrm>
          <a:prstGeom prst="roundRect">
            <a:avLst>
              <a:gd name="adj" fmla="val 9333"/>
            </a:avLst>
          </a:prstGeom>
          <a:solidFill>
            <a:srgbClr val="EAF2FB"/>
          </a:solidFill>
          <a:ln/>
        </p:spPr>
      </p:sp>
      <p:sp>
        <p:nvSpPr>
          <p:cNvPr id="34" name="Text 32"/>
          <p:cNvSpPr/>
          <p:nvPr/>
        </p:nvSpPr>
        <p:spPr>
          <a:xfrm>
            <a:off x="777240" y="5806440"/>
            <a:ext cx="10607040" cy="685800"/>
          </a:xfrm>
          <a:prstGeom prst="rect">
            <a:avLst/>
          </a:prstGeom>
          <a:noFill/>
          <a:ln/>
        </p:spPr>
        <p:txBody>
          <a:bodyPr wrap="square" lIns="0" tIns="0" rIns="0" bIns="0" rtlCol="0" anchor="ctr"/>
          <a:lstStyle/>
          <a:p>
            <a:pPr indent="0" marL="0">
              <a:buNone/>
            </a:pPr>
            <a:r>
              <a:rPr lang="en-US" sz="1030" b="1" dirty="0">
                <a:solidFill>
                  <a:srgbClr val="0B2545"/>
                </a:solidFill>
                <a:latin typeface="Calibri" pitchFamily="34" charset="0"/>
                <a:ea typeface="Calibri" pitchFamily="34" charset="-122"/>
                <a:cs typeface="Calibri" pitchFamily="34" charset="-120"/>
              </a:rPr>
              <a:t>Registration &amp; Discovery:  </a:t>
            </a:r>
            <a:pPr indent="0" marL="0">
              <a:buNone/>
            </a:pPr>
            <a:r>
              <a:rPr lang="en-US" sz="1030" dirty="0">
                <a:solidFill>
                  <a:srgbClr val="16233B"/>
                </a:solidFill>
                <a:latin typeface="Calibri" pitchFamily="34" charset="0"/>
                <a:ea typeface="Calibri" pitchFamily="34" charset="-122"/>
                <a:cs typeface="Calibri" pitchFamily="34" charset="-120"/>
              </a:rPr>
              <a:t>Every service sets eureka.client.service-url.defaultZone=http://localhost:8761/eureka and registers under spring.application.name. Gateway resolves lb://service-name to a live instance without hardcoded hostnames or ports.</a:t>
            </a:r>
            <a:endParaRPr lang="en-US" sz="1030" dirty="0"/>
          </a:p>
        </p:txBody>
      </p:sp>
      <p:sp>
        <p:nvSpPr>
          <p:cNvPr id="35" name="Text 33"/>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36" name="Text 34"/>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Eureka Discovery Server</a:t>
            </a:r>
            <a:endParaRPr lang="en-US" sz="900" dirty="0"/>
          </a:p>
        </p:txBody>
      </p:sp>
      <p:sp>
        <p:nvSpPr>
          <p:cNvPr id="37" name="Text 35"/>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REST API DESIGN</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API Conventions &amp; Swagger / OpenAPI</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5577840" cy="914400"/>
        </p:xfrm>
        <a:graphic>
          <a:graphicData uri="http://schemas.openxmlformats.org/drawingml/2006/table">
            <a:tbl>
              <a:tblPr/>
              <a:tblGrid>
                <a:gridCol w="1005840"/>
                <a:gridCol w="2834640"/>
                <a:gridCol w="1737360"/>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0B254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Convention</a:t>
                      </a:r>
                      <a:endParaRPr lang="en-US" sz="11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0B2545"/>
                    </a:solidFill>
                  </a:tcPr>
                </a:tc>
                <a:tc>
                  <a:txBody>
                    <a:bodyPr/>
                    <a:lstStyle/>
                    <a:p>
                      <a:pPr indent="0" marL="0">
                        <a:buNone/>
                      </a:pPr>
                      <a:r>
                        <a:rPr lang="en-US" sz="1150" b="1" dirty="0">
                          <a:solidFill>
                            <a:srgbClr val="FFFFFF"/>
                          </a:solidFill>
                          <a:latin typeface="Courier New" pitchFamily="34" charset="0"/>
                          <a:ea typeface="Courier New" pitchFamily="34" charset="-122"/>
                          <a:cs typeface="Courier New" pitchFamily="34" charset="-120"/>
                        </a:rPr>
                        <a:t>Example</a:t>
                      </a:r>
                      <a:endParaRPr lang="en-US" sz="115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0B2545"/>
                    </a:solidFill>
                  </a:tcPr>
                </a:tc>
              </a:tr>
              <a:tr h="475488">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POST</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Create a resource / trigger an action</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indent="0" marL="0">
                        <a:buNone/>
                      </a:pPr>
                      <a:r>
                        <a:rPr lang="en-US" sz="1050" dirty="0">
                          <a:solidFill>
                            <a:srgbClr val="16233B"/>
                          </a:solidFill>
                          <a:latin typeface="Courier New" pitchFamily="34" charset="0"/>
                          <a:ea typeface="Courier New" pitchFamily="34" charset="-122"/>
                          <a:cs typeface="Courier New" pitchFamily="34" charset="-120"/>
                        </a:rPr>
                        <a:t>POST /bookings/create</a:t>
                      </a:r>
                      <a:endParaRPr lang="en-US" sz="105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r>
              <a:tr h="475488">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GET</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Retrieve resource(s)</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indent="0" marL="0">
                        <a:buNone/>
                      </a:pPr>
                      <a:r>
                        <a:rPr lang="en-US" sz="1050" dirty="0">
                          <a:solidFill>
                            <a:srgbClr val="16233B"/>
                          </a:solidFill>
                          <a:latin typeface="Courier New" pitchFamily="34" charset="0"/>
                          <a:ea typeface="Courier New" pitchFamily="34" charset="-122"/>
                          <a:cs typeface="Courier New" pitchFamily="34" charset="-120"/>
                        </a:rPr>
                        <a:t>GET /bookings/member/{memberId}</a:t>
                      </a:r>
                      <a:endParaRPr lang="en-US" sz="105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PUT</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Full update of a resource</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indent="0" marL="0">
                        <a:buNone/>
                      </a:pPr>
                      <a:r>
                        <a:rPr lang="en-US" sz="1050" dirty="0">
                          <a:solidFill>
                            <a:srgbClr val="16233B"/>
                          </a:solidFill>
                          <a:latin typeface="Courier New" pitchFamily="34" charset="0"/>
                          <a:ea typeface="Courier New" pitchFamily="34" charset="-122"/>
                          <a:cs typeface="Courier New" pitchFamily="34" charset="-120"/>
                        </a:rPr>
                        <a:t>PUT /members/{id}</a:t>
                      </a:r>
                      <a:endParaRPr lang="en-US" sz="105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r>
              <a:tr h="475488">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PATCH</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Partial update</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c>
                  <a:txBody>
                    <a:bodyPr/>
                    <a:lstStyle/>
                    <a:p>
                      <a:pPr indent="0" marL="0">
                        <a:buNone/>
                      </a:pPr>
                      <a:r>
                        <a:rPr lang="en-US" sz="1050" dirty="0">
                          <a:solidFill>
                            <a:srgbClr val="16233B"/>
                          </a:solidFill>
                          <a:latin typeface="Courier New" pitchFamily="34" charset="0"/>
                          <a:ea typeface="Courier New" pitchFamily="34" charset="-122"/>
                          <a:cs typeface="Courier New" pitchFamily="34" charset="-120"/>
                        </a:rPr>
                        <a:t>PATCH /trainers/{id}/session-fee</a:t>
                      </a:r>
                      <a:endParaRPr lang="en-US" sz="105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DELETE</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indent="0" marL="0">
                        <a:buNone/>
                      </a:pPr>
                      <a:r>
                        <a:rPr lang="en-US" sz="1050" dirty="0">
                          <a:solidFill>
                            <a:srgbClr val="16233B"/>
                          </a:solidFill>
                          <a:latin typeface="Calibri" pitchFamily="34" charset="0"/>
                          <a:ea typeface="Calibri" pitchFamily="34" charset="-122"/>
                          <a:cs typeface="Calibri" pitchFamily="34" charset="-120"/>
                        </a:rPr>
                        <a:t>Remove a resource</a:t>
                      </a:r>
                      <a:endParaRPr lang="en-US" sz="1050" dirty="0">
                        <a:latin typeface="Calibri" charset="0"/>
                        <a:ea typeface="Calibri" charset="0"/>
                        <a:cs typeface="Calibri"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c>
                  <a:txBody>
                    <a:bodyPr/>
                    <a:lstStyle/>
                    <a:p>
                      <a:pPr indent="0" marL="0">
                        <a:buNone/>
                      </a:pPr>
                      <a:r>
                        <a:rPr lang="en-US" sz="1050" dirty="0">
                          <a:solidFill>
                            <a:srgbClr val="16233B"/>
                          </a:solidFill>
                          <a:latin typeface="Courier New" pitchFamily="34" charset="0"/>
                          <a:ea typeface="Courier New" pitchFamily="34" charset="-122"/>
                          <a:cs typeface="Courier New" pitchFamily="34" charset="-120"/>
                        </a:rPr>
                        <a:t>DELETE /trainers/schedule/{scheduleId}</a:t>
                      </a:r>
                      <a:endParaRPr lang="en-US" sz="1050" dirty="0">
                        <a:latin typeface="Courier New" charset="0"/>
                        <a:ea typeface="Courier New" charset="0"/>
                        <a:cs typeface="Courier New" charset="0"/>
                      </a:endParaRPr>
                    </a:p>
                  </a:txBody>
                  <a:tcPr marL="91440" marR="91440" marT="45720" marB="45720">
                    <a:lnL w="6350" cap="flat" cmpd="sng" algn="ctr">
                      <a:solidFill>
                        <a:srgbClr val="D7E3F3"/>
                      </a:solidFill>
                      <a:prstDash val="solid"/>
                      <a:round/>
                      <a:headEnd type="none" w="med" len="med"/>
                      <a:tailEnd type="none" w="med" len="med"/>
                    </a:lnL>
                    <a:lnR w="6350" cap="flat" cmpd="sng" algn="ctr">
                      <a:solidFill>
                        <a:srgbClr val="D7E3F3"/>
                      </a:solidFill>
                      <a:prstDash val="solid"/>
                      <a:round/>
                      <a:headEnd type="none" w="med" len="med"/>
                      <a:tailEnd type="none" w="med" len="med"/>
                    </a:lnR>
                    <a:lnT w="6350" cap="flat" cmpd="sng" algn="ctr">
                      <a:solidFill>
                        <a:srgbClr val="D7E3F3"/>
                      </a:solidFill>
                      <a:prstDash val="solid"/>
                      <a:round/>
                      <a:headEnd type="none" w="med" len="med"/>
                      <a:tailEnd type="none" w="med" len="med"/>
                    </a:lnT>
                    <a:lnB w="6350" cap="flat" cmpd="sng" algn="ctr">
                      <a:solidFill>
                        <a:srgbClr val="D7E3F3"/>
                      </a:solidFill>
                      <a:prstDash val="solid"/>
                      <a:round/>
                      <a:headEnd type="none" w="med" len="med"/>
                      <a:tailEnd type="none" w="med" len="med"/>
                    </a:lnB>
                    <a:solidFill>
                      <a:srgbClr val="EAF2FB"/>
                    </a:solidFill>
                  </a:tcPr>
                </a:tc>
              </a:tr>
            </a:tbl>
          </a:graphicData>
        </a:graphic>
      </p:graphicFrame>
      <p:sp>
        <p:nvSpPr>
          <p:cNvPr id="5" name="Shape 2"/>
          <p:cNvSpPr/>
          <p:nvPr/>
        </p:nvSpPr>
        <p:spPr>
          <a:xfrm>
            <a:off x="6309360" y="1371600"/>
            <a:ext cx="5394960" cy="3063240"/>
          </a:xfrm>
          <a:prstGeom prst="roundRect">
            <a:avLst>
              <a:gd name="adj" fmla="val 2090"/>
            </a:avLst>
          </a:prstGeom>
          <a:solidFill>
            <a:srgbClr val="0B2545"/>
          </a:solidFill>
          <a:ln/>
          <a:effectLst>
            <a:outerShdw sx="100000" sy="100000" kx="0" ky="0" algn="bl" rotWithShape="0" blurRad="101600" dist="25400" dir="5400000">
              <a:srgbClr val="0B2545">
                <a:alpha val="10000"/>
              </a:srgbClr>
            </a:outerShdw>
          </a:effectLst>
        </p:spPr>
      </p:sp>
      <p:sp>
        <p:nvSpPr>
          <p:cNvPr id="6" name="Text 3"/>
          <p:cNvSpPr/>
          <p:nvPr/>
        </p:nvSpPr>
        <p:spPr>
          <a:xfrm>
            <a:off x="6583680" y="1536192"/>
            <a:ext cx="4846320" cy="274320"/>
          </a:xfrm>
          <a:prstGeom prst="rect">
            <a:avLst/>
          </a:prstGeom>
          <a:noFill/>
          <a:ln/>
        </p:spPr>
        <p:txBody>
          <a:bodyPr wrap="square" lIns="0" tIns="0" rIns="0" bIns="0" rtlCol="0" anchor="ctr"/>
          <a:lstStyle/>
          <a:p>
            <a:pPr indent="0" marL="0">
              <a:buNone/>
            </a:pPr>
            <a:r>
              <a:rPr lang="en-US" sz="1150" b="1" spc="150" kern="0" dirty="0">
                <a:solidFill>
                  <a:srgbClr val="00A9E0"/>
                </a:solidFill>
                <a:latin typeface="Calibri" pitchFamily="34" charset="0"/>
                <a:ea typeface="Calibri" pitchFamily="34" charset="-122"/>
                <a:cs typeface="Calibri" pitchFamily="34" charset="-120"/>
              </a:rPr>
              <a:t>STANDARD RESPONSE PATTERN</a:t>
            </a:r>
            <a:endParaRPr lang="en-US" sz="1150" dirty="0"/>
          </a:p>
        </p:txBody>
      </p:sp>
      <p:sp>
        <p:nvSpPr>
          <p:cNvPr id="7" name="Text 4"/>
          <p:cNvSpPr/>
          <p:nvPr/>
        </p:nvSpPr>
        <p:spPr>
          <a:xfrm>
            <a:off x="6583680" y="1874520"/>
            <a:ext cx="4846320" cy="2468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200 OK</a:t>
            </a:r>
            <a:endParaRPr lang="en-US" sz="1000" dirty="0"/>
          </a:p>
          <a:p>
            <a:pPr indent="0" marL="0">
              <a:buNone/>
            </a:pPr>
            <a:r>
              <a:rPr lang="en-US" sz="1000" dirty="0">
                <a:solidFill>
                  <a:srgbClr val="B9CBEA"/>
                </a:solidFill>
                <a:latin typeface="Calibri" pitchFamily="34" charset="0"/>
                <a:ea typeface="Calibri" pitchFamily="34" charset="-122"/>
                <a:cs typeface="Calibri" pitchFamily="34" charset="-120"/>
              </a:rPr>
              <a:t>ResponseEntity.ok(...) for successful reads/writes</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400 / 401 / 404</a:t>
            </a:r>
            <a:endParaRPr lang="en-US" sz="1000" dirty="0"/>
          </a:p>
          <a:p>
            <a:pPr indent="0" marL="0">
              <a:buNone/>
            </a:pPr>
            <a:r>
              <a:rPr lang="en-US" sz="1000" dirty="0">
                <a:solidFill>
                  <a:srgbClr val="B9CBEA"/>
                </a:solidFill>
                <a:latin typeface="Calibri" pitchFamily="34" charset="0"/>
                <a:ea typeface="Calibri" pitchFamily="34" charset="-122"/>
                <a:cs typeface="Calibri" pitchFamily="34" charset="-120"/>
              </a:rPr>
              <a:t>GlobalExceptionHandler (@RestControllerAdvice) per service converts custom exceptions (BookingNotFoundException, InvalidCredentialsException, etc.) into a structured ErrorResponse JSON body</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Swagger annotations</a:t>
            </a:r>
            <a:endParaRPr lang="en-US" sz="1000" dirty="0"/>
          </a:p>
          <a:p>
            <a:pPr indent="0" marL="0">
              <a:buNone/>
            </a:pPr>
            <a:r>
              <a:rPr lang="en-US" sz="1000" dirty="0">
                <a:solidFill>
                  <a:srgbClr val="B9CBEA"/>
                </a:solidFill>
                <a:latin typeface="Calibri" pitchFamily="34" charset="0"/>
                <a:ea typeface="Calibri" pitchFamily="34" charset="-122"/>
                <a:cs typeface="Calibri" pitchFamily="34" charset="-120"/>
              </a:rPr>
              <a:t>@Operation, @ApiResponses, @Parameter used extensively — e.g. PaymentController fully documents create-order and pay endpoints</a:t>
            </a:r>
            <a:endParaRPr lang="en-US" sz="1000" dirty="0"/>
          </a:p>
        </p:txBody>
      </p:sp>
      <p:sp>
        <p:nvSpPr>
          <p:cNvPr id="8" name="Shape 5"/>
          <p:cNvSpPr/>
          <p:nvPr/>
        </p:nvSpPr>
        <p:spPr>
          <a:xfrm>
            <a:off x="502920" y="3749040"/>
            <a:ext cx="11201400" cy="2468880"/>
          </a:xfrm>
          <a:prstGeom prst="roundRect">
            <a:avLst>
              <a:gd name="adj" fmla="val 2593"/>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9" name="Text 6"/>
          <p:cNvSpPr/>
          <p:nvPr/>
        </p:nvSpPr>
        <p:spPr>
          <a:xfrm>
            <a:off x="777240" y="3886200"/>
            <a:ext cx="7315200" cy="274320"/>
          </a:xfrm>
          <a:prstGeom prst="rect">
            <a:avLst/>
          </a:prstGeom>
          <a:noFill/>
          <a:ln/>
        </p:spPr>
        <p:txBody>
          <a:bodyPr wrap="square" lIns="0" tIns="0" rIns="0" bIns="0" rtlCol="0" anchor="ctr"/>
          <a:lstStyle/>
          <a:p>
            <a:pPr indent="0" marL="0">
              <a:buNone/>
            </a:pPr>
            <a:r>
              <a:rPr lang="en-US" sz="1150" b="1" spc="150" kern="0" dirty="0">
                <a:solidFill>
                  <a:srgbClr val="0086B3"/>
                </a:solidFill>
                <a:latin typeface="Calibri" pitchFamily="34" charset="0"/>
                <a:ea typeface="Calibri" pitchFamily="34" charset="-122"/>
                <a:cs typeface="Calibri" pitchFamily="34" charset="-120"/>
              </a:rPr>
              <a:t>SWAGGER / OPENAPI PER SERVICE</a:t>
            </a:r>
            <a:endParaRPr lang="en-US" sz="1150" dirty="0"/>
          </a:p>
        </p:txBody>
      </p:sp>
      <p:sp>
        <p:nvSpPr>
          <p:cNvPr id="10" name="Text 7"/>
          <p:cNvSpPr/>
          <p:nvPr/>
        </p:nvSpPr>
        <p:spPr>
          <a:xfrm>
            <a:off x="777240" y="4206240"/>
            <a:ext cx="10607040" cy="822960"/>
          </a:xfrm>
          <a:prstGeom prst="rect">
            <a:avLst/>
          </a:prstGeom>
          <a:noFill/>
          <a:ln/>
        </p:spPr>
        <p:txBody>
          <a:bodyPr wrap="square" lIns="0" tIns="0" rIns="0" bIns="0" rtlCol="0" anchor="ctr"/>
          <a:lstStyle/>
          <a:p>
            <a:pPr indent="0" marL="0">
              <a:lnSpc>
                <a:spcPct val="120000"/>
              </a:lnSpc>
              <a:buNone/>
            </a:pPr>
            <a:r>
              <a:rPr lang="en-US" sz="1100" dirty="0">
                <a:solidFill>
                  <a:srgbClr val="16233B"/>
                </a:solidFill>
                <a:latin typeface="Calibri" pitchFamily="34" charset="0"/>
                <a:ea typeface="Calibri" pitchFamily="34" charset="-122"/>
                <a:cs typeface="Calibri" pitchFamily="34" charset="-120"/>
              </a:rPr>
              <a:t>Every service ships an OpenApiConfig.java bean and is reachable at /swagger-ui.html via the gateway's *-apidocs routes (e.g. /payment-service/api-docs/** rewritten to /api-docs/**). SecurityConfig explicitly permits /swagger-ui/**, /api-docs/**, and /v3/api-docs/** so the docs are viewable without a JWT during development.</a:t>
            </a:r>
            <a:endParaRPr lang="en-US" sz="1100" dirty="0"/>
          </a:p>
        </p:txBody>
      </p:sp>
      <p:sp>
        <p:nvSpPr>
          <p:cNvPr id="11" name="Text 8"/>
          <p:cNvSpPr/>
          <p:nvPr/>
        </p:nvSpPr>
        <p:spPr>
          <a:xfrm>
            <a:off x="777240" y="5029200"/>
            <a:ext cx="10607040" cy="1005840"/>
          </a:xfrm>
          <a:prstGeom prst="rect">
            <a:avLst/>
          </a:prstGeom>
          <a:noFill/>
          <a:ln/>
        </p:spPr>
        <p:txBody>
          <a:bodyPr wrap="square" lIns="0" tIns="0" rIns="0" bIns="0" rtlCol="0" anchor="ctr"/>
          <a:lstStyle/>
          <a:p>
            <a:pPr marL="342900" indent="-342900">
              <a:buSzPct val="100000"/>
              <a:buChar char="•"/>
            </a:pPr>
            <a:r>
              <a:rPr lang="en-US" sz="950" dirty="0">
                <a:solidFill>
                  <a:srgbClr val="5B6B85"/>
                </a:solidFill>
                <a:latin typeface="Courier New" pitchFamily="34" charset="0"/>
                <a:ea typeface="Courier New" pitchFamily="34" charset="-122"/>
                <a:cs typeface="Courier New" pitchFamily="34" charset="-120"/>
              </a:rPr>
              <a:t>GET /auth/test</a:t>
            </a:r>
            <a:endParaRPr lang="en-US" sz="950" dirty="0"/>
          </a:p>
          <a:p>
            <a:pPr marL="342900" indent="-342900">
              <a:buSzPct val="100000"/>
              <a:buChar char="•"/>
            </a:pPr>
            <a:r>
              <a:rPr lang="en-US" sz="950" dirty="0">
                <a:solidFill>
                  <a:srgbClr val="5B6B85"/>
                </a:solidFill>
                <a:latin typeface="Courier New" pitchFamily="34" charset="0"/>
                <a:ea typeface="Courier New" pitchFamily="34" charset="-122"/>
                <a:cs typeface="Courier New" pitchFamily="34" charset="-120"/>
              </a:rPr>
              <a:t>GET /bookings/test</a:t>
            </a:r>
            <a:endParaRPr lang="en-US" sz="950" dirty="0"/>
          </a:p>
          <a:p>
            <a:pPr marL="342900" indent="-342900">
              <a:buSzPct val="100000"/>
              <a:buChar char="•"/>
            </a:pPr>
            <a:r>
              <a:rPr lang="en-US" sz="950" dirty="0">
                <a:solidFill>
                  <a:srgbClr val="5B6B85"/>
                </a:solidFill>
                <a:latin typeface="Courier New" pitchFamily="34" charset="0"/>
                <a:ea typeface="Courier New" pitchFamily="34" charset="-122"/>
                <a:cs typeface="Courier New" pitchFamily="34" charset="-120"/>
              </a:rPr>
              <a:t>GET /members/test</a:t>
            </a:r>
            <a:endParaRPr lang="en-US" sz="950" dirty="0"/>
          </a:p>
          <a:p>
            <a:pPr marL="342900" indent="-342900">
              <a:buSzPct val="100000"/>
              <a:buChar char="•"/>
            </a:pPr>
            <a:r>
              <a:rPr lang="en-US" sz="950" dirty="0">
                <a:solidFill>
                  <a:srgbClr val="5B6B85"/>
                </a:solidFill>
                <a:latin typeface="Courier New" pitchFamily="34" charset="0"/>
                <a:ea typeface="Courier New" pitchFamily="34" charset="-122"/>
                <a:cs typeface="Courier New" pitchFamily="34" charset="-120"/>
              </a:rPr>
              <a:t>GET /plans/test</a:t>
            </a:r>
            <a:endParaRPr lang="en-US" sz="950" dirty="0"/>
          </a:p>
          <a:p>
            <a:pPr marL="342900" indent="-342900">
              <a:buSzPct val="100000"/>
              <a:buChar char="•"/>
            </a:pPr>
            <a:r>
              <a:rPr lang="en-US" sz="950" dirty="0">
                <a:solidFill>
                  <a:srgbClr val="5B6B85"/>
                </a:solidFill>
                <a:latin typeface="Courier New" pitchFamily="34" charset="0"/>
                <a:ea typeface="Courier New" pitchFamily="34" charset="-122"/>
                <a:cs typeface="Courier New" pitchFamily="34" charset="-120"/>
              </a:rPr>
              <a:t>GET /trainers/test</a:t>
            </a:r>
            <a:endParaRPr lang="en-US" sz="950" dirty="0"/>
          </a:p>
          <a:p>
            <a:pPr marL="342900" indent="-342900">
              <a:buSzPct val="100000"/>
              <a:buChar char="•"/>
            </a:pPr>
            <a:r>
              <a:rPr lang="en-US" sz="950" dirty="0">
                <a:solidFill>
                  <a:srgbClr val="5B6B85"/>
                </a:solidFill>
                <a:latin typeface="Courier New" pitchFamily="34" charset="0"/>
                <a:ea typeface="Courier New" pitchFamily="34" charset="-122"/>
                <a:cs typeface="Courier New" pitchFamily="34" charset="-120"/>
              </a:rPr>
              <a:t>GET /payments/test</a:t>
            </a:r>
            <a:endParaRPr lang="en-US" sz="950" dirty="0"/>
          </a:p>
        </p:txBody>
      </p:sp>
      <p:sp>
        <p:nvSpPr>
          <p:cNvPr id="12" name="Text 9"/>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13" name="Text 10"/>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REST API Design</a:t>
            </a:r>
            <a:endParaRPr lang="en-US" sz="900" dirty="0"/>
          </a:p>
        </p:txBody>
      </p:sp>
      <p:sp>
        <p:nvSpPr>
          <p:cNvPr id="14" name="Text 11"/>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UML DIAGRAM — USE CASE</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Use Case Diagram</a:t>
            </a:r>
            <a:endParaRPr lang="en-US" sz="2800" dirty="0"/>
          </a:p>
        </p:txBody>
      </p:sp>
      <p:sp>
        <p:nvSpPr>
          <p:cNvPr id="4" name="Shape 2"/>
          <p:cNvSpPr/>
          <p:nvPr/>
        </p:nvSpPr>
        <p:spPr>
          <a:xfrm>
            <a:off x="2331720" y="1234440"/>
            <a:ext cx="7863840" cy="5074920"/>
          </a:xfrm>
          <a:prstGeom prst="roundRect">
            <a:avLst>
              <a:gd name="adj" fmla="val 901"/>
            </a:avLst>
          </a:prstGeom>
          <a:solidFill>
            <a:srgbClr val="FFFFFF"/>
          </a:solidFill>
          <a:ln w="19050">
            <a:solidFill>
              <a:srgbClr val="0B2545"/>
            </a:solidFill>
            <a:prstDash val="solid"/>
          </a:ln>
        </p:spPr>
      </p:sp>
      <p:sp>
        <p:nvSpPr>
          <p:cNvPr id="5" name="Text 3"/>
          <p:cNvSpPr/>
          <p:nvPr/>
        </p:nvSpPr>
        <p:spPr>
          <a:xfrm>
            <a:off x="2606040" y="1298448"/>
            <a:ext cx="3657600" cy="274320"/>
          </a:xfrm>
          <a:prstGeom prst="rect">
            <a:avLst/>
          </a:prstGeom>
          <a:noFill/>
          <a:ln/>
        </p:spPr>
        <p:txBody>
          <a:bodyPr wrap="square" lIns="0" tIns="0" rIns="0" bIns="0" rtlCol="0" anchor="ctr"/>
          <a:lstStyle/>
          <a:p>
            <a:pPr indent="0" marL="0">
              <a:buNone/>
            </a:pPr>
            <a:r>
              <a:rPr lang="en-US" sz="1050" b="1" i="1" dirty="0">
                <a:solidFill>
                  <a:srgbClr val="0B2545"/>
                </a:solidFill>
                <a:latin typeface="Calibri" pitchFamily="34" charset="0"/>
                <a:ea typeface="Calibri" pitchFamily="34" charset="-122"/>
                <a:cs typeface="Calibri" pitchFamily="34" charset="-120"/>
              </a:rPr>
              <a:t>GymPro System</a:t>
            </a:r>
            <a:endParaRPr lang="en-US" sz="1050" dirty="0"/>
          </a:p>
        </p:txBody>
      </p:sp>
      <p:sp>
        <p:nvSpPr>
          <p:cNvPr id="6" name="Shape 4"/>
          <p:cNvSpPr/>
          <p:nvPr/>
        </p:nvSpPr>
        <p:spPr>
          <a:xfrm>
            <a:off x="832104" y="1508760"/>
            <a:ext cx="256032" cy="256032"/>
          </a:xfrm>
          <a:prstGeom prst="ellipse">
            <a:avLst/>
          </a:prstGeom>
          <a:solidFill>
            <a:srgbClr val="FFFFFF"/>
          </a:solidFill>
          <a:ln w="22225">
            <a:solidFill>
              <a:srgbClr val="0B2545"/>
            </a:solidFill>
            <a:prstDash val="solid"/>
          </a:ln>
        </p:spPr>
      </p:sp>
      <p:sp>
        <p:nvSpPr>
          <p:cNvPr id="7" name="Shape 5"/>
          <p:cNvSpPr/>
          <p:nvPr/>
        </p:nvSpPr>
        <p:spPr>
          <a:xfrm>
            <a:off x="960120" y="1764792"/>
            <a:ext cx="0" cy="365760"/>
          </a:xfrm>
          <a:prstGeom prst="line">
            <a:avLst/>
          </a:prstGeom>
          <a:noFill/>
          <a:ln w="22225">
            <a:solidFill>
              <a:srgbClr val="0B2545"/>
            </a:solidFill>
            <a:prstDash val="solid"/>
          </a:ln>
        </p:spPr>
      </p:sp>
      <p:sp>
        <p:nvSpPr>
          <p:cNvPr id="8" name="Shape 6"/>
          <p:cNvSpPr/>
          <p:nvPr/>
        </p:nvSpPr>
        <p:spPr>
          <a:xfrm>
            <a:off x="729691" y="1867205"/>
            <a:ext cx="230429" cy="140818"/>
          </a:xfrm>
          <a:prstGeom prst="line">
            <a:avLst/>
          </a:prstGeom>
          <a:noFill/>
          <a:ln w="22225">
            <a:solidFill>
              <a:srgbClr val="0B2545"/>
            </a:solidFill>
            <a:prstDash val="solid"/>
          </a:ln>
        </p:spPr>
      </p:sp>
      <p:sp>
        <p:nvSpPr>
          <p:cNvPr id="9" name="Shape 7"/>
          <p:cNvSpPr/>
          <p:nvPr/>
        </p:nvSpPr>
        <p:spPr>
          <a:xfrm>
            <a:off x="960120" y="1867205"/>
            <a:ext cx="230429" cy="140818"/>
          </a:xfrm>
          <a:prstGeom prst="line">
            <a:avLst/>
          </a:prstGeom>
          <a:noFill/>
          <a:ln w="22225">
            <a:solidFill>
              <a:srgbClr val="0B2545"/>
            </a:solidFill>
            <a:prstDash val="solid"/>
          </a:ln>
        </p:spPr>
      </p:sp>
      <p:sp>
        <p:nvSpPr>
          <p:cNvPr id="10" name="Shape 8"/>
          <p:cNvSpPr/>
          <p:nvPr/>
        </p:nvSpPr>
        <p:spPr>
          <a:xfrm>
            <a:off x="742493" y="2130552"/>
            <a:ext cx="217627" cy="219456"/>
          </a:xfrm>
          <a:prstGeom prst="line">
            <a:avLst/>
          </a:prstGeom>
          <a:noFill/>
          <a:ln w="22225">
            <a:solidFill>
              <a:srgbClr val="0B2545"/>
            </a:solidFill>
            <a:prstDash val="solid"/>
          </a:ln>
        </p:spPr>
      </p:sp>
      <p:sp>
        <p:nvSpPr>
          <p:cNvPr id="11" name="Shape 9"/>
          <p:cNvSpPr/>
          <p:nvPr/>
        </p:nvSpPr>
        <p:spPr>
          <a:xfrm>
            <a:off x="960120" y="2130552"/>
            <a:ext cx="217627" cy="219456"/>
          </a:xfrm>
          <a:prstGeom prst="line">
            <a:avLst/>
          </a:prstGeom>
          <a:noFill/>
          <a:ln w="22225">
            <a:solidFill>
              <a:srgbClr val="0B2545"/>
            </a:solidFill>
            <a:prstDash val="solid"/>
          </a:ln>
        </p:spPr>
      </p:sp>
      <p:sp>
        <p:nvSpPr>
          <p:cNvPr id="12" name="Text 10"/>
          <p:cNvSpPr/>
          <p:nvPr/>
        </p:nvSpPr>
        <p:spPr>
          <a:xfrm>
            <a:off x="320040" y="2450592"/>
            <a:ext cx="1280160" cy="256032"/>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Member</a:t>
            </a:r>
            <a:endParaRPr lang="en-US" sz="1000" dirty="0"/>
          </a:p>
        </p:txBody>
      </p:sp>
      <p:sp>
        <p:nvSpPr>
          <p:cNvPr id="13" name="Shape 11"/>
          <p:cNvSpPr/>
          <p:nvPr/>
        </p:nvSpPr>
        <p:spPr>
          <a:xfrm>
            <a:off x="832104" y="3246120"/>
            <a:ext cx="256032" cy="256032"/>
          </a:xfrm>
          <a:prstGeom prst="ellipse">
            <a:avLst/>
          </a:prstGeom>
          <a:solidFill>
            <a:srgbClr val="FFFFFF"/>
          </a:solidFill>
          <a:ln w="22225">
            <a:solidFill>
              <a:srgbClr val="1B4F91"/>
            </a:solidFill>
            <a:prstDash val="solid"/>
          </a:ln>
        </p:spPr>
      </p:sp>
      <p:sp>
        <p:nvSpPr>
          <p:cNvPr id="14" name="Shape 12"/>
          <p:cNvSpPr/>
          <p:nvPr/>
        </p:nvSpPr>
        <p:spPr>
          <a:xfrm>
            <a:off x="960120" y="3502152"/>
            <a:ext cx="0" cy="365760"/>
          </a:xfrm>
          <a:prstGeom prst="line">
            <a:avLst/>
          </a:prstGeom>
          <a:noFill/>
          <a:ln w="22225">
            <a:solidFill>
              <a:srgbClr val="1B4F91"/>
            </a:solidFill>
            <a:prstDash val="solid"/>
          </a:ln>
        </p:spPr>
      </p:sp>
      <p:sp>
        <p:nvSpPr>
          <p:cNvPr id="15" name="Shape 13"/>
          <p:cNvSpPr/>
          <p:nvPr/>
        </p:nvSpPr>
        <p:spPr>
          <a:xfrm>
            <a:off x="729691" y="3604565"/>
            <a:ext cx="230429" cy="140818"/>
          </a:xfrm>
          <a:prstGeom prst="line">
            <a:avLst/>
          </a:prstGeom>
          <a:noFill/>
          <a:ln w="22225">
            <a:solidFill>
              <a:srgbClr val="1B4F91"/>
            </a:solidFill>
            <a:prstDash val="solid"/>
          </a:ln>
        </p:spPr>
      </p:sp>
      <p:sp>
        <p:nvSpPr>
          <p:cNvPr id="16" name="Shape 14"/>
          <p:cNvSpPr/>
          <p:nvPr/>
        </p:nvSpPr>
        <p:spPr>
          <a:xfrm>
            <a:off x="960120" y="3604565"/>
            <a:ext cx="230429" cy="140818"/>
          </a:xfrm>
          <a:prstGeom prst="line">
            <a:avLst/>
          </a:prstGeom>
          <a:noFill/>
          <a:ln w="22225">
            <a:solidFill>
              <a:srgbClr val="1B4F91"/>
            </a:solidFill>
            <a:prstDash val="solid"/>
          </a:ln>
        </p:spPr>
      </p:sp>
      <p:sp>
        <p:nvSpPr>
          <p:cNvPr id="17" name="Shape 15"/>
          <p:cNvSpPr/>
          <p:nvPr/>
        </p:nvSpPr>
        <p:spPr>
          <a:xfrm>
            <a:off x="742493" y="3867912"/>
            <a:ext cx="217627" cy="219456"/>
          </a:xfrm>
          <a:prstGeom prst="line">
            <a:avLst/>
          </a:prstGeom>
          <a:noFill/>
          <a:ln w="22225">
            <a:solidFill>
              <a:srgbClr val="1B4F91"/>
            </a:solidFill>
            <a:prstDash val="solid"/>
          </a:ln>
        </p:spPr>
      </p:sp>
      <p:sp>
        <p:nvSpPr>
          <p:cNvPr id="18" name="Shape 16"/>
          <p:cNvSpPr/>
          <p:nvPr/>
        </p:nvSpPr>
        <p:spPr>
          <a:xfrm>
            <a:off x="960120" y="3867912"/>
            <a:ext cx="217627" cy="219456"/>
          </a:xfrm>
          <a:prstGeom prst="line">
            <a:avLst/>
          </a:prstGeom>
          <a:noFill/>
          <a:ln w="22225">
            <a:solidFill>
              <a:srgbClr val="1B4F91"/>
            </a:solidFill>
            <a:prstDash val="solid"/>
          </a:ln>
        </p:spPr>
      </p:sp>
      <p:sp>
        <p:nvSpPr>
          <p:cNvPr id="19" name="Text 17"/>
          <p:cNvSpPr/>
          <p:nvPr/>
        </p:nvSpPr>
        <p:spPr>
          <a:xfrm>
            <a:off x="320040" y="4187952"/>
            <a:ext cx="1280160" cy="256032"/>
          </a:xfrm>
          <a:prstGeom prst="rect">
            <a:avLst/>
          </a:prstGeom>
          <a:noFill/>
          <a:ln/>
        </p:spPr>
        <p:txBody>
          <a:bodyPr wrap="square" lIns="0" tIns="0" rIns="0" bIns="0" rtlCol="0" anchor="ctr"/>
          <a:lstStyle/>
          <a:p>
            <a:pPr algn="ctr" indent="0" marL="0">
              <a:buNone/>
            </a:pPr>
            <a:r>
              <a:rPr lang="en-US" sz="1000" b="1" dirty="0">
                <a:solidFill>
                  <a:srgbClr val="1B4F91"/>
                </a:solidFill>
                <a:latin typeface="Calibri" pitchFamily="34" charset="0"/>
                <a:ea typeface="Calibri" pitchFamily="34" charset="-122"/>
                <a:cs typeface="Calibri" pitchFamily="34" charset="-120"/>
              </a:rPr>
              <a:t>Trainer</a:t>
            </a:r>
            <a:endParaRPr lang="en-US" sz="1000" dirty="0"/>
          </a:p>
        </p:txBody>
      </p:sp>
      <p:sp>
        <p:nvSpPr>
          <p:cNvPr id="20" name="Shape 18"/>
          <p:cNvSpPr/>
          <p:nvPr/>
        </p:nvSpPr>
        <p:spPr>
          <a:xfrm>
            <a:off x="10936224" y="2331720"/>
            <a:ext cx="256032" cy="256032"/>
          </a:xfrm>
          <a:prstGeom prst="ellipse">
            <a:avLst/>
          </a:prstGeom>
          <a:solidFill>
            <a:srgbClr val="FFFFFF"/>
          </a:solidFill>
          <a:ln w="22225">
            <a:solidFill>
              <a:srgbClr val="C9781F"/>
            </a:solidFill>
            <a:prstDash val="solid"/>
          </a:ln>
        </p:spPr>
      </p:sp>
      <p:sp>
        <p:nvSpPr>
          <p:cNvPr id="21" name="Shape 19"/>
          <p:cNvSpPr/>
          <p:nvPr/>
        </p:nvSpPr>
        <p:spPr>
          <a:xfrm>
            <a:off x="11064240" y="2587752"/>
            <a:ext cx="0" cy="365760"/>
          </a:xfrm>
          <a:prstGeom prst="line">
            <a:avLst/>
          </a:prstGeom>
          <a:noFill/>
          <a:ln w="22225">
            <a:solidFill>
              <a:srgbClr val="C9781F"/>
            </a:solidFill>
            <a:prstDash val="solid"/>
          </a:ln>
        </p:spPr>
      </p:sp>
      <p:sp>
        <p:nvSpPr>
          <p:cNvPr id="22" name="Shape 20"/>
          <p:cNvSpPr/>
          <p:nvPr/>
        </p:nvSpPr>
        <p:spPr>
          <a:xfrm>
            <a:off x="10833811" y="2690165"/>
            <a:ext cx="230429" cy="140818"/>
          </a:xfrm>
          <a:prstGeom prst="line">
            <a:avLst/>
          </a:prstGeom>
          <a:noFill/>
          <a:ln w="22225">
            <a:solidFill>
              <a:srgbClr val="C9781F"/>
            </a:solidFill>
            <a:prstDash val="solid"/>
          </a:ln>
        </p:spPr>
      </p:sp>
      <p:sp>
        <p:nvSpPr>
          <p:cNvPr id="23" name="Shape 21"/>
          <p:cNvSpPr/>
          <p:nvPr/>
        </p:nvSpPr>
        <p:spPr>
          <a:xfrm>
            <a:off x="11064240" y="2690165"/>
            <a:ext cx="230429" cy="140818"/>
          </a:xfrm>
          <a:prstGeom prst="line">
            <a:avLst/>
          </a:prstGeom>
          <a:noFill/>
          <a:ln w="22225">
            <a:solidFill>
              <a:srgbClr val="C9781F"/>
            </a:solidFill>
            <a:prstDash val="solid"/>
          </a:ln>
        </p:spPr>
      </p:sp>
      <p:sp>
        <p:nvSpPr>
          <p:cNvPr id="24" name="Shape 22"/>
          <p:cNvSpPr/>
          <p:nvPr/>
        </p:nvSpPr>
        <p:spPr>
          <a:xfrm>
            <a:off x="10846613" y="2953512"/>
            <a:ext cx="217627" cy="219456"/>
          </a:xfrm>
          <a:prstGeom prst="line">
            <a:avLst/>
          </a:prstGeom>
          <a:noFill/>
          <a:ln w="22225">
            <a:solidFill>
              <a:srgbClr val="C9781F"/>
            </a:solidFill>
            <a:prstDash val="solid"/>
          </a:ln>
        </p:spPr>
      </p:sp>
      <p:sp>
        <p:nvSpPr>
          <p:cNvPr id="25" name="Shape 23"/>
          <p:cNvSpPr/>
          <p:nvPr/>
        </p:nvSpPr>
        <p:spPr>
          <a:xfrm>
            <a:off x="11064240" y="2953512"/>
            <a:ext cx="217627" cy="219456"/>
          </a:xfrm>
          <a:prstGeom prst="line">
            <a:avLst/>
          </a:prstGeom>
          <a:noFill/>
          <a:ln w="22225">
            <a:solidFill>
              <a:srgbClr val="C9781F"/>
            </a:solidFill>
            <a:prstDash val="solid"/>
          </a:ln>
        </p:spPr>
      </p:sp>
      <p:sp>
        <p:nvSpPr>
          <p:cNvPr id="26" name="Text 24"/>
          <p:cNvSpPr/>
          <p:nvPr/>
        </p:nvSpPr>
        <p:spPr>
          <a:xfrm>
            <a:off x="10424160" y="3273552"/>
            <a:ext cx="1280160" cy="256032"/>
          </a:xfrm>
          <a:prstGeom prst="rect">
            <a:avLst/>
          </a:prstGeom>
          <a:noFill/>
          <a:ln/>
        </p:spPr>
        <p:txBody>
          <a:bodyPr wrap="square" lIns="0" tIns="0" rIns="0" bIns="0" rtlCol="0" anchor="ctr"/>
          <a:lstStyle/>
          <a:p>
            <a:pPr algn="ctr" indent="0" marL="0">
              <a:buNone/>
            </a:pPr>
            <a:r>
              <a:rPr lang="en-US" sz="1000" b="1" dirty="0">
                <a:solidFill>
                  <a:srgbClr val="C9781F"/>
                </a:solidFill>
                <a:latin typeface="Calibri" pitchFamily="34" charset="0"/>
                <a:ea typeface="Calibri" pitchFamily="34" charset="-122"/>
                <a:cs typeface="Calibri" pitchFamily="34" charset="-120"/>
              </a:rPr>
              <a:t>Admin</a:t>
            </a:r>
            <a:endParaRPr lang="en-US" sz="1000" dirty="0"/>
          </a:p>
        </p:txBody>
      </p:sp>
      <p:sp>
        <p:nvSpPr>
          <p:cNvPr id="27" name="Shape 25"/>
          <p:cNvSpPr/>
          <p:nvPr/>
        </p:nvSpPr>
        <p:spPr>
          <a:xfrm>
            <a:off x="2606040" y="150876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28" name="Text 26"/>
          <p:cNvSpPr/>
          <p:nvPr/>
        </p:nvSpPr>
        <p:spPr>
          <a:xfrm>
            <a:off x="2651760" y="150876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Register /</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Login</a:t>
            </a:r>
            <a:endParaRPr lang="en-US" sz="900" dirty="0"/>
          </a:p>
        </p:txBody>
      </p:sp>
      <p:sp>
        <p:nvSpPr>
          <p:cNvPr id="29" name="Shape 27"/>
          <p:cNvSpPr/>
          <p:nvPr/>
        </p:nvSpPr>
        <p:spPr>
          <a:xfrm>
            <a:off x="4480560" y="150876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30" name="Text 28"/>
          <p:cNvSpPr/>
          <p:nvPr/>
        </p:nvSpPr>
        <p:spPr>
          <a:xfrm>
            <a:off x="4526280" y="150876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View Plans</a:t>
            </a:r>
            <a:endParaRPr lang="en-US" sz="900" dirty="0"/>
          </a:p>
        </p:txBody>
      </p:sp>
      <p:sp>
        <p:nvSpPr>
          <p:cNvPr id="31" name="Shape 29"/>
          <p:cNvSpPr/>
          <p:nvPr/>
        </p:nvSpPr>
        <p:spPr>
          <a:xfrm>
            <a:off x="6355080" y="150876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32" name="Text 30"/>
          <p:cNvSpPr/>
          <p:nvPr/>
        </p:nvSpPr>
        <p:spPr>
          <a:xfrm>
            <a:off x="6400800" y="150876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Subscribe &amp;</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Pay</a:t>
            </a:r>
            <a:endParaRPr lang="en-US" sz="900" dirty="0"/>
          </a:p>
        </p:txBody>
      </p:sp>
      <p:sp>
        <p:nvSpPr>
          <p:cNvPr id="33" name="Shape 31"/>
          <p:cNvSpPr/>
          <p:nvPr/>
        </p:nvSpPr>
        <p:spPr>
          <a:xfrm>
            <a:off x="8183880" y="150876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34" name="Text 32"/>
          <p:cNvSpPr/>
          <p:nvPr/>
        </p:nvSpPr>
        <p:spPr>
          <a:xfrm>
            <a:off x="8229600" y="150876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Book Trainer</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Session</a:t>
            </a:r>
            <a:endParaRPr lang="en-US" sz="900" dirty="0"/>
          </a:p>
        </p:txBody>
      </p:sp>
      <p:sp>
        <p:nvSpPr>
          <p:cNvPr id="35" name="Shape 33"/>
          <p:cNvSpPr/>
          <p:nvPr/>
        </p:nvSpPr>
        <p:spPr>
          <a:xfrm>
            <a:off x="2606040" y="237744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36" name="Text 34"/>
          <p:cNvSpPr/>
          <p:nvPr/>
        </p:nvSpPr>
        <p:spPr>
          <a:xfrm>
            <a:off x="2651760" y="237744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View / Update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Profile</a:t>
            </a:r>
            <a:endParaRPr lang="en-US" sz="900" dirty="0"/>
          </a:p>
        </p:txBody>
      </p:sp>
      <p:sp>
        <p:nvSpPr>
          <p:cNvPr id="37" name="Shape 35"/>
          <p:cNvSpPr/>
          <p:nvPr/>
        </p:nvSpPr>
        <p:spPr>
          <a:xfrm>
            <a:off x="4480560" y="237744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38" name="Text 36"/>
          <p:cNvSpPr/>
          <p:nvPr/>
        </p:nvSpPr>
        <p:spPr>
          <a:xfrm>
            <a:off x="4526280" y="237744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Chat with</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GymBot</a:t>
            </a:r>
            <a:endParaRPr lang="en-US" sz="900" dirty="0"/>
          </a:p>
        </p:txBody>
      </p:sp>
      <p:sp>
        <p:nvSpPr>
          <p:cNvPr id="39" name="Shape 37"/>
          <p:cNvSpPr/>
          <p:nvPr/>
        </p:nvSpPr>
        <p:spPr>
          <a:xfrm>
            <a:off x="6355080" y="237744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40" name="Text 38"/>
          <p:cNvSpPr/>
          <p:nvPr/>
        </p:nvSpPr>
        <p:spPr>
          <a:xfrm>
            <a:off x="6400800" y="237744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Receive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Notifications</a:t>
            </a:r>
            <a:endParaRPr lang="en-US" sz="900" dirty="0"/>
          </a:p>
        </p:txBody>
      </p:sp>
      <p:sp>
        <p:nvSpPr>
          <p:cNvPr id="41" name="Shape 39"/>
          <p:cNvSpPr/>
          <p:nvPr/>
        </p:nvSpPr>
        <p:spPr>
          <a:xfrm>
            <a:off x="8183880" y="237744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42" name="Text 40"/>
          <p:cNvSpPr/>
          <p:nvPr/>
        </p:nvSpPr>
        <p:spPr>
          <a:xfrm>
            <a:off x="8229600" y="237744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Manage Own</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Bookings</a:t>
            </a:r>
            <a:endParaRPr lang="en-US" sz="900" dirty="0"/>
          </a:p>
        </p:txBody>
      </p:sp>
      <p:sp>
        <p:nvSpPr>
          <p:cNvPr id="43" name="Shape 41"/>
          <p:cNvSpPr/>
          <p:nvPr/>
        </p:nvSpPr>
        <p:spPr>
          <a:xfrm>
            <a:off x="2606040" y="324612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44" name="Text 42"/>
          <p:cNvSpPr/>
          <p:nvPr/>
        </p:nvSpPr>
        <p:spPr>
          <a:xfrm>
            <a:off x="2651760" y="324612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Set Weekly</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Schedule</a:t>
            </a:r>
            <a:endParaRPr lang="en-US" sz="900" dirty="0"/>
          </a:p>
        </p:txBody>
      </p:sp>
      <p:sp>
        <p:nvSpPr>
          <p:cNvPr id="45" name="Shape 43"/>
          <p:cNvSpPr/>
          <p:nvPr/>
        </p:nvSpPr>
        <p:spPr>
          <a:xfrm>
            <a:off x="4480560" y="324612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46" name="Text 44"/>
          <p:cNvSpPr/>
          <p:nvPr/>
        </p:nvSpPr>
        <p:spPr>
          <a:xfrm>
            <a:off x="4526280" y="324612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View Assigned</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Sessions</a:t>
            </a:r>
            <a:endParaRPr lang="en-US" sz="900" dirty="0"/>
          </a:p>
        </p:txBody>
      </p:sp>
      <p:sp>
        <p:nvSpPr>
          <p:cNvPr id="47" name="Shape 45"/>
          <p:cNvSpPr/>
          <p:nvPr/>
        </p:nvSpPr>
        <p:spPr>
          <a:xfrm>
            <a:off x="6355080" y="324612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48" name="Text 46"/>
          <p:cNvSpPr/>
          <p:nvPr/>
        </p:nvSpPr>
        <p:spPr>
          <a:xfrm>
            <a:off x="6400800" y="324612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Manage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Members</a:t>
            </a:r>
            <a:endParaRPr lang="en-US" sz="900" dirty="0"/>
          </a:p>
        </p:txBody>
      </p:sp>
      <p:sp>
        <p:nvSpPr>
          <p:cNvPr id="49" name="Shape 47"/>
          <p:cNvSpPr/>
          <p:nvPr/>
        </p:nvSpPr>
        <p:spPr>
          <a:xfrm>
            <a:off x="8183880" y="324612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50" name="Text 48"/>
          <p:cNvSpPr/>
          <p:nvPr/>
        </p:nvSpPr>
        <p:spPr>
          <a:xfrm>
            <a:off x="8229600" y="324612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Manage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Trainers</a:t>
            </a:r>
            <a:endParaRPr lang="en-US" sz="900" dirty="0"/>
          </a:p>
        </p:txBody>
      </p:sp>
      <p:sp>
        <p:nvSpPr>
          <p:cNvPr id="51" name="Shape 49"/>
          <p:cNvSpPr/>
          <p:nvPr/>
        </p:nvSpPr>
        <p:spPr>
          <a:xfrm>
            <a:off x="2606040" y="411480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52" name="Text 50"/>
          <p:cNvSpPr/>
          <p:nvPr/>
        </p:nvSpPr>
        <p:spPr>
          <a:xfrm>
            <a:off x="2651760" y="411480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Manage</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Plans</a:t>
            </a:r>
            <a:endParaRPr lang="en-US" sz="900" dirty="0"/>
          </a:p>
        </p:txBody>
      </p:sp>
      <p:sp>
        <p:nvSpPr>
          <p:cNvPr id="53" name="Shape 51"/>
          <p:cNvSpPr/>
          <p:nvPr/>
        </p:nvSpPr>
        <p:spPr>
          <a:xfrm>
            <a:off x="4480560" y="411480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54" name="Text 52"/>
          <p:cNvSpPr/>
          <p:nvPr/>
        </p:nvSpPr>
        <p:spPr>
          <a:xfrm>
            <a:off x="4526280" y="411480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View Analytics</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Dashboard</a:t>
            </a:r>
            <a:endParaRPr lang="en-US" sz="900" dirty="0"/>
          </a:p>
        </p:txBody>
      </p:sp>
      <p:sp>
        <p:nvSpPr>
          <p:cNvPr id="55" name="Shape 53"/>
          <p:cNvSpPr/>
          <p:nvPr/>
        </p:nvSpPr>
        <p:spPr>
          <a:xfrm>
            <a:off x="6355080" y="411480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56" name="Text 54"/>
          <p:cNvSpPr/>
          <p:nvPr/>
        </p:nvSpPr>
        <p:spPr>
          <a:xfrm>
            <a:off x="6400800" y="411480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View All</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Bookings</a:t>
            </a:r>
            <a:endParaRPr lang="en-US" sz="900" dirty="0"/>
          </a:p>
        </p:txBody>
      </p:sp>
      <p:sp>
        <p:nvSpPr>
          <p:cNvPr id="57" name="Shape 55"/>
          <p:cNvSpPr/>
          <p:nvPr/>
        </p:nvSpPr>
        <p:spPr>
          <a:xfrm>
            <a:off x="8183880" y="4114800"/>
            <a:ext cx="1691640" cy="658368"/>
          </a:xfrm>
          <a:prstGeom prst="ellipse">
            <a:avLst/>
          </a:prstGeom>
          <a:solidFill>
            <a:srgbClr val="EAF2FB"/>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58" name="Text 56"/>
          <p:cNvSpPr/>
          <p:nvPr/>
        </p:nvSpPr>
        <p:spPr>
          <a:xfrm>
            <a:off x="8229600" y="4114800"/>
            <a:ext cx="1600200" cy="658368"/>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View All</a:t>
            </a:r>
            <a:endParaRPr lang="en-US" sz="900" dirty="0"/>
          </a:p>
          <a:p>
            <a:pPr algn="ctr" indent="0" marL="0">
              <a:buNone/>
            </a:pPr>
            <a:r>
              <a:rPr lang="en-US" sz="900" b="1" dirty="0">
                <a:solidFill>
                  <a:srgbClr val="0B2545"/>
                </a:solidFill>
                <a:latin typeface="Calibri" pitchFamily="34" charset="0"/>
                <a:ea typeface="Calibri" pitchFamily="34" charset="-122"/>
                <a:cs typeface="Calibri" pitchFamily="34" charset="-120"/>
              </a:rPr>
              <a:t>Payments</a:t>
            </a:r>
            <a:endParaRPr lang="en-US" sz="900" dirty="0"/>
          </a:p>
        </p:txBody>
      </p:sp>
      <p:sp>
        <p:nvSpPr>
          <p:cNvPr id="59" name="Shape 57"/>
          <p:cNvSpPr/>
          <p:nvPr/>
        </p:nvSpPr>
        <p:spPr>
          <a:xfrm flipV="1">
            <a:off x="1234440" y="1837944"/>
            <a:ext cx="1371600" cy="128016"/>
          </a:xfrm>
          <a:prstGeom prst="line">
            <a:avLst/>
          </a:prstGeom>
          <a:noFill/>
          <a:ln w="12700">
            <a:solidFill>
              <a:srgbClr val="9FB3CE"/>
            </a:solidFill>
            <a:prstDash val="solid"/>
          </a:ln>
        </p:spPr>
      </p:sp>
      <p:sp>
        <p:nvSpPr>
          <p:cNvPr id="60" name="Shape 58"/>
          <p:cNvSpPr/>
          <p:nvPr/>
        </p:nvSpPr>
        <p:spPr>
          <a:xfrm flipV="1">
            <a:off x="1234440" y="1837944"/>
            <a:ext cx="3246120" cy="128016"/>
          </a:xfrm>
          <a:prstGeom prst="line">
            <a:avLst/>
          </a:prstGeom>
          <a:noFill/>
          <a:ln w="12700">
            <a:solidFill>
              <a:srgbClr val="9FB3CE"/>
            </a:solidFill>
            <a:prstDash val="solid"/>
          </a:ln>
        </p:spPr>
      </p:sp>
      <p:sp>
        <p:nvSpPr>
          <p:cNvPr id="61" name="Shape 59"/>
          <p:cNvSpPr/>
          <p:nvPr/>
        </p:nvSpPr>
        <p:spPr>
          <a:xfrm flipV="1">
            <a:off x="1234440" y="1837944"/>
            <a:ext cx="5120640" cy="128016"/>
          </a:xfrm>
          <a:prstGeom prst="line">
            <a:avLst/>
          </a:prstGeom>
          <a:noFill/>
          <a:ln w="12700">
            <a:solidFill>
              <a:srgbClr val="9FB3CE"/>
            </a:solidFill>
            <a:prstDash val="solid"/>
          </a:ln>
        </p:spPr>
      </p:sp>
      <p:sp>
        <p:nvSpPr>
          <p:cNvPr id="62" name="Shape 60"/>
          <p:cNvSpPr/>
          <p:nvPr/>
        </p:nvSpPr>
        <p:spPr>
          <a:xfrm flipV="1">
            <a:off x="1234440" y="1837944"/>
            <a:ext cx="6949440" cy="128016"/>
          </a:xfrm>
          <a:prstGeom prst="line">
            <a:avLst/>
          </a:prstGeom>
          <a:noFill/>
          <a:ln w="12700">
            <a:solidFill>
              <a:srgbClr val="9FB3CE"/>
            </a:solidFill>
            <a:prstDash val="solid"/>
          </a:ln>
        </p:spPr>
      </p:sp>
      <p:sp>
        <p:nvSpPr>
          <p:cNvPr id="63" name="Shape 61"/>
          <p:cNvSpPr/>
          <p:nvPr/>
        </p:nvSpPr>
        <p:spPr>
          <a:xfrm>
            <a:off x="1234440" y="1965960"/>
            <a:ext cx="1371600" cy="740664"/>
          </a:xfrm>
          <a:prstGeom prst="line">
            <a:avLst/>
          </a:prstGeom>
          <a:noFill/>
          <a:ln w="12700">
            <a:solidFill>
              <a:srgbClr val="9FB3CE"/>
            </a:solidFill>
            <a:prstDash val="solid"/>
          </a:ln>
        </p:spPr>
      </p:sp>
      <p:sp>
        <p:nvSpPr>
          <p:cNvPr id="64" name="Shape 62"/>
          <p:cNvSpPr/>
          <p:nvPr/>
        </p:nvSpPr>
        <p:spPr>
          <a:xfrm>
            <a:off x="1234440" y="1965960"/>
            <a:ext cx="3246120" cy="740664"/>
          </a:xfrm>
          <a:prstGeom prst="line">
            <a:avLst/>
          </a:prstGeom>
          <a:noFill/>
          <a:ln w="12700">
            <a:solidFill>
              <a:srgbClr val="9FB3CE"/>
            </a:solidFill>
            <a:prstDash val="solid"/>
          </a:ln>
        </p:spPr>
      </p:sp>
      <p:sp>
        <p:nvSpPr>
          <p:cNvPr id="65" name="Shape 63"/>
          <p:cNvSpPr/>
          <p:nvPr/>
        </p:nvSpPr>
        <p:spPr>
          <a:xfrm>
            <a:off x="1234440" y="1965960"/>
            <a:ext cx="5120640" cy="740664"/>
          </a:xfrm>
          <a:prstGeom prst="line">
            <a:avLst/>
          </a:prstGeom>
          <a:noFill/>
          <a:ln w="12700">
            <a:solidFill>
              <a:srgbClr val="9FB3CE"/>
            </a:solidFill>
            <a:prstDash val="solid"/>
          </a:ln>
        </p:spPr>
      </p:sp>
      <p:sp>
        <p:nvSpPr>
          <p:cNvPr id="66" name="Shape 64"/>
          <p:cNvSpPr/>
          <p:nvPr/>
        </p:nvSpPr>
        <p:spPr>
          <a:xfrm>
            <a:off x="1234440" y="1965960"/>
            <a:ext cx="6949440" cy="740664"/>
          </a:xfrm>
          <a:prstGeom prst="line">
            <a:avLst/>
          </a:prstGeom>
          <a:noFill/>
          <a:ln w="12700">
            <a:solidFill>
              <a:srgbClr val="9FB3CE"/>
            </a:solidFill>
            <a:prstDash val="solid"/>
          </a:ln>
        </p:spPr>
      </p:sp>
      <p:sp>
        <p:nvSpPr>
          <p:cNvPr id="67" name="Shape 65"/>
          <p:cNvSpPr/>
          <p:nvPr/>
        </p:nvSpPr>
        <p:spPr>
          <a:xfrm flipV="1">
            <a:off x="1234440" y="1837944"/>
            <a:ext cx="1371600" cy="1865376"/>
          </a:xfrm>
          <a:prstGeom prst="line">
            <a:avLst/>
          </a:prstGeom>
          <a:noFill/>
          <a:ln w="12700">
            <a:solidFill>
              <a:srgbClr val="6C8FC7"/>
            </a:solidFill>
            <a:prstDash val="solid"/>
          </a:ln>
        </p:spPr>
      </p:sp>
      <p:sp>
        <p:nvSpPr>
          <p:cNvPr id="68" name="Shape 66"/>
          <p:cNvSpPr/>
          <p:nvPr/>
        </p:nvSpPr>
        <p:spPr>
          <a:xfrm flipV="1">
            <a:off x="1234440" y="2706624"/>
            <a:ext cx="1371600" cy="996696"/>
          </a:xfrm>
          <a:prstGeom prst="line">
            <a:avLst/>
          </a:prstGeom>
          <a:noFill/>
          <a:ln w="12700">
            <a:solidFill>
              <a:srgbClr val="6C8FC7"/>
            </a:solidFill>
            <a:prstDash val="solid"/>
          </a:ln>
        </p:spPr>
      </p:sp>
      <p:sp>
        <p:nvSpPr>
          <p:cNvPr id="69" name="Shape 67"/>
          <p:cNvSpPr/>
          <p:nvPr/>
        </p:nvSpPr>
        <p:spPr>
          <a:xfrm flipV="1">
            <a:off x="1234440" y="2706624"/>
            <a:ext cx="3246120" cy="996696"/>
          </a:xfrm>
          <a:prstGeom prst="line">
            <a:avLst/>
          </a:prstGeom>
          <a:noFill/>
          <a:ln w="12700">
            <a:solidFill>
              <a:srgbClr val="6C8FC7"/>
            </a:solidFill>
            <a:prstDash val="solid"/>
          </a:ln>
        </p:spPr>
      </p:sp>
      <p:sp>
        <p:nvSpPr>
          <p:cNvPr id="70" name="Shape 68"/>
          <p:cNvSpPr/>
          <p:nvPr/>
        </p:nvSpPr>
        <p:spPr>
          <a:xfrm flipV="1">
            <a:off x="1234440" y="2706624"/>
            <a:ext cx="5120640" cy="996696"/>
          </a:xfrm>
          <a:prstGeom prst="line">
            <a:avLst/>
          </a:prstGeom>
          <a:noFill/>
          <a:ln w="12700">
            <a:solidFill>
              <a:srgbClr val="6C8FC7"/>
            </a:solidFill>
            <a:prstDash val="solid"/>
          </a:ln>
        </p:spPr>
      </p:sp>
      <p:sp>
        <p:nvSpPr>
          <p:cNvPr id="71" name="Shape 69"/>
          <p:cNvSpPr/>
          <p:nvPr/>
        </p:nvSpPr>
        <p:spPr>
          <a:xfrm flipV="1">
            <a:off x="1234440" y="3575304"/>
            <a:ext cx="1371600" cy="128016"/>
          </a:xfrm>
          <a:prstGeom prst="line">
            <a:avLst/>
          </a:prstGeom>
          <a:noFill/>
          <a:ln w="12700">
            <a:solidFill>
              <a:srgbClr val="6C8FC7"/>
            </a:solidFill>
            <a:prstDash val="solid"/>
          </a:ln>
        </p:spPr>
      </p:sp>
      <p:sp>
        <p:nvSpPr>
          <p:cNvPr id="72" name="Shape 70"/>
          <p:cNvSpPr/>
          <p:nvPr/>
        </p:nvSpPr>
        <p:spPr>
          <a:xfrm flipV="1">
            <a:off x="1234440" y="3575304"/>
            <a:ext cx="3246120" cy="128016"/>
          </a:xfrm>
          <a:prstGeom prst="line">
            <a:avLst/>
          </a:prstGeom>
          <a:noFill/>
          <a:ln w="12700">
            <a:solidFill>
              <a:srgbClr val="6C8FC7"/>
            </a:solidFill>
            <a:prstDash val="solid"/>
          </a:ln>
        </p:spPr>
      </p:sp>
      <p:sp>
        <p:nvSpPr>
          <p:cNvPr id="73" name="Shape 71"/>
          <p:cNvSpPr/>
          <p:nvPr/>
        </p:nvSpPr>
        <p:spPr>
          <a:xfrm flipH="1">
            <a:off x="8046720" y="2788920"/>
            <a:ext cx="2971800" cy="786384"/>
          </a:xfrm>
          <a:prstGeom prst="line">
            <a:avLst/>
          </a:prstGeom>
          <a:noFill/>
          <a:ln w="12700">
            <a:solidFill>
              <a:srgbClr val="D9A25C"/>
            </a:solidFill>
            <a:prstDash val="solid"/>
          </a:ln>
        </p:spPr>
      </p:sp>
      <p:sp>
        <p:nvSpPr>
          <p:cNvPr id="74" name="Shape 72"/>
          <p:cNvSpPr/>
          <p:nvPr/>
        </p:nvSpPr>
        <p:spPr>
          <a:xfrm flipH="1">
            <a:off x="9875520" y="2788920"/>
            <a:ext cx="1143000" cy="786384"/>
          </a:xfrm>
          <a:prstGeom prst="line">
            <a:avLst/>
          </a:prstGeom>
          <a:noFill/>
          <a:ln w="12700">
            <a:solidFill>
              <a:srgbClr val="D9A25C"/>
            </a:solidFill>
            <a:prstDash val="solid"/>
          </a:ln>
        </p:spPr>
      </p:sp>
      <p:sp>
        <p:nvSpPr>
          <p:cNvPr id="75" name="Shape 73"/>
          <p:cNvSpPr/>
          <p:nvPr/>
        </p:nvSpPr>
        <p:spPr>
          <a:xfrm flipH="1">
            <a:off x="4297680" y="2788920"/>
            <a:ext cx="6720840" cy="1655064"/>
          </a:xfrm>
          <a:prstGeom prst="line">
            <a:avLst/>
          </a:prstGeom>
          <a:noFill/>
          <a:ln w="12700">
            <a:solidFill>
              <a:srgbClr val="D9A25C"/>
            </a:solidFill>
            <a:prstDash val="solid"/>
          </a:ln>
        </p:spPr>
      </p:sp>
      <p:sp>
        <p:nvSpPr>
          <p:cNvPr id="76" name="Shape 74"/>
          <p:cNvSpPr/>
          <p:nvPr/>
        </p:nvSpPr>
        <p:spPr>
          <a:xfrm flipH="1">
            <a:off x="6172200" y="2788920"/>
            <a:ext cx="4846320" cy="1655064"/>
          </a:xfrm>
          <a:prstGeom prst="line">
            <a:avLst/>
          </a:prstGeom>
          <a:noFill/>
          <a:ln w="12700">
            <a:solidFill>
              <a:srgbClr val="D9A25C"/>
            </a:solidFill>
            <a:prstDash val="solid"/>
          </a:ln>
        </p:spPr>
      </p:sp>
      <p:sp>
        <p:nvSpPr>
          <p:cNvPr id="77" name="Shape 75"/>
          <p:cNvSpPr/>
          <p:nvPr/>
        </p:nvSpPr>
        <p:spPr>
          <a:xfrm flipH="1">
            <a:off x="8046720" y="2788920"/>
            <a:ext cx="2971800" cy="1655064"/>
          </a:xfrm>
          <a:prstGeom prst="line">
            <a:avLst/>
          </a:prstGeom>
          <a:noFill/>
          <a:ln w="12700">
            <a:solidFill>
              <a:srgbClr val="D9A25C"/>
            </a:solidFill>
            <a:prstDash val="solid"/>
          </a:ln>
        </p:spPr>
      </p:sp>
      <p:sp>
        <p:nvSpPr>
          <p:cNvPr id="78" name="Shape 76"/>
          <p:cNvSpPr/>
          <p:nvPr/>
        </p:nvSpPr>
        <p:spPr>
          <a:xfrm flipH="1">
            <a:off x="9875520" y="2788920"/>
            <a:ext cx="1143000" cy="1655064"/>
          </a:xfrm>
          <a:prstGeom prst="line">
            <a:avLst/>
          </a:prstGeom>
          <a:noFill/>
          <a:ln w="12700">
            <a:solidFill>
              <a:srgbClr val="D9A25C"/>
            </a:solidFill>
            <a:prstDash val="solid"/>
          </a:ln>
        </p:spPr>
      </p:sp>
      <p:sp>
        <p:nvSpPr>
          <p:cNvPr id="79" name="Shape 77"/>
          <p:cNvSpPr/>
          <p:nvPr/>
        </p:nvSpPr>
        <p:spPr>
          <a:xfrm flipH="1" flipV="1">
            <a:off x="8046720" y="2706624"/>
            <a:ext cx="2971800" cy="82296"/>
          </a:xfrm>
          <a:prstGeom prst="line">
            <a:avLst/>
          </a:prstGeom>
          <a:noFill/>
          <a:ln w="12700">
            <a:solidFill>
              <a:srgbClr val="D9A25C"/>
            </a:solidFill>
            <a:prstDash val="solid"/>
          </a:ln>
        </p:spPr>
      </p:sp>
      <p:sp>
        <p:nvSpPr>
          <p:cNvPr id="80" name="Text 78"/>
          <p:cNvSpPr/>
          <p:nvPr/>
        </p:nvSpPr>
        <p:spPr>
          <a:xfrm>
            <a:off x="2331720" y="6400800"/>
            <a:ext cx="5486400" cy="274320"/>
          </a:xfrm>
          <a:prstGeom prst="rect">
            <a:avLst/>
          </a:prstGeom>
          <a:noFill/>
          <a:ln/>
        </p:spPr>
        <p:txBody>
          <a:bodyPr wrap="square" lIns="0" tIns="0" rIns="0" bIns="0" rtlCol="0" anchor="ctr"/>
          <a:lstStyle/>
          <a:p>
            <a:pPr indent="0" marL="0">
              <a:buNone/>
            </a:pPr>
            <a:r>
              <a:rPr lang="en-US" sz="950" b="1" dirty="0">
                <a:solidFill>
                  <a:srgbClr val="0B2545"/>
                </a:solidFill>
                <a:latin typeface="Calibri" pitchFamily="34" charset="0"/>
                <a:ea typeface="Calibri" pitchFamily="34" charset="-122"/>
                <a:cs typeface="Calibri" pitchFamily="34" charset="-120"/>
              </a:rPr>
              <a:t>— </a:t>
            </a:r>
            <a:pPr indent="0" marL="0">
              <a:buNone/>
            </a:pPr>
            <a:r>
              <a:rPr lang="en-US" sz="950" dirty="0">
                <a:solidFill>
                  <a:srgbClr val="5B6B85"/>
                </a:solidFill>
                <a:latin typeface="Calibri" pitchFamily="34" charset="0"/>
                <a:ea typeface="Calibri" pitchFamily="34" charset="-122"/>
                <a:cs typeface="Calibri" pitchFamily="34" charset="-120"/>
              </a:rPr>
              <a:t>Member   </a:t>
            </a:r>
            <a:pPr indent="0" marL="0">
              <a:buNone/>
            </a:pPr>
            <a:r>
              <a:rPr lang="en-US" sz="950" b="1" dirty="0">
                <a:solidFill>
                  <a:srgbClr val="1B4F91"/>
                </a:solidFill>
                <a:latin typeface="Calibri" pitchFamily="34" charset="0"/>
                <a:ea typeface="Calibri" pitchFamily="34" charset="-122"/>
                <a:cs typeface="Calibri" pitchFamily="34" charset="-120"/>
              </a:rPr>
              <a:t>— </a:t>
            </a:r>
            <a:pPr indent="0" marL="0">
              <a:buNone/>
            </a:pPr>
            <a:r>
              <a:rPr lang="en-US" sz="950" dirty="0">
                <a:solidFill>
                  <a:srgbClr val="5B6B85"/>
                </a:solidFill>
                <a:latin typeface="Calibri" pitchFamily="34" charset="0"/>
                <a:ea typeface="Calibri" pitchFamily="34" charset="-122"/>
                <a:cs typeface="Calibri" pitchFamily="34" charset="-120"/>
              </a:rPr>
              <a:t>Trainer   </a:t>
            </a:r>
            <a:pPr indent="0" marL="0">
              <a:buNone/>
            </a:pPr>
            <a:r>
              <a:rPr lang="en-US" sz="950" b="1" dirty="0">
                <a:solidFill>
                  <a:srgbClr val="C9781F"/>
                </a:solidFill>
                <a:latin typeface="Calibri" pitchFamily="34" charset="0"/>
                <a:ea typeface="Calibri" pitchFamily="34" charset="-122"/>
                <a:cs typeface="Calibri" pitchFamily="34" charset="-120"/>
              </a:rPr>
              <a:t>— </a:t>
            </a:r>
            <a:pPr indent="0" marL="0">
              <a:buNone/>
            </a:pPr>
            <a:r>
              <a:rPr lang="en-US" sz="950" dirty="0">
                <a:solidFill>
                  <a:srgbClr val="5B6B85"/>
                </a:solidFill>
                <a:latin typeface="Calibri" pitchFamily="34" charset="0"/>
                <a:ea typeface="Calibri" pitchFamily="34" charset="-122"/>
                <a:cs typeface="Calibri" pitchFamily="34" charset="-120"/>
              </a:rPr>
              <a:t>Admin</a:t>
            </a:r>
            <a:endParaRPr lang="en-US" sz="950" dirty="0"/>
          </a:p>
        </p:txBody>
      </p:sp>
      <p:sp>
        <p:nvSpPr>
          <p:cNvPr id="81" name="Text 79"/>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82" name="Text 80"/>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Use Case Diagram</a:t>
            </a:r>
            <a:endParaRPr lang="en-US" sz="900" dirty="0"/>
          </a:p>
        </p:txBody>
      </p:sp>
      <p:sp>
        <p:nvSpPr>
          <p:cNvPr id="83" name="Text 81"/>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UML DIAGRAM — ACTIVITY</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Activity Diagram — Booking + Payment Workflow</a:t>
            </a:r>
            <a:endParaRPr lang="en-US" sz="2800" dirty="0"/>
          </a:p>
        </p:txBody>
      </p:sp>
      <p:sp>
        <p:nvSpPr>
          <p:cNvPr id="4" name="Shape 2"/>
          <p:cNvSpPr/>
          <p:nvPr/>
        </p:nvSpPr>
        <p:spPr>
          <a:xfrm>
            <a:off x="5934456" y="1362456"/>
            <a:ext cx="292608" cy="292608"/>
          </a:xfrm>
          <a:prstGeom prst="ellipse">
            <a:avLst/>
          </a:prstGeom>
          <a:solidFill>
            <a:srgbClr val="0B2545"/>
          </a:solidFill>
          <a:ln/>
        </p:spPr>
      </p:sp>
      <p:sp>
        <p:nvSpPr>
          <p:cNvPr id="5" name="Shape 3"/>
          <p:cNvSpPr/>
          <p:nvPr/>
        </p:nvSpPr>
        <p:spPr>
          <a:xfrm>
            <a:off x="6080760" y="1655064"/>
            <a:ext cx="0" cy="219456"/>
          </a:xfrm>
          <a:prstGeom prst="line">
            <a:avLst/>
          </a:prstGeom>
          <a:noFill/>
          <a:ln w="15875">
            <a:solidFill>
              <a:srgbClr val="8FA6C7"/>
            </a:solidFill>
            <a:prstDash val="solid"/>
            <a:tailEnd type="triangle"/>
          </a:ln>
        </p:spPr>
      </p:sp>
      <p:sp>
        <p:nvSpPr>
          <p:cNvPr id="6" name="Shape 4"/>
          <p:cNvSpPr/>
          <p:nvPr/>
        </p:nvSpPr>
        <p:spPr>
          <a:xfrm>
            <a:off x="5074920" y="1920240"/>
            <a:ext cx="2011680" cy="457200"/>
          </a:xfrm>
          <a:prstGeom prst="roundRect">
            <a:avLst>
              <a:gd name="adj" fmla="val 70000"/>
            </a:avLst>
          </a:prstGeom>
          <a:solidFill>
            <a:srgbClr val="FFFFFF"/>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7" name="Text 5"/>
          <p:cNvSpPr/>
          <p:nvPr/>
        </p:nvSpPr>
        <p:spPr>
          <a:xfrm>
            <a:off x="5120640" y="1920240"/>
            <a:ext cx="1920240" cy="45720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Member authenticates</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(JWT via Gateway)</a:t>
            </a:r>
            <a:endParaRPr lang="en-US" sz="870" dirty="0"/>
          </a:p>
        </p:txBody>
      </p:sp>
      <p:sp>
        <p:nvSpPr>
          <p:cNvPr id="8" name="Shape 6"/>
          <p:cNvSpPr/>
          <p:nvPr/>
        </p:nvSpPr>
        <p:spPr>
          <a:xfrm>
            <a:off x="6080760" y="2377440"/>
            <a:ext cx="0" cy="219456"/>
          </a:xfrm>
          <a:prstGeom prst="line">
            <a:avLst/>
          </a:prstGeom>
          <a:noFill/>
          <a:ln w="15875">
            <a:solidFill>
              <a:srgbClr val="8FA6C7"/>
            </a:solidFill>
            <a:prstDash val="solid"/>
            <a:tailEnd type="triangle"/>
          </a:ln>
        </p:spPr>
      </p:sp>
      <p:sp>
        <p:nvSpPr>
          <p:cNvPr id="9" name="Shape 7"/>
          <p:cNvSpPr/>
          <p:nvPr/>
        </p:nvSpPr>
        <p:spPr>
          <a:xfrm>
            <a:off x="4937760" y="2642616"/>
            <a:ext cx="2286000" cy="457200"/>
          </a:xfrm>
          <a:prstGeom prst="roundRect">
            <a:avLst>
              <a:gd name="adj" fmla="val 70000"/>
            </a:avLst>
          </a:prstGeom>
          <a:solidFill>
            <a:srgbClr val="FFFFFF"/>
          </a:solidFill>
          <a:ln w="15875">
            <a:solidFill>
              <a:srgbClr val="1B4F91"/>
            </a:solidFill>
            <a:prstDash val="solid"/>
          </a:ln>
          <a:effectLst>
            <a:outerShdw sx="100000" sy="100000" kx="0" ky="0" algn="bl" rotWithShape="0" blurRad="63500" dist="12700" dir="5400000">
              <a:srgbClr val="0B2545">
                <a:alpha val="8000"/>
              </a:srgbClr>
            </a:outerShdw>
          </a:effectLst>
        </p:spPr>
      </p:sp>
      <p:sp>
        <p:nvSpPr>
          <p:cNvPr id="10" name="Text 8"/>
          <p:cNvSpPr/>
          <p:nvPr/>
        </p:nvSpPr>
        <p:spPr>
          <a:xfrm>
            <a:off x="4983480" y="2642616"/>
            <a:ext cx="2194560" cy="45720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Submit BookingRequest</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(trainerId, scheduleId)</a:t>
            </a:r>
            <a:endParaRPr lang="en-US" sz="870" dirty="0"/>
          </a:p>
        </p:txBody>
      </p:sp>
      <p:sp>
        <p:nvSpPr>
          <p:cNvPr id="11" name="Shape 9"/>
          <p:cNvSpPr/>
          <p:nvPr/>
        </p:nvSpPr>
        <p:spPr>
          <a:xfrm>
            <a:off x="6080760" y="3099816"/>
            <a:ext cx="0" cy="219456"/>
          </a:xfrm>
          <a:prstGeom prst="line">
            <a:avLst/>
          </a:prstGeom>
          <a:noFill/>
          <a:ln w="15875">
            <a:solidFill>
              <a:srgbClr val="8FA6C7"/>
            </a:solidFill>
            <a:prstDash val="solid"/>
            <a:tailEnd type="triangle"/>
          </a:ln>
        </p:spPr>
      </p:sp>
      <p:sp>
        <p:nvSpPr>
          <p:cNvPr id="12" name="Shape 10"/>
          <p:cNvSpPr/>
          <p:nvPr/>
        </p:nvSpPr>
        <p:spPr>
          <a:xfrm>
            <a:off x="4983480" y="3364992"/>
            <a:ext cx="2194560" cy="777240"/>
          </a:xfrm>
          <a:prstGeom prst="diamond">
            <a:avLst/>
          </a:prstGeom>
          <a:solidFill>
            <a:srgbClr val="FFF7E8"/>
          </a:solidFill>
          <a:ln w="15875">
            <a:solidFill>
              <a:srgbClr val="C9781F"/>
            </a:solidFill>
            <a:prstDash val="solid"/>
          </a:ln>
        </p:spPr>
      </p:sp>
      <p:sp>
        <p:nvSpPr>
          <p:cNvPr id="13" name="Text 11"/>
          <p:cNvSpPr/>
          <p:nvPr/>
        </p:nvSpPr>
        <p:spPr>
          <a:xfrm>
            <a:off x="4983480" y="3364992"/>
            <a:ext cx="2194560" cy="777240"/>
          </a:xfrm>
          <a:prstGeom prst="rect">
            <a:avLst/>
          </a:prstGeom>
          <a:noFill/>
          <a:ln/>
        </p:spPr>
        <p:txBody>
          <a:bodyPr wrap="square" lIns="12700" tIns="12700" rIns="12700" bIns="12700" rtlCol="0" anchor="ctr"/>
          <a:lstStyle/>
          <a:p>
            <a:pPr algn="ctr" indent="0" marL="0">
              <a:buNone/>
            </a:pPr>
            <a:r>
              <a:rPr lang="en-US" sz="830" b="1" dirty="0">
                <a:solidFill>
                  <a:srgbClr val="0B2545"/>
                </a:solidFill>
                <a:latin typeface="Calibri" pitchFamily="34" charset="0"/>
                <a:ea typeface="Calibri" pitchFamily="34" charset="-122"/>
                <a:cs typeface="Calibri" pitchFamily="34" charset="-120"/>
              </a:rPr>
              <a:t>Free session</a:t>
            </a:r>
            <a:endParaRPr lang="en-US" sz="830" dirty="0"/>
          </a:p>
          <a:p>
            <a:pPr algn="ctr" indent="0" marL="0">
              <a:buNone/>
            </a:pPr>
            <a:r>
              <a:rPr lang="en-US" sz="830" b="1" dirty="0">
                <a:solidFill>
                  <a:srgbClr val="0B2545"/>
                </a:solidFill>
                <a:latin typeface="Calibri" pitchFamily="34" charset="0"/>
                <a:ea typeface="Calibri" pitchFamily="34" charset="-122"/>
                <a:cs typeface="Calibri" pitchFamily="34" charset="-120"/>
              </a:rPr>
              <a:t>available?</a:t>
            </a:r>
            <a:endParaRPr lang="en-US" sz="830" dirty="0"/>
          </a:p>
          <a:p>
            <a:pPr algn="ctr" indent="0" marL="0">
              <a:buNone/>
            </a:pPr>
            <a:r>
              <a:rPr lang="en-US" sz="830" b="1" dirty="0">
                <a:solidFill>
                  <a:srgbClr val="0B2545"/>
                </a:solidFill>
                <a:latin typeface="Calibri" pitchFamily="34" charset="0"/>
                <a:ea typeface="Calibri" pitchFamily="34" charset="-122"/>
                <a:cs typeface="Calibri" pitchFamily="34" charset="-120"/>
              </a:rPr>
              <a:t>(plan-service check)</a:t>
            </a:r>
            <a:endParaRPr lang="en-US" sz="830" dirty="0"/>
          </a:p>
        </p:txBody>
      </p:sp>
      <p:sp>
        <p:nvSpPr>
          <p:cNvPr id="14" name="Shape 12"/>
          <p:cNvSpPr/>
          <p:nvPr/>
        </p:nvSpPr>
        <p:spPr>
          <a:xfrm>
            <a:off x="4983480" y="3749040"/>
            <a:ext cx="-1417320" cy="0"/>
          </a:xfrm>
          <a:prstGeom prst="line">
            <a:avLst/>
          </a:prstGeom>
          <a:noFill/>
          <a:ln w="15875">
            <a:solidFill>
              <a:srgbClr val="1F9D55"/>
            </a:solidFill>
            <a:prstDash val="solid"/>
            <a:tailEnd type="triangle"/>
          </a:ln>
        </p:spPr>
      </p:sp>
      <p:sp>
        <p:nvSpPr>
          <p:cNvPr id="15" name="Text 13"/>
          <p:cNvSpPr/>
          <p:nvPr/>
        </p:nvSpPr>
        <p:spPr>
          <a:xfrm>
            <a:off x="3246120" y="3520440"/>
            <a:ext cx="457200" cy="228600"/>
          </a:xfrm>
          <a:prstGeom prst="rect">
            <a:avLst/>
          </a:prstGeom>
          <a:noFill/>
          <a:ln/>
        </p:spPr>
        <p:txBody>
          <a:bodyPr wrap="square" lIns="0" tIns="0" rIns="0" bIns="0" rtlCol="0" anchor="ctr"/>
          <a:lstStyle/>
          <a:p>
            <a:pPr indent="0" marL="0">
              <a:buNone/>
            </a:pPr>
            <a:r>
              <a:rPr lang="en-US" sz="850" b="1" dirty="0">
                <a:solidFill>
                  <a:srgbClr val="1F9D55"/>
                </a:solidFill>
                <a:latin typeface="Calibri" pitchFamily="34" charset="0"/>
                <a:ea typeface="Calibri" pitchFamily="34" charset="-122"/>
                <a:cs typeface="Calibri" pitchFamily="34" charset="-120"/>
              </a:rPr>
              <a:t>yes</a:t>
            </a:r>
            <a:endParaRPr lang="en-US" sz="850" dirty="0"/>
          </a:p>
        </p:txBody>
      </p:sp>
      <p:sp>
        <p:nvSpPr>
          <p:cNvPr id="16" name="Shape 14"/>
          <p:cNvSpPr/>
          <p:nvPr/>
        </p:nvSpPr>
        <p:spPr>
          <a:xfrm>
            <a:off x="1965960" y="3529584"/>
            <a:ext cx="2011680" cy="457200"/>
          </a:xfrm>
          <a:prstGeom prst="roundRect">
            <a:avLst>
              <a:gd name="adj" fmla="val 70000"/>
            </a:avLst>
          </a:prstGeom>
          <a:solidFill>
            <a:srgbClr val="FFFFFF"/>
          </a:solidFill>
          <a:ln w="15875">
            <a:solidFill>
              <a:srgbClr val="1F9D55"/>
            </a:solidFill>
            <a:prstDash val="solid"/>
          </a:ln>
          <a:effectLst>
            <a:outerShdw sx="100000" sy="100000" kx="0" ky="0" algn="bl" rotWithShape="0" blurRad="63500" dist="12700" dir="5400000">
              <a:srgbClr val="0B2545">
                <a:alpha val="8000"/>
              </a:srgbClr>
            </a:outerShdw>
          </a:effectLst>
        </p:spPr>
      </p:sp>
      <p:sp>
        <p:nvSpPr>
          <p:cNvPr id="17" name="Text 15"/>
          <p:cNvSpPr/>
          <p:nvPr/>
        </p:nvSpPr>
        <p:spPr>
          <a:xfrm>
            <a:off x="2011680" y="3529584"/>
            <a:ext cx="1920240" cy="45720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Consume free-session</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quota (plan-service)</a:t>
            </a:r>
            <a:endParaRPr lang="en-US" sz="870" dirty="0"/>
          </a:p>
        </p:txBody>
      </p:sp>
      <p:sp>
        <p:nvSpPr>
          <p:cNvPr id="18" name="Shape 16"/>
          <p:cNvSpPr/>
          <p:nvPr/>
        </p:nvSpPr>
        <p:spPr>
          <a:xfrm>
            <a:off x="2971800" y="3986784"/>
            <a:ext cx="0" cy="320040"/>
          </a:xfrm>
          <a:prstGeom prst="line">
            <a:avLst/>
          </a:prstGeom>
          <a:noFill/>
          <a:ln w="15875">
            <a:solidFill>
              <a:srgbClr val="1F9D55"/>
            </a:solidFill>
            <a:prstDash val="solid"/>
            <a:tailEnd type="triangle"/>
          </a:ln>
        </p:spPr>
      </p:sp>
      <p:sp>
        <p:nvSpPr>
          <p:cNvPr id="19" name="Shape 17"/>
          <p:cNvSpPr/>
          <p:nvPr/>
        </p:nvSpPr>
        <p:spPr>
          <a:xfrm>
            <a:off x="1965960" y="4315968"/>
            <a:ext cx="2011680" cy="457200"/>
          </a:xfrm>
          <a:prstGeom prst="roundRect">
            <a:avLst>
              <a:gd name="adj" fmla="val 70000"/>
            </a:avLst>
          </a:prstGeom>
          <a:solidFill>
            <a:srgbClr val="FFFFFF"/>
          </a:solidFill>
          <a:ln w="15875">
            <a:solidFill>
              <a:srgbClr val="1F9D55"/>
            </a:solidFill>
            <a:prstDash val="solid"/>
          </a:ln>
          <a:effectLst>
            <a:outerShdw sx="100000" sy="100000" kx="0" ky="0" algn="bl" rotWithShape="0" blurRad="63500" dist="12700" dir="5400000">
              <a:srgbClr val="0B2545">
                <a:alpha val="8000"/>
              </a:srgbClr>
            </a:outerShdw>
          </a:effectLst>
        </p:spPr>
      </p:sp>
      <p:sp>
        <p:nvSpPr>
          <p:cNvPr id="20" name="Text 18"/>
          <p:cNvSpPr/>
          <p:nvPr/>
        </p:nvSpPr>
        <p:spPr>
          <a:xfrm>
            <a:off x="2011680" y="4315968"/>
            <a:ext cx="1920240" cy="45720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Save booking</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sessionType=FREE_SESSION</a:t>
            </a:r>
            <a:endParaRPr lang="en-US" sz="870" dirty="0"/>
          </a:p>
        </p:txBody>
      </p:sp>
      <p:sp>
        <p:nvSpPr>
          <p:cNvPr id="21" name="Shape 19"/>
          <p:cNvSpPr/>
          <p:nvPr/>
        </p:nvSpPr>
        <p:spPr>
          <a:xfrm>
            <a:off x="7178040" y="3749040"/>
            <a:ext cx="1417320" cy="0"/>
          </a:xfrm>
          <a:prstGeom prst="line">
            <a:avLst/>
          </a:prstGeom>
          <a:noFill/>
          <a:ln w="15875">
            <a:solidFill>
              <a:srgbClr val="C9781F"/>
            </a:solidFill>
            <a:prstDash val="solid"/>
            <a:tailEnd type="triangle"/>
          </a:ln>
        </p:spPr>
      </p:sp>
      <p:sp>
        <p:nvSpPr>
          <p:cNvPr id="22" name="Text 20"/>
          <p:cNvSpPr/>
          <p:nvPr/>
        </p:nvSpPr>
        <p:spPr>
          <a:xfrm>
            <a:off x="8549640" y="3520440"/>
            <a:ext cx="457200" cy="228600"/>
          </a:xfrm>
          <a:prstGeom prst="rect">
            <a:avLst/>
          </a:prstGeom>
          <a:noFill/>
          <a:ln/>
        </p:spPr>
        <p:txBody>
          <a:bodyPr wrap="square" lIns="0" tIns="0" rIns="0" bIns="0" rtlCol="0" anchor="ctr"/>
          <a:lstStyle/>
          <a:p>
            <a:pPr indent="0" marL="0">
              <a:buNone/>
            </a:pPr>
            <a:r>
              <a:rPr lang="en-US" sz="850" b="1" dirty="0">
                <a:solidFill>
                  <a:srgbClr val="C9781F"/>
                </a:solidFill>
                <a:latin typeface="Calibri" pitchFamily="34" charset="0"/>
                <a:ea typeface="Calibri" pitchFamily="34" charset="-122"/>
                <a:cs typeface="Calibri" pitchFamily="34" charset="-120"/>
              </a:rPr>
              <a:t>no</a:t>
            </a:r>
            <a:endParaRPr lang="en-US" sz="850" dirty="0"/>
          </a:p>
        </p:txBody>
      </p:sp>
      <p:sp>
        <p:nvSpPr>
          <p:cNvPr id="23" name="Shape 21"/>
          <p:cNvSpPr/>
          <p:nvPr/>
        </p:nvSpPr>
        <p:spPr>
          <a:xfrm>
            <a:off x="8138160" y="3529584"/>
            <a:ext cx="2148840" cy="457200"/>
          </a:xfrm>
          <a:prstGeom prst="roundRect">
            <a:avLst>
              <a:gd name="adj" fmla="val 70000"/>
            </a:avLst>
          </a:prstGeom>
          <a:solidFill>
            <a:srgbClr val="FFFFFF"/>
          </a:solidFill>
          <a:ln w="15875">
            <a:solidFill>
              <a:srgbClr val="C9781F"/>
            </a:solidFill>
            <a:prstDash val="solid"/>
          </a:ln>
          <a:effectLst>
            <a:outerShdw sx="100000" sy="100000" kx="0" ky="0" algn="bl" rotWithShape="0" blurRad="63500" dist="12700" dir="5400000">
              <a:srgbClr val="0B2545">
                <a:alpha val="8000"/>
              </a:srgbClr>
            </a:outerShdw>
          </a:effectLst>
        </p:spPr>
      </p:sp>
      <p:sp>
        <p:nvSpPr>
          <p:cNvPr id="24" name="Text 22"/>
          <p:cNvSpPr/>
          <p:nvPr/>
        </p:nvSpPr>
        <p:spPr>
          <a:xfrm>
            <a:off x="8183880" y="3529584"/>
            <a:ext cx="2057400" cy="45720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Fetch trainer sessionFee</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(trainer-service)</a:t>
            </a:r>
            <a:endParaRPr lang="en-US" sz="870" dirty="0"/>
          </a:p>
        </p:txBody>
      </p:sp>
      <p:sp>
        <p:nvSpPr>
          <p:cNvPr id="25" name="Shape 23"/>
          <p:cNvSpPr/>
          <p:nvPr/>
        </p:nvSpPr>
        <p:spPr>
          <a:xfrm>
            <a:off x="9208008" y="3986784"/>
            <a:ext cx="0" cy="274320"/>
          </a:xfrm>
          <a:prstGeom prst="line">
            <a:avLst/>
          </a:prstGeom>
          <a:noFill/>
          <a:ln w="15875">
            <a:solidFill>
              <a:srgbClr val="C9781F"/>
            </a:solidFill>
            <a:prstDash val="solid"/>
            <a:tailEnd type="triangle"/>
          </a:ln>
        </p:spPr>
      </p:sp>
      <p:sp>
        <p:nvSpPr>
          <p:cNvPr id="26" name="Shape 24"/>
          <p:cNvSpPr/>
          <p:nvPr/>
        </p:nvSpPr>
        <p:spPr>
          <a:xfrm>
            <a:off x="8138160" y="4261104"/>
            <a:ext cx="2148840" cy="457200"/>
          </a:xfrm>
          <a:prstGeom prst="roundRect">
            <a:avLst>
              <a:gd name="adj" fmla="val 70000"/>
            </a:avLst>
          </a:prstGeom>
          <a:solidFill>
            <a:srgbClr val="FFFFFF"/>
          </a:solidFill>
          <a:ln w="15875">
            <a:solidFill>
              <a:srgbClr val="C9781F"/>
            </a:solidFill>
            <a:prstDash val="solid"/>
          </a:ln>
          <a:effectLst>
            <a:outerShdw sx="100000" sy="100000" kx="0" ky="0" algn="bl" rotWithShape="0" blurRad="63500" dist="12700" dir="5400000">
              <a:srgbClr val="0B2545">
                <a:alpha val="8000"/>
              </a:srgbClr>
            </a:outerShdw>
          </a:effectLst>
        </p:spPr>
      </p:sp>
      <p:sp>
        <p:nvSpPr>
          <p:cNvPr id="27" name="Text 25"/>
          <p:cNvSpPr/>
          <p:nvPr/>
        </p:nvSpPr>
        <p:spPr>
          <a:xfrm>
            <a:off x="8183880" y="4261104"/>
            <a:ext cx="2057400" cy="45720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Save booking</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PAID / paymentStatus=PENDING</a:t>
            </a:r>
            <a:endParaRPr lang="en-US" sz="870" dirty="0"/>
          </a:p>
        </p:txBody>
      </p:sp>
      <p:sp>
        <p:nvSpPr>
          <p:cNvPr id="28" name="Shape 26"/>
          <p:cNvSpPr/>
          <p:nvPr/>
        </p:nvSpPr>
        <p:spPr>
          <a:xfrm>
            <a:off x="9208008" y="4718304"/>
            <a:ext cx="0" cy="256032"/>
          </a:xfrm>
          <a:prstGeom prst="line">
            <a:avLst/>
          </a:prstGeom>
          <a:noFill/>
          <a:ln w="15875">
            <a:solidFill>
              <a:srgbClr val="C9781F"/>
            </a:solidFill>
            <a:prstDash val="solid"/>
            <a:tailEnd type="triangle"/>
          </a:ln>
        </p:spPr>
      </p:sp>
      <p:sp>
        <p:nvSpPr>
          <p:cNvPr id="29" name="Shape 27"/>
          <p:cNvSpPr/>
          <p:nvPr/>
        </p:nvSpPr>
        <p:spPr>
          <a:xfrm>
            <a:off x="8138160" y="4974336"/>
            <a:ext cx="2148840" cy="457200"/>
          </a:xfrm>
          <a:prstGeom prst="roundRect">
            <a:avLst>
              <a:gd name="adj" fmla="val 70000"/>
            </a:avLst>
          </a:prstGeom>
          <a:solidFill>
            <a:srgbClr val="FFFFFF"/>
          </a:solidFill>
          <a:ln w="15875">
            <a:solidFill>
              <a:srgbClr val="C9781F"/>
            </a:solidFill>
            <a:prstDash val="solid"/>
          </a:ln>
          <a:effectLst>
            <a:outerShdw sx="100000" sy="100000" kx="0" ky="0" algn="bl" rotWithShape="0" blurRad="63500" dist="12700" dir="5400000">
              <a:srgbClr val="0B2545">
                <a:alpha val="8000"/>
              </a:srgbClr>
            </a:outerShdw>
          </a:effectLst>
        </p:spPr>
      </p:sp>
      <p:sp>
        <p:nvSpPr>
          <p:cNvPr id="30" name="Text 28"/>
          <p:cNvSpPr/>
          <p:nvPr/>
        </p:nvSpPr>
        <p:spPr>
          <a:xfrm>
            <a:off x="8183880" y="4974336"/>
            <a:ext cx="2057400" cy="45720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Create Razorpay order</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(payment-service)</a:t>
            </a:r>
            <a:endParaRPr lang="en-US" sz="870" dirty="0"/>
          </a:p>
        </p:txBody>
      </p:sp>
      <p:sp>
        <p:nvSpPr>
          <p:cNvPr id="31" name="Shape 29"/>
          <p:cNvSpPr/>
          <p:nvPr/>
        </p:nvSpPr>
        <p:spPr>
          <a:xfrm>
            <a:off x="9208008" y="5431536"/>
            <a:ext cx="0" cy="219456"/>
          </a:xfrm>
          <a:prstGeom prst="line">
            <a:avLst/>
          </a:prstGeom>
          <a:noFill/>
          <a:ln w="15875">
            <a:solidFill>
              <a:srgbClr val="C9781F"/>
            </a:solidFill>
            <a:prstDash val="solid"/>
            <a:tailEnd type="triangle"/>
          </a:ln>
        </p:spPr>
      </p:sp>
      <p:sp>
        <p:nvSpPr>
          <p:cNvPr id="32" name="Shape 30"/>
          <p:cNvSpPr/>
          <p:nvPr/>
        </p:nvSpPr>
        <p:spPr>
          <a:xfrm>
            <a:off x="8138160" y="5632704"/>
            <a:ext cx="2148840" cy="594360"/>
          </a:xfrm>
          <a:prstGeom prst="diamond">
            <a:avLst/>
          </a:prstGeom>
          <a:solidFill>
            <a:srgbClr val="FFF7E8"/>
          </a:solidFill>
          <a:ln w="15875">
            <a:solidFill>
              <a:srgbClr val="C9781F"/>
            </a:solidFill>
            <a:prstDash val="solid"/>
          </a:ln>
        </p:spPr>
      </p:sp>
      <p:sp>
        <p:nvSpPr>
          <p:cNvPr id="33" name="Text 31"/>
          <p:cNvSpPr/>
          <p:nvPr/>
        </p:nvSpPr>
        <p:spPr>
          <a:xfrm>
            <a:off x="8138160" y="5632704"/>
            <a:ext cx="2148840" cy="594360"/>
          </a:xfrm>
          <a:prstGeom prst="rect">
            <a:avLst/>
          </a:prstGeom>
          <a:noFill/>
          <a:ln/>
        </p:spPr>
        <p:txBody>
          <a:bodyPr wrap="square" lIns="12700" tIns="12700" rIns="12700" bIns="12700" rtlCol="0" anchor="ctr"/>
          <a:lstStyle/>
          <a:p>
            <a:pPr algn="ctr" indent="0" marL="0">
              <a:buNone/>
            </a:pPr>
            <a:r>
              <a:rPr lang="en-US" sz="830" b="1" dirty="0">
                <a:solidFill>
                  <a:srgbClr val="0B2545"/>
                </a:solidFill>
                <a:latin typeface="Calibri" pitchFamily="34" charset="0"/>
                <a:ea typeface="Calibri" pitchFamily="34" charset="-122"/>
                <a:cs typeface="Calibri" pitchFamily="34" charset="-120"/>
              </a:rPr>
              <a:t>Signature</a:t>
            </a:r>
            <a:endParaRPr lang="en-US" sz="830" dirty="0"/>
          </a:p>
          <a:p>
            <a:pPr algn="ctr" indent="0" marL="0">
              <a:buNone/>
            </a:pPr>
            <a:r>
              <a:rPr lang="en-US" sz="830" b="1" dirty="0">
                <a:solidFill>
                  <a:srgbClr val="0B2545"/>
                </a:solidFill>
                <a:latin typeface="Calibri" pitchFamily="34" charset="0"/>
                <a:ea typeface="Calibri" pitchFamily="34" charset="-122"/>
                <a:cs typeface="Calibri" pitchFamily="34" charset="-120"/>
              </a:rPr>
              <a:t>valid?</a:t>
            </a:r>
            <a:endParaRPr lang="en-US" sz="830" dirty="0"/>
          </a:p>
        </p:txBody>
      </p:sp>
      <p:sp>
        <p:nvSpPr>
          <p:cNvPr id="34" name="Shape 32"/>
          <p:cNvSpPr/>
          <p:nvPr/>
        </p:nvSpPr>
        <p:spPr>
          <a:xfrm>
            <a:off x="10287000" y="5925312"/>
            <a:ext cx="777240" cy="0"/>
          </a:xfrm>
          <a:prstGeom prst="line">
            <a:avLst/>
          </a:prstGeom>
          <a:noFill/>
          <a:ln w="15875">
            <a:solidFill>
              <a:srgbClr val="C0392B"/>
            </a:solidFill>
            <a:prstDash val="solid"/>
            <a:tailEnd type="triangle"/>
          </a:ln>
        </p:spPr>
      </p:sp>
      <p:sp>
        <p:nvSpPr>
          <p:cNvPr id="35" name="Shape 33"/>
          <p:cNvSpPr/>
          <p:nvPr/>
        </p:nvSpPr>
        <p:spPr>
          <a:xfrm>
            <a:off x="11064240" y="5669280"/>
            <a:ext cx="1051560" cy="502920"/>
          </a:xfrm>
          <a:prstGeom prst="roundRect">
            <a:avLst>
              <a:gd name="adj" fmla="val 63636"/>
            </a:avLst>
          </a:prstGeom>
          <a:solidFill>
            <a:srgbClr val="FCEBEA"/>
          </a:solidFill>
          <a:ln w="15875">
            <a:solidFill>
              <a:srgbClr val="C0392B"/>
            </a:solidFill>
            <a:prstDash val="solid"/>
          </a:ln>
          <a:effectLst>
            <a:outerShdw sx="100000" sy="100000" kx="0" ky="0" algn="bl" rotWithShape="0" blurRad="63500" dist="12700" dir="5400000">
              <a:srgbClr val="0B2545">
                <a:alpha val="8000"/>
              </a:srgbClr>
            </a:outerShdw>
          </a:effectLst>
        </p:spPr>
      </p:sp>
      <p:sp>
        <p:nvSpPr>
          <p:cNvPr id="36" name="Text 34"/>
          <p:cNvSpPr/>
          <p:nvPr/>
        </p:nvSpPr>
        <p:spPr>
          <a:xfrm>
            <a:off x="11109960" y="5669280"/>
            <a:ext cx="960120" cy="50292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PAYMENT_</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FAILED</a:t>
            </a:r>
            <a:endParaRPr lang="en-US" sz="870" dirty="0"/>
          </a:p>
        </p:txBody>
      </p:sp>
      <p:sp>
        <p:nvSpPr>
          <p:cNvPr id="37" name="Shape 35"/>
          <p:cNvSpPr/>
          <p:nvPr/>
        </p:nvSpPr>
        <p:spPr>
          <a:xfrm>
            <a:off x="2971800" y="4773168"/>
            <a:ext cx="0" cy="502920"/>
          </a:xfrm>
          <a:prstGeom prst="line">
            <a:avLst/>
          </a:prstGeom>
          <a:noFill/>
          <a:ln w="15875">
            <a:solidFill>
              <a:srgbClr val="1F9D55"/>
            </a:solidFill>
            <a:prstDash val="solid"/>
            <a:tailEnd type="triangle"/>
          </a:ln>
        </p:spPr>
      </p:sp>
      <p:sp>
        <p:nvSpPr>
          <p:cNvPr id="38" name="Shape 36"/>
          <p:cNvSpPr/>
          <p:nvPr/>
        </p:nvSpPr>
        <p:spPr>
          <a:xfrm>
            <a:off x="2971800" y="5276088"/>
            <a:ext cx="2880360" cy="0"/>
          </a:xfrm>
          <a:prstGeom prst="line">
            <a:avLst/>
          </a:prstGeom>
          <a:noFill/>
          <a:ln w="15875">
            <a:solidFill>
              <a:srgbClr val="1F9D55"/>
            </a:solidFill>
            <a:prstDash val="solid"/>
            <a:tailEnd type="triangle"/>
          </a:ln>
        </p:spPr>
      </p:sp>
      <p:sp>
        <p:nvSpPr>
          <p:cNvPr id="39" name="Shape 37"/>
          <p:cNvSpPr/>
          <p:nvPr/>
        </p:nvSpPr>
        <p:spPr>
          <a:xfrm>
            <a:off x="8138160" y="5925312"/>
            <a:ext cx="-2286000" cy="0"/>
          </a:xfrm>
          <a:prstGeom prst="line">
            <a:avLst/>
          </a:prstGeom>
          <a:noFill/>
          <a:ln w="15875">
            <a:solidFill>
              <a:srgbClr val="C9781F"/>
            </a:solidFill>
            <a:prstDash val="solid"/>
            <a:tailEnd type="triangle"/>
          </a:ln>
        </p:spPr>
      </p:sp>
      <p:sp>
        <p:nvSpPr>
          <p:cNvPr id="40" name="Text 38"/>
          <p:cNvSpPr/>
          <p:nvPr/>
        </p:nvSpPr>
        <p:spPr>
          <a:xfrm>
            <a:off x="7315200" y="5989320"/>
            <a:ext cx="457200" cy="228600"/>
          </a:xfrm>
          <a:prstGeom prst="rect">
            <a:avLst/>
          </a:prstGeom>
          <a:noFill/>
          <a:ln/>
        </p:spPr>
        <p:txBody>
          <a:bodyPr wrap="square" lIns="0" tIns="0" rIns="0" bIns="0" rtlCol="0" anchor="ctr"/>
          <a:lstStyle/>
          <a:p>
            <a:pPr indent="0" marL="0">
              <a:buNone/>
            </a:pPr>
            <a:r>
              <a:rPr lang="en-US" sz="830" b="1" dirty="0">
                <a:solidFill>
                  <a:srgbClr val="C9781F"/>
                </a:solidFill>
                <a:latin typeface="Calibri" pitchFamily="34" charset="0"/>
                <a:ea typeface="Calibri" pitchFamily="34" charset="-122"/>
                <a:cs typeface="Calibri" pitchFamily="34" charset="-120"/>
              </a:rPr>
              <a:t>yes</a:t>
            </a:r>
            <a:endParaRPr lang="en-US" sz="830" dirty="0"/>
          </a:p>
        </p:txBody>
      </p:sp>
      <p:sp>
        <p:nvSpPr>
          <p:cNvPr id="41" name="Shape 39"/>
          <p:cNvSpPr/>
          <p:nvPr/>
        </p:nvSpPr>
        <p:spPr>
          <a:xfrm>
            <a:off x="4754880" y="5166360"/>
            <a:ext cx="2651760" cy="502920"/>
          </a:xfrm>
          <a:prstGeom prst="roundRect">
            <a:avLst>
              <a:gd name="adj" fmla="val 63636"/>
            </a:avLst>
          </a:prstGeom>
          <a:solidFill>
            <a:srgbClr val="0B2545"/>
          </a:solidFill>
          <a:ln w="15875">
            <a:solidFill>
              <a:srgbClr val="0B2545"/>
            </a:solidFill>
            <a:prstDash val="solid"/>
          </a:ln>
          <a:effectLst>
            <a:outerShdw sx="100000" sy="100000" kx="0" ky="0" algn="bl" rotWithShape="0" blurRad="63500" dist="12700" dir="5400000">
              <a:srgbClr val="0B2545">
                <a:alpha val="8000"/>
              </a:srgbClr>
            </a:outerShdw>
          </a:effectLst>
        </p:spPr>
      </p:sp>
      <p:sp>
        <p:nvSpPr>
          <p:cNvPr id="42" name="Text 40"/>
          <p:cNvSpPr/>
          <p:nvPr/>
        </p:nvSpPr>
        <p:spPr>
          <a:xfrm>
            <a:off x="4800600" y="5166360"/>
            <a:ext cx="2560320" cy="502920"/>
          </a:xfrm>
          <a:prstGeom prst="rect">
            <a:avLst/>
          </a:prstGeom>
          <a:noFill/>
          <a:ln/>
        </p:spPr>
        <p:txBody>
          <a:bodyPr wrap="square" lIns="0" tIns="0" rIns="0" bIns="0" rtlCol="0" anchor="ctr"/>
          <a:lstStyle/>
          <a:p>
            <a:pPr algn="ctr" indent="0" marL="0">
              <a:buNone/>
            </a:pPr>
            <a:r>
              <a:rPr lang="en-US" sz="870" b="1" dirty="0">
                <a:solidFill>
                  <a:srgbClr val="0B2545"/>
                </a:solidFill>
                <a:latin typeface="Calibri" pitchFamily="34" charset="0"/>
                <a:ea typeface="Calibri" pitchFamily="34" charset="-122"/>
                <a:cs typeface="Calibri" pitchFamily="34" charset="-120"/>
              </a:rPr>
              <a:t>Publish NotificationEvent → RabbitMQ</a:t>
            </a:r>
            <a:endParaRPr lang="en-US" sz="870" dirty="0"/>
          </a:p>
          <a:p>
            <a:pPr algn="ctr" indent="0" marL="0">
              <a:buNone/>
            </a:pPr>
            <a:r>
              <a:rPr lang="en-US" sz="870" b="1" dirty="0">
                <a:solidFill>
                  <a:srgbClr val="0B2545"/>
                </a:solidFill>
                <a:latin typeface="Calibri" pitchFamily="34" charset="0"/>
                <a:ea typeface="Calibri" pitchFamily="34" charset="-122"/>
                <a:cs typeface="Calibri" pitchFamily="34" charset="-120"/>
              </a:rPr>
              <a:t>(email + in-app SSE push)</a:t>
            </a:r>
            <a:endParaRPr lang="en-US" sz="870" dirty="0"/>
          </a:p>
        </p:txBody>
      </p:sp>
      <p:sp>
        <p:nvSpPr>
          <p:cNvPr id="43" name="Text 41"/>
          <p:cNvSpPr/>
          <p:nvPr/>
        </p:nvSpPr>
        <p:spPr>
          <a:xfrm>
            <a:off x="4800600" y="5166360"/>
            <a:ext cx="2560320" cy="502920"/>
          </a:xfrm>
          <a:prstGeom prst="rect">
            <a:avLst/>
          </a:prstGeom>
          <a:noFill/>
          <a:ln/>
        </p:spPr>
        <p:txBody>
          <a:bodyPr wrap="square" lIns="0" tIns="0" rIns="0" bIns="0" rtlCol="0" anchor="ctr"/>
          <a:lstStyle/>
          <a:p>
            <a:pPr algn="ctr" indent="0" marL="0">
              <a:buNone/>
            </a:pPr>
            <a:r>
              <a:rPr lang="en-US" sz="870" b="1" dirty="0">
                <a:solidFill>
                  <a:srgbClr val="FFFFFF"/>
                </a:solidFill>
                <a:latin typeface="Calibri" pitchFamily="34" charset="0"/>
                <a:ea typeface="Calibri" pitchFamily="34" charset="-122"/>
                <a:cs typeface="Calibri" pitchFamily="34" charset="-120"/>
              </a:rPr>
              <a:t>Publish NotificationEvent → RabbitMQ</a:t>
            </a:r>
            <a:endParaRPr lang="en-US" sz="870" dirty="0"/>
          </a:p>
          <a:p>
            <a:pPr algn="ctr" indent="0" marL="0">
              <a:buNone/>
            </a:pPr>
            <a:r>
              <a:rPr lang="en-US" sz="870" b="1" dirty="0">
                <a:solidFill>
                  <a:srgbClr val="FFFFFF"/>
                </a:solidFill>
                <a:latin typeface="Calibri" pitchFamily="34" charset="0"/>
                <a:ea typeface="Calibri" pitchFamily="34" charset="-122"/>
                <a:cs typeface="Calibri" pitchFamily="34" charset="-120"/>
              </a:rPr>
              <a:t>(email + in-app SSE push)</a:t>
            </a:r>
            <a:endParaRPr lang="en-US" sz="870" dirty="0"/>
          </a:p>
        </p:txBody>
      </p:sp>
      <p:sp>
        <p:nvSpPr>
          <p:cNvPr id="44" name="Shape 42"/>
          <p:cNvSpPr/>
          <p:nvPr/>
        </p:nvSpPr>
        <p:spPr>
          <a:xfrm>
            <a:off x="6080760" y="5669280"/>
            <a:ext cx="0" cy="274320"/>
          </a:xfrm>
          <a:prstGeom prst="line">
            <a:avLst/>
          </a:prstGeom>
          <a:noFill/>
          <a:ln w="15875">
            <a:solidFill>
              <a:srgbClr val="8FA6C7"/>
            </a:solidFill>
            <a:prstDash val="solid"/>
            <a:tailEnd type="triangle"/>
          </a:ln>
        </p:spPr>
      </p:sp>
      <p:sp>
        <p:nvSpPr>
          <p:cNvPr id="45" name="Shape 43"/>
          <p:cNvSpPr/>
          <p:nvPr/>
        </p:nvSpPr>
        <p:spPr>
          <a:xfrm>
            <a:off x="5916168" y="5980176"/>
            <a:ext cx="329184" cy="329184"/>
          </a:xfrm>
          <a:prstGeom prst="ellipse">
            <a:avLst/>
          </a:prstGeom>
          <a:solidFill>
            <a:srgbClr val="0B2545"/>
          </a:solidFill>
          <a:ln/>
        </p:spPr>
      </p:sp>
      <p:sp>
        <p:nvSpPr>
          <p:cNvPr id="46" name="Shape 44"/>
          <p:cNvSpPr/>
          <p:nvPr/>
        </p:nvSpPr>
        <p:spPr>
          <a:xfrm>
            <a:off x="5879592" y="5943600"/>
            <a:ext cx="402336" cy="402336"/>
          </a:xfrm>
          <a:prstGeom prst="ellipse">
            <a:avLst/>
          </a:prstGeom>
          <a:ln w="15875">
            <a:solidFill>
              <a:srgbClr val="0B2545"/>
            </a:solidFill>
            <a:prstDash val="solid"/>
          </a:ln>
        </p:spPr>
      </p:sp>
      <p:sp>
        <p:nvSpPr>
          <p:cNvPr id="47" name="Text 45"/>
          <p:cNvSpPr/>
          <p:nvPr/>
        </p:nvSpPr>
        <p:spPr>
          <a:xfrm>
            <a:off x="5532120" y="6382512"/>
            <a:ext cx="1097280" cy="219456"/>
          </a:xfrm>
          <a:prstGeom prst="rect">
            <a:avLst/>
          </a:prstGeom>
          <a:noFill/>
          <a:ln/>
        </p:spPr>
        <p:txBody>
          <a:bodyPr wrap="square" lIns="0" tIns="0" rIns="0" bIns="0" rtlCol="0" anchor="ctr"/>
          <a:lstStyle/>
          <a:p>
            <a:pPr algn="ctr" indent="0" marL="0">
              <a:buNone/>
            </a:pPr>
            <a:r>
              <a:rPr lang="en-US" sz="850" b="1" dirty="0">
                <a:solidFill>
                  <a:srgbClr val="0B2545"/>
                </a:solidFill>
                <a:latin typeface="Calibri" pitchFamily="34" charset="0"/>
                <a:ea typeface="Calibri" pitchFamily="34" charset="-122"/>
                <a:cs typeface="Calibri" pitchFamily="34" charset="-120"/>
              </a:rPr>
              <a:t>End</a:t>
            </a:r>
            <a:endParaRPr lang="en-US" sz="850" dirty="0"/>
          </a:p>
        </p:txBody>
      </p:sp>
      <p:sp>
        <p:nvSpPr>
          <p:cNvPr id="48" name="Text 46"/>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49" name="Text 47"/>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Activity Diagram</a:t>
            </a:r>
            <a:endParaRPr lang="en-US" sz="900" dirty="0"/>
          </a:p>
        </p:txBody>
      </p:sp>
      <p:sp>
        <p:nvSpPr>
          <p:cNvPr id="50" name="Text 48"/>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UML DIAGRAM — SEQUENCE</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Sequence Diagram — Booking + Payment Flow</a:t>
            </a:r>
            <a:endParaRPr lang="en-US" sz="2800" dirty="0"/>
          </a:p>
        </p:txBody>
      </p:sp>
      <p:sp>
        <p:nvSpPr>
          <p:cNvPr id="4" name="Shape 2"/>
          <p:cNvSpPr/>
          <p:nvPr/>
        </p:nvSpPr>
        <p:spPr>
          <a:xfrm>
            <a:off x="576072" y="1234440"/>
            <a:ext cx="1453896" cy="502920"/>
          </a:xfrm>
          <a:prstGeom prst="roundRect">
            <a:avLst>
              <a:gd name="adj" fmla="val 9091"/>
            </a:avLst>
          </a:prstGeom>
          <a:solidFill>
            <a:srgbClr val="0B2545"/>
          </a:solidFill>
          <a:ln/>
        </p:spPr>
      </p:sp>
      <p:sp>
        <p:nvSpPr>
          <p:cNvPr id="5" name="Text 3"/>
          <p:cNvSpPr/>
          <p:nvPr/>
        </p:nvSpPr>
        <p:spPr>
          <a:xfrm>
            <a:off x="576072" y="1234440"/>
            <a:ext cx="145389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Member</a:t>
            </a:r>
            <a:endParaRPr lang="en-US" sz="900" dirty="0"/>
          </a:p>
        </p:txBody>
      </p:sp>
      <p:sp>
        <p:nvSpPr>
          <p:cNvPr id="6" name="Shape 4"/>
          <p:cNvSpPr/>
          <p:nvPr/>
        </p:nvSpPr>
        <p:spPr>
          <a:xfrm>
            <a:off x="1303020" y="1737360"/>
            <a:ext cx="0" cy="4681728"/>
          </a:xfrm>
          <a:prstGeom prst="line">
            <a:avLst/>
          </a:prstGeom>
          <a:noFill/>
          <a:ln w="12700">
            <a:solidFill>
              <a:srgbClr val="AFC0D6"/>
            </a:solidFill>
            <a:prstDash val="dash"/>
          </a:ln>
        </p:spPr>
      </p:sp>
      <p:sp>
        <p:nvSpPr>
          <p:cNvPr id="7" name="Shape 5"/>
          <p:cNvSpPr/>
          <p:nvPr/>
        </p:nvSpPr>
        <p:spPr>
          <a:xfrm>
            <a:off x="2176272" y="1234440"/>
            <a:ext cx="1453896" cy="502920"/>
          </a:xfrm>
          <a:prstGeom prst="roundRect">
            <a:avLst>
              <a:gd name="adj" fmla="val 9091"/>
            </a:avLst>
          </a:prstGeom>
          <a:solidFill>
            <a:srgbClr val="1B4F91"/>
          </a:solidFill>
          <a:ln/>
        </p:spPr>
      </p:sp>
      <p:sp>
        <p:nvSpPr>
          <p:cNvPr id="8" name="Text 6"/>
          <p:cNvSpPr/>
          <p:nvPr/>
        </p:nvSpPr>
        <p:spPr>
          <a:xfrm>
            <a:off x="2176272" y="1234440"/>
            <a:ext cx="145389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Frontend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(React)</a:t>
            </a:r>
            <a:endParaRPr lang="en-US" sz="900" dirty="0"/>
          </a:p>
        </p:txBody>
      </p:sp>
      <p:sp>
        <p:nvSpPr>
          <p:cNvPr id="9" name="Shape 7"/>
          <p:cNvSpPr/>
          <p:nvPr/>
        </p:nvSpPr>
        <p:spPr>
          <a:xfrm>
            <a:off x="2903220" y="1737360"/>
            <a:ext cx="0" cy="4681728"/>
          </a:xfrm>
          <a:prstGeom prst="line">
            <a:avLst/>
          </a:prstGeom>
          <a:noFill/>
          <a:ln w="12700">
            <a:solidFill>
              <a:srgbClr val="AFC0D6"/>
            </a:solidFill>
            <a:prstDash val="dash"/>
          </a:ln>
        </p:spPr>
      </p:sp>
      <p:sp>
        <p:nvSpPr>
          <p:cNvPr id="10" name="Shape 8"/>
          <p:cNvSpPr/>
          <p:nvPr/>
        </p:nvSpPr>
        <p:spPr>
          <a:xfrm>
            <a:off x="3776472" y="1234440"/>
            <a:ext cx="1453896" cy="502920"/>
          </a:xfrm>
          <a:prstGeom prst="roundRect">
            <a:avLst>
              <a:gd name="adj" fmla="val 9091"/>
            </a:avLst>
          </a:prstGeom>
          <a:solidFill>
            <a:srgbClr val="1B4F91"/>
          </a:solidFill>
          <a:ln/>
        </p:spPr>
      </p:sp>
      <p:sp>
        <p:nvSpPr>
          <p:cNvPr id="11" name="Text 9"/>
          <p:cNvSpPr/>
          <p:nvPr/>
        </p:nvSpPr>
        <p:spPr>
          <a:xfrm>
            <a:off x="3776472" y="1234440"/>
            <a:ext cx="145389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Gateway</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:8080</a:t>
            </a:r>
            <a:endParaRPr lang="en-US" sz="900" dirty="0"/>
          </a:p>
        </p:txBody>
      </p:sp>
      <p:sp>
        <p:nvSpPr>
          <p:cNvPr id="12" name="Shape 10"/>
          <p:cNvSpPr/>
          <p:nvPr/>
        </p:nvSpPr>
        <p:spPr>
          <a:xfrm>
            <a:off x="4503420" y="1737360"/>
            <a:ext cx="0" cy="4681728"/>
          </a:xfrm>
          <a:prstGeom prst="line">
            <a:avLst/>
          </a:prstGeom>
          <a:noFill/>
          <a:ln w="12700">
            <a:solidFill>
              <a:srgbClr val="AFC0D6"/>
            </a:solidFill>
            <a:prstDash val="dash"/>
          </a:ln>
        </p:spPr>
      </p:sp>
      <p:sp>
        <p:nvSpPr>
          <p:cNvPr id="13" name="Shape 11"/>
          <p:cNvSpPr/>
          <p:nvPr/>
        </p:nvSpPr>
        <p:spPr>
          <a:xfrm>
            <a:off x="5376672" y="1234440"/>
            <a:ext cx="1453896" cy="502920"/>
          </a:xfrm>
          <a:prstGeom prst="roundRect">
            <a:avLst>
              <a:gd name="adj" fmla="val 9091"/>
            </a:avLst>
          </a:prstGeom>
          <a:solidFill>
            <a:srgbClr val="1B4F91"/>
          </a:solidFill>
          <a:ln/>
        </p:spPr>
      </p:sp>
      <p:sp>
        <p:nvSpPr>
          <p:cNvPr id="14" name="Text 12"/>
          <p:cNvSpPr/>
          <p:nvPr/>
        </p:nvSpPr>
        <p:spPr>
          <a:xfrm>
            <a:off x="5376672" y="1234440"/>
            <a:ext cx="145389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Booking</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p>
        </p:txBody>
      </p:sp>
      <p:sp>
        <p:nvSpPr>
          <p:cNvPr id="15" name="Shape 13"/>
          <p:cNvSpPr/>
          <p:nvPr/>
        </p:nvSpPr>
        <p:spPr>
          <a:xfrm>
            <a:off x="6103620" y="1737360"/>
            <a:ext cx="0" cy="4681728"/>
          </a:xfrm>
          <a:prstGeom prst="line">
            <a:avLst/>
          </a:prstGeom>
          <a:noFill/>
          <a:ln w="12700">
            <a:solidFill>
              <a:srgbClr val="AFC0D6"/>
            </a:solidFill>
            <a:prstDash val="dash"/>
          </a:ln>
        </p:spPr>
      </p:sp>
      <p:sp>
        <p:nvSpPr>
          <p:cNvPr id="16" name="Shape 14"/>
          <p:cNvSpPr/>
          <p:nvPr/>
        </p:nvSpPr>
        <p:spPr>
          <a:xfrm>
            <a:off x="6976872" y="1234440"/>
            <a:ext cx="1453896" cy="502920"/>
          </a:xfrm>
          <a:prstGeom prst="roundRect">
            <a:avLst>
              <a:gd name="adj" fmla="val 9091"/>
            </a:avLst>
          </a:prstGeom>
          <a:solidFill>
            <a:srgbClr val="1B4F91"/>
          </a:solidFill>
          <a:ln/>
        </p:spPr>
      </p:sp>
      <p:sp>
        <p:nvSpPr>
          <p:cNvPr id="17" name="Text 15"/>
          <p:cNvSpPr/>
          <p:nvPr/>
        </p:nvSpPr>
        <p:spPr>
          <a:xfrm>
            <a:off x="6976872" y="1234440"/>
            <a:ext cx="145389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Payment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p>
        </p:txBody>
      </p:sp>
      <p:sp>
        <p:nvSpPr>
          <p:cNvPr id="18" name="Shape 16"/>
          <p:cNvSpPr/>
          <p:nvPr/>
        </p:nvSpPr>
        <p:spPr>
          <a:xfrm>
            <a:off x="7703820" y="1737360"/>
            <a:ext cx="0" cy="4681728"/>
          </a:xfrm>
          <a:prstGeom prst="line">
            <a:avLst/>
          </a:prstGeom>
          <a:noFill/>
          <a:ln w="12700">
            <a:solidFill>
              <a:srgbClr val="AFC0D6"/>
            </a:solidFill>
            <a:prstDash val="dash"/>
          </a:ln>
        </p:spPr>
      </p:sp>
      <p:sp>
        <p:nvSpPr>
          <p:cNvPr id="19" name="Shape 17"/>
          <p:cNvSpPr/>
          <p:nvPr/>
        </p:nvSpPr>
        <p:spPr>
          <a:xfrm>
            <a:off x="8577072" y="1234440"/>
            <a:ext cx="1453896" cy="502920"/>
          </a:xfrm>
          <a:prstGeom prst="roundRect">
            <a:avLst>
              <a:gd name="adj" fmla="val 9091"/>
            </a:avLst>
          </a:prstGeom>
          <a:solidFill>
            <a:srgbClr val="C9781F"/>
          </a:solidFill>
          <a:ln/>
        </p:spPr>
      </p:sp>
      <p:sp>
        <p:nvSpPr>
          <p:cNvPr id="20" name="Text 18"/>
          <p:cNvSpPr/>
          <p:nvPr/>
        </p:nvSpPr>
        <p:spPr>
          <a:xfrm>
            <a:off x="8577072" y="1234440"/>
            <a:ext cx="145389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RabbitMQ</a:t>
            </a:r>
            <a:endParaRPr lang="en-US" sz="900" dirty="0"/>
          </a:p>
        </p:txBody>
      </p:sp>
      <p:sp>
        <p:nvSpPr>
          <p:cNvPr id="21" name="Shape 19"/>
          <p:cNvSpPr/>
          <p:nvPr/>
        </p:nvSpPr>
        <p:spPr>
          <a:xfrm>
            <a:off x="9304020" y="1737360"/>
            <a:ext cx="0" cy="4681728"/>
          </a:xfrm>
          <a:prstGeom prst="line">
            <a:avLst/>
          </a:prstGeom>
          <a:noFill/>
          <a:ln w="12700">
            <a:solidFill>
              <a:srgbClr val="AFC0D6"/>
            </a:solidFill>
            <a:prstDash val="dash"/>
          </a:ln>
        </p:spPr>
      </p:sp>
      <p:sp>
        <p:nvSpPr>
          <p:cNvPr id="22" name="Shape 20"/>
          <p:cNvSpPr/>
          <p:nvPr/>
        </p:nvSpPr>
        <p:spPr>
          <a:xfrm>
            <a:off x="10177272" y="1234440"/>
            <a:ext cx="1453896" cy="502920"/>
          </a:xfrm>
          <a:prstGeom prst="roundRect">
            <a:avLst>
              <a:gd name="adj" fmla="val 9091"/>
            </a:avLst>
          </a:prstGeom>
          <a:solidFill>
            <a:srgbClr val="1B4F91"/>
          </a:solidFill>
          <a:ln/>
        </p:spPr>
      </p:sp>
      <p:sp>
        <p:nvSpPr>
          <p:cNvPr id="23" name="Text 21"/>
          <p:cNvSpPr/>
          <p:nvPr/>
        </p:nvSpPr>
        <p:spPr>
          <a:xfrm>
            <a:off x="10177272" y="1234440"/>
            <a:ext cx="145389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Notification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p>
        </p:txBody>
      </p:sp>
      <p:sp>
        <p:nvSpPr>
          <p:cNvPr id="24" name="Shape 22"/>
          <p:cNvSpPr/>
          <p:nvPr/>
        </p:nvSpPr>
        <p:spPr>
          <a:xfrm>
            <a:off x="10904220" y="1737360"/>
            <a:ext cx="0" cy="4681728"/>
          </a:xfrm>
          <a:prstGeom prst="line">
            <a:avLst/>
          </a:prstGeom>
          <a:noFill/>
          <a:ln w="12700">
            <a:solidFill>
              <a:srgbClr val="AFC0D6"/>
            </a:solidFill>
            <a:prstDash val="dash"/>
          </a:ln>
        </p:spPr>
      </p:sp>
      <p:sp>
        <p:nvSpPr>
          <p:cNvPr id="25" name="Shape 23"/>
          <p:cNvSpPr/>
          <p:nvPr/>
        </p:nvSpPr>
        <p:spPr>
          <a:xfrm>
            <a:off x="1303020" y="1938528"/>
            <a:ext cx="1600200" cy="0"/>
          </a:xfrm>
          <a:prstGeom prst="line">
            <a:avLst/>
          </a:prstGeom>
          <a:noFill/>
          <a:ln w="14605">
            <a:solidFill>
              <a:srgbClr val="0B2545"/>
            </a:solidFill>
            <a:prstDash val="solid"/>
            <a:tailEnd type="triangle"/>
          </a:ln>
        </p:spPr>
      </p:sp>
      <p:sp>
        <p:nvSpPr>
          <p:cNvPr id="26" name="Text 24"/>
          <p:cNvSpPr/>
          <p:nvPr/>
        </p:nvSpPr>
        <p:spPr>
          <a:xfrm>
            <a:off x="1348740" y="1755648"/>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 Tap “Book Session”</a:t>
            </a:r>
            <a:endParaRPr lang="en-US" sz="760" dirty="0"/>
          </a:p>
        </p:txBody>
      </p:sp>
      <p:sp>
        <p:nvSpPr>
          <p:cNvPr id="27" name="Shape 25"/>
          <p:cNvSpPr/>
          <p:nvPr/>
        </p:nvSpPr>
        <p:spPr>
          <a:xfrm>
            <a:off x="2903220" y="2336292"/>
            <a:ext cx="1600200" cy="0"/>
          </a:xfrm>
          <a:prstGeom prst="line">
            <a:avLst/>
          </a:prstGeom>
          <a:noFill/>
          <a:ln w="14605">
            <a:solidFill>
              <a:srgbClr val="0B2545"/>
            </a:solidFill>
            <a:prstDash val="solid"/>
            <a:tailEnd type="triangle"/>
          </a:ln>
        </p:spPr>
      </p:sp>
      <p:sp>
        <p:nvSpPr>
          <p:cNvPr id="28" name="Text 26"/>
          <p:cNvSpPr/>
          <p:nvPr/>
        </p:nvSpPr>
        <p:spPr>
          <a:xfrm>
            <a:off x="2948940" y="2153412"/>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2. POST /bookings/create  (JWT)</a:t>
            </a:r>
            <a:endParaRPr lang="en-US" sz="760" dirty="0"/>
          </a:p>
        </p:txBody>
      </p:sp>
      <p:sp>
        <p:nvSpPr>
          <p:cNvPr id="29" name="Shape 27"/>
          <p:cNvSpPr/>
          <p:nvPr/>
        </p:nvSpPr>
        <p:spPr>
          <a:xfrm>
            <a:off x="4503420" y="2734056"/>
            <a:ext cx="1600200" cy="0"/>
          </a:xfrm>
          <a:prstGeom prst="line">
            <a:avLst/>
          </a:prstGeom>
          <a:noFill/>
          <a:ln w="14605">
            <a:solidFill>
              <a:srgbClr val="0B2545"/>
            </a:solidFill>
            <a:prstDash val="solid"/>
            <a:tailEnd type="triangle"/>
          </a:ln>
        </p:spPr>
      </p:sp>
      <p:sp>
        <p:nvSpPr>
          <p:cNvPr id="30" name="Text 28"/>
          <p:cNvSpPr/>
          <p:nvPr/>
        </p:nvSpPr>
        <p:spPr>
          <a:xfrm>
            <a:off x="4549140" y="2551176"/>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3. Forward + X-User-Id/Role headers</a:t>
            </a:r>
            <a:endParaRPr lang="en-US" sz="760" dirty="0"/>
          </a:p>
        </p:txBody>
      </p:sp>
      <p:sp>
        <p:nvSpPr>
          <p:cNvPr id="31" name="Shape 29"/>
          <p:cNvSpPr/>
          <p:nvPr/>
        </p:nvSpPr>
        <p:spPr>
          <a:xfrm>
            <a:off x="6103620" y="3131820"/>
            <a:ext cx="777240" cy="0"/>
          </a:xfrm>
          <a:prstGeom prst="line">
            <a:avLst/>
          </a:prstGeom>
          <a:noFill/>
          <a:ln w="12700">
            <a:solidFill>
              <a:srgbClr val="5B6B85"/>
            </a:solidFill>
            <a:prstDash val="solid"/>
          </a:ln>
        </p:spPr>
      </p:sp>
      <p:sp>
        <p:nvSpPr>
          <p:cNvPr id="32" name="Shape 30"/>
          <p:cNvSpPr/>
          <p:nvPr/>
        </p:nvSpPr>
        <p:spPr>
          <a:xfrm>
            <a:off x="6880860" y="3131820"/>
            <a:ext cx="0" cy="146304"/>
          </a:xfrm>
          <a:prstGeom prst="line">
            <a:avLst/>
          </a:prstGeom>
          <a:noFill/>
          <a:ln w="12700">
            <a:solidFill>
              <a:srgbClr val="5B6B85"/>
            </a:solidFill>
            <a:prstDash val="solid"/>
          </a:ln>
        </p:spPr>
      </p:sp>
      <p:sp>
        <p:nvSpPr>
          <p:cNvPr id="33" name="Shape 31"/>
          <p:cNvSpPr/>
          <p:nvPr/>
        </p:nvSpPr>
        <p:spPr>
          <a:xfrm>
            <a:off x="6103620" y="3278124"/>
            <a:ext cx="777240" cy="0"/>
          </a:xfrm>
          <a:prstGeom prst="line">
            <a:avLst/>
          </a:prstGeom>
          <a:noFill/>
          <a:ln w="12700">
            <a:solidFill>
              <a:srgbClr val="5B6B85"/>
            </a:solidFill>
            <a:prstDash val="solid"/>
            <a:tailEnd type="triangle"/>
          </a:ln>
        </p:spPr>
      </p:sp>
      <p:sp>
        <p:nvSpPr>
          <p:cNvPr id="34" name="Text 32"/>
          <p:cNvSpPr/>
          <p:nvPr/>
        </p:nvSpPr>
        <p:spPr>
          <a:xfrm>
            <a:off x="6158484" y="2948940"/>
            <a:ext cx="3291840" cy="310896"/>
          </a:xfrm>
          <a:prstGeom prst="rect">
            <a:avLst/>
          </a:prstGeom>
          <a:noFill/>
          <a:ln/>
        </p:spPr>
        <p:txBody>
          <a:bodyPr wrap="square" lIns="0" tIns="0" rIns="0" bIns="0" rtlCol="0" anchor="ctr"/>
          <a:lstStyle/>
          <a:p>
            <a:pPr indent="0" marL="0">
              <a:buNone/>
            </a:pPr>
            <a:r>
              <a:rPr lang="en-US" sz="760" dirty="0">
                <a:solidFill>
                  <a:srgbClr val="16233B"/>
                </a:solidFill>
                <a:latin typeface="Calibri" pitchFamily="34" charset="0"/>
                <a:ea typeface="Calibri" pitchFamily="34" charset="-122"/>
                <a:cs typeface="Calibri" pitchFamily="34" charset="-120"/>
              </a:rPr>
              <a:t>4. Feign → plan-service: free-session-check</a:t>
            </a:r>
            <a:endParaRPr lang="en-US" sz="760" dirty="0"/>
          </a:p>
        </p:txBody>
      </p:sp>
      <p:sp>
        <p:nvSpPr>
          <p:cNvPr id="35" name="Shape 33"/>
          <p:cNvSpPr/>
          <p:nvPr/>
        </p:nvSpPr>
        <p:spPr>
          <a:xfrm>
            <a:off x="6103620" y="3529584"/>
            <a:ext cx="777240" cy="0"/>
          </a:xfrm>
          <a:prstGeom prst="line">
            <a:avLst/>
          </a:prstGeom>
          <a:noFill/>
          <a:ln w="12700">
            <a:solidFill>
              <a:srgbClr val="5B6B85"/>
            </a:solidFill>
            <a:prstDash val="solid"/>
          </a:ln>
        </p:spPr>
      </p:sp>
      <p:sp>
        <p:nvSpPr>
          <p:cNvPr id="36" name="Shape 34"/>
          <p:cNvSpPr/>
          <p:nvPr/>
        </p:nvSpPr>
        <p:spPr>
          <a:xfrm>
            <a:off x="6880860" y="3529584"/>
            <a:ext cx="0" cy="146304"/>
          </a:xfrm>
          <a:prstGeom prst="line">
            <a:avLst/>
          </a:prstGeom>
          <a:noFill/>
          <a:ln w="12700">
            <a:solidFill>
              <a:srgbClr val="5B6B85"/>
            </a:solidFill>
            <a:prstDash val="solid"/>
          </a:ln>
        </p:spPr>
      </p:sp>
      <p:sp>
        <p:nvSpPr>
          <p:cNvPr id="37" name="Shape 35"/>
          <p:cNvSpPr/>
          <p:nvPr/>
        </p:nvSpPr>
        <p:spPr>
          <a:xfrm>
            <a:off x="6103620" y="3675888"/>
            <a:ext cx="777240" cy="0"/>
          </a:xfrm>
          <a:prstGeom prst="line">
            <a:avLst/>
          </a:prstGeom>
          <a:noFill/>
          <a:ln w="12700">
            <a:solidFill>
              <a:srgbClr val="5B6B85"/>
            </a:solidFill>
            <a:prstDash val="solid"/>
            <a:tailEnd type="triangle"/>
          </a:ln>
        </p:spPr>
      </p:sp>
      <p:sp>
        <p:nvSpPr>
          <p:cNvPr id="38" name="Text 36"/>
          <p:cNvSpPr/>
          <p:nvPr/>
        </p:nvSpPr>
        <p:spPr>
          <a:xfrm>
            <a:off x="6158484" y="3346704"/>
            <a:ext cx="3291840" cy="310896"/>
          </a:xfrm>
          <a:prstGeom prst="rect">
            <a:avLst/>
          </a:prstGeom>
          <a:noFill/>
          <a:ln/>
        </p:spPr>
        <p:txBody>
          <a:bodyPr wrap="square" lIns="0" tIns="0" rIns="0" bIns="0" rtlCol="0" anchor="ctr"/>
          <a:lstStyle/>
          <a:p>
            <a:pPr indent="0" marL="0">
              <a:buNone/>
            </a:pPr>
            <a:r>
              <a:rPr lang="en-US" sz="760" dirty="0">
                <a:solidFill>
                  <a:srgbClr val="16233B"/>
                </a:solidFill>
                <a:latin typeface="Calibri" pitchFamily="34" charset="0"/>
                <a:ea typeface="Calibri" pitchFamily="34" charset="-122"/>
                <a:cs typeface="Calibri" pitchFamily="34" charset="-120"/>
              </a:rPr>
              <a:t>5. isFree = false → Feign → trainer-service: sessionFee</a:t>
            </a:r>
            <a:endParaRPr lang="en-US" sz="760" dirty="0"/>
          </a:p>
        </p:txBody>
      </p:sp>
      <p:sp>
        <p:nvSpPr>
          <p:cNvPr id="39" name="Shape 37"/>
          <p:cNvSpPr/>
          <p:nvPr/>
        </p:nvSpPr>
        <p:spPr>
          <a:xfrm>
            <a:off x="6103620" y="3927348"/>
            <a:ext cx="777240" cy="0"/>
          </a:xfrm>
          <a:prstGeom prst="line">
            <a:avLst/>
          </a:prstGeom>
          <a:noFill/>
          <a:ln w="12700">
            <a:solidFill>
              <a:srgbClr val="5B6B85"/>
            </a:solidFill>
            <a:prstDash val="solid"/>
          </a:ln>
        </p:spPr>
      </p:sp>
      <p:sp>
        <p:nvSpPr>
          <p:cNvPr id="40" name="Shape 38"/>
          <p:cNvSpPr/>
          <p:nvPr/>
        </p:nvSpPr>
        <p:spPr>
          <a:xfrm>
            <a:off x="6880860" y="3927348"/>
            <a:ext cx="0" cy="146304"/>
          </a:xfrm>
          <a:prstGeom prst="line">
            <a:avLst/>
          </a:prstGeom>
          <a:noFill/>
          <a:ln w="12700">
            <a:solidFill>
              <a:srgbClr val="5B6B85"/>
            </a:solidFill>
            <a:prstDash val="solid"/>
          </a:ln>
        </p:spPr>
      </p:sp>
      <p:sp>
        <p:nvSpPr>
          <p:cNvPr id="41" name="Shape 39"/>
          <p:cNvSpPr/>
          <p:nvPr/>
        </p:nvSpPr>
        <p:spPr>
          <a:xfrm>
            <a:off x="6103620" y="4073652"/>
            <a:ext cx="777240" cy="0"/>
          </a:xfrm>
          <a:prstGeom prst="line">
            <a:avLst/>
          </a:prstGeom>
          <a:noFill/>
          <a:ln w="12700">
            <a:solidFill>
              <a:srgbClr val="5B6B85"/>
            </a:solidFill>
            <a:prstDash val="solid"/>
            <a:tailEnd type="triangle"/>
          </a:ln>
        </p:spPr>
      </p:sp>
      <p:sp>
        <p:nvSpPr>
          <p:cNvPr id="42" name="Text 40"/>
          <p:cNvSpPr/>
          <p:nvPr/>
        </p:nvSpPr>
        <p:spPr>
          <a:xfrm>
            <a:off x="6158484" y="3744468"/>
            <a:ext cx="3291840" cy="310896"/>
          </a:xfrm>
          <a:prstGeom prst="rect">
            <a:avLst/>
          </a:prstGeom>
          <a:noFill/>
          <a:ln/>
        </p:spPr>
        <p:txBody>
          <a:bodyPr wrap="square" lIns="0" tIns="0" rIns="0" bIns="0" rtlCol="0" anchor="ctr"/>
          <a:lstStyle/>
          <a:p>
            <a:pPr indent="0" marL="0">
              <a:buNone/>
            </a:pPr>
            <a:r>
              <a:rPr lang="en-US" sz="760" dirty="0">
                <a:solidFill>
                  <a:srgbClr val="16233B"/>
                </a:solidFill>
                <a:latin typeface="Calibri" pitchFamily="34" charset="0"/>
                <a:ea typeface="Calibri" pitchFamily="34" charset="-122"/>
                <a:cs typeface="Calibri" pitchFamily="34" charset="-120"/>
              </a:rPr>
              <a:t>6. Save Booking (DB) — PAID / PENDING</a:t>
            </a:r>
            <a:endParaRPr lang="en-US" sz="760" dirty="0"/>
          </a:p>
        </p:txBody>
      </p:sp>
      <p:sp>
        <p:nvSpPr>
          <p:cNvPr id="43" name="Shape 41"/>
          <p:cNvSpPr/>
          <p:nvPr/>
        </p:nvSpPr>
        <p:spPr>
          <a:xfrm>
            <a:off x="6103620" y="4325112"/>
            <a:ext cx="3200400" cy="0"/>
          </a:xfrm>
          <a:prstGeom prst="line">
            <a:avLst/>
          </a:prstGeom>
          <a:noFill/>
          <a:ln w="14605">
            <a:solidFill>
              <a:srgbClr val="0B2545"/>
            </a:solidFill>
            <a:prstDash val="solid"/>
            <a:tailEnd type="triangle"/>
          </a:ln>
        </p:spPr>
      </p:sp>
      <p:sp>
        <p:nvSpPr>
          <p:cNvPr id="44" name="Text 42"/>
          <p:cNvSpPr/>
          <p:nvPr/>
        </p:nvSpPr>
        <p:spPr>
          <a:xfrm>
            <a:off x="6149340" y="4142232"/>
            <a:ext cx="31089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7. publish booking.notification</a:t>
            </a:r>
            <a:endParaRPr lang="en-US" sz="760" dirty="0"/>
          </a:p>
        </p:txBody>
      </p:sp>
      <p:sp>
        <p:nvSpPr>
          <p:cNvPr id="45" name="Shape 43"/>
          <p:cNvSpPr/>
          <p:nvPr/>
        </p:nvSpPr>
        <p:spPr>
          <a:xfrm flipH="1">
            <a:off x="4503420" y="4722876"/>
            <a:ext cx="1600200" cy="0"/>
          </a:xfrm>
          <a:prstGeom prst="line">
            <a:avLst/>
          </a:prstGeom>
          <a:noFill/>
          <a:ln w="14605">
            <a:solidFill>
              <a:srgbClr val="5B8FBF"/>
            </a:solidFill>
            <a:prstDash val="dash"/>
            <a:tailEnd type="triangle"/>
          </a:ln>
        </p:spPr>
      </p:sp>
      <p:sp>
        <p:nvSpPr>
          <p:cNvPr id="46" name="Text 44"/>
          <p:cNvSpPr/>
          <p:nvPr/>
        </p:nvSpPr>
        <p:spPr>
          <a:xfrm>
            <a:off x="4549140" y="4539996"/>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8. 200 OK — BookingResponse(paymentRequired)</a:t>
            </a:r>
            <a:endParaRPr lang="en-US" sz="760" dirty="0"/>
          </a:p>
        </p:txBody>
      </p:sp>
      <p:sp>
        <p:nvSpPr>
          <p:cNvPr id="47" name="Shape 45"/>
          <p:cNvSpPr/>
          <p:nvPr/>
        </p:nvSpPr>
        <p:spPr>
          <a:xfrm>
            <a:off x="2903220" y="5120640"/>
            <a:ext cx="1600200" cy="0"/>
          </a:xfrm>
          <a:prstGeom prst="line">
            <a:avLst/>
          </a:prstGeom>
          <a:noFill/>
          <a:ln w="14605">
            <a:solidFill>
              <a:srgbClr val="0B2545"/>
            </a:solidFill>
            <a:prstDash val="solid"/>
            <a:tailEnd type="triangle"/>
          </a:ln>
        </p:spPr>
      </p:sp>
      <p:sp>
        <p:nvSpPr>
          <p:cNvPr id="48" name="Text 46"/>
          <p:cNvSpPr/>
          <p:nvPr/>
        </p:nvSpPr>
        <p:spPr>
          <a:xfrm>
            <a:off x="2948940" y="4937760"/>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9. POST /payments/create-order</a:t>
            </a:r>
            <a:endParaRPr lang="en-US" sz="760" dirty="0"/>
          </a:p>
        </p:txBody>
      </p:sp>
      <p:sp>
        <p:nvSpPr>
          <p:cNvPr id="49" name="Shape 47"/>
          <p:cNvSpPr/>
          <p:nvPr/>
        </p:nvSpPr>
        <p:spPr>
          <a:xfrm>
            <a:off x="4503420" y="5518404"/>
            <a:ext cx="3200400" cy="0"/>
          </a:xfrm>
          <a:prstGeom prst="line">
            <a:avLst/>
          </a:prstGeom>
          <a:noFill/>
          <a:ln w="14605">
            <a:solidFill>
              <a:srgbClr val="0B2545"/>
            </a:solidFill>
            <a:prstDash val="solid"/>
            <a:tailEnd type="triangle"/>
          </a:ln>
        </p:spPr>
      </p:sp>
      <p:sp>
        <p:nvSpPr>
          <p:cNvPr id="50" name="Text 48"/>
          <p:cNvSpPr/>
          <p:nvPr/>
        </p:nvSpPr>
        <p:spPr>
          <a:xfrm>
            <a:off x="4549140" y="5335524"/>
            <a:ext cx="31089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10. Forward request</a:t>
            </a:r>
            <a:endParaRPr lang="en-US" sz="760" dirty="0"/>
          </a:p>
        </p:txBody>
      </p:sp>
      <p:sp>
        <p:nvSpPr>
          <p:cNvPr id="51" name="Shape 49"/>
          <p:cNvSpPr/>
          <p:nvPr/>
        </p:nvSpPr>
        <p:spPr>
          <a:xfrm flipH="1">
            <a:off x="2903220" y="5916168"/>
            <a:ext cx="4800600" cy="0"/>
          </a:xfrm>
          <a:prstGeom prst="line">
            <a:avLst/>
          </a:prstGeom>
          <a:noFill/>
          <a:ln w="14605">
            <a:solidFill>
              <a:srgbClr val="5B8FBF"/>
            </a:solidFill>
            <a:prstDash val="dash"/>
            <a:tailEnd type="triangle"/>
          </a:ln>
        </p:spPr>
      </p:sp>
      <p:sp>
        <p:nvSpPr>
          <p:cNvPr id="52" name="Text 50"/>
          <p:cNvSpPr/>
          <p:nvPr/>
        </p:nvSpPr>
        <p:spPr>
          <a:xfrm>
            <a:off x="2948940" y="5733288"/>
            <a:ext cx="47091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11. orderId  (Razorpay order)</a:t>
            </a:r>
            <a:endParaRPr lang="en-US" sz="760" dirty="0"/>
          </a:p>
        </p:txBody>
      </p:sp>
      <p:sp>
        <p:nvSpPr>
          <p:cNvPr id="53" name="Shape 51"/>
          <p:cNvSpPr/>
          <p:nvPr/>
        </p:nvSpPr>
        <p:spPr>
          <a:xfrm>
            <a:off x="1303020" y="6313932"/>
            <a:ext cx="1600200" cy="0"/>
          </a:xfrm>
          <a:prstGeom prst="line">
            <a:avLst/>
          </a:prstGeom>
          <a:noFill/>
          <a:ln w="14605">
            <a:solidFill>
              <a:srgbClr val="0B2545"/>
            </a:solidFill>
            <a:prstDash val="solid"/>
            <a:tailEnd type="triangle"/>
          </a:ln>
        </p:spPr>
      </p:sp>
      <p:sp>
        <p:nvSpPr>
          <p:cNvPr id="54" name="Text 52"/>
          <p:cNvSpPr/>
          <p:nvPr/>
        </p:nvSpPr>
        <p:spPr>
          <a:xfrm>
            <a:off x="1348740" y="6131052"/>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12. Completes Razorpay checkout</a:t>
            </a:r>
            <a:endParaRPr lang="en-US" sz="760" dirty="0"/>
          </a:p>
        </p:txBody>
      </p:sp>
      <p:sp>
        <p:nvSpPr>
          <p:cNvPr id="55" name="Shape 53"/>
          <p:cNvSpPr/>
          <p:nvPr/>
        </p:nvSpPr>
        <p:spPr>
          <a:xfrm>
            <a:off x="2903220" y="6711696"/>
            <a:ext cx="1600200" cy="0"/>
          </a:xfrm>
          <a:prstGeom prst="line">
            <a:avLst/>
          </a:prstGeom>
          <a:noFill/>
          <a:ln w="14605">
            <a:solidFill>
              <a:srgbClr val="0B2545"/>
            </a:solidFill>
            <a:prstDash val="solid"/>
            <a:tailEnd type="triangle"/>
          </a:ln>
        </p:spPr>
      </p:sp>
      <p:sp>
        <p:nvSpPr>
          <p:cNvPr id="56" name="Text 54"/>
          <p:cNvSpPr/>
          <p:nvPr/>
        </p:nvSpPr>
        <p:spPr>
          <a:xfrm>
            <a:off x="2948940" y="6528816"/>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13. POST /payments/pay (orderId, signature)</a:t>
            </a:r>
            <a:endParaRPr lang="en-US" sz="760" dirty="0"/>
          </a:p>
        </p:txBody>
      </p:sp>
      <p:sp>
        <p:nvSpPr>
          <p:cNvPr id="57" name="Shape 55"/>
          <p:cNvSpPr/>
          <p:nvPr/>
        </p:nvSpPr>
        <p:spPr>
          <a:xfrm>
            <a:off x="4503420" y="7109460"/>
            <a:ext cx="3200400" cy="0"/>
          </a:xfrm>
          <a:prstGeom prst="line">
            <a:avLst/>
          </a:prstGeom>
          <a:noFill/>
          <a:ln w="14605">
            <a:solidFill>
              <a:srgbClr val="0B2545"/>
            </a:solidFill>
            <a:prstDash val="solid"/>
            <a:tailEnd type="triangle"/>
          </a:ln>
        </p:spPr>
      </p:sp>
      <p:sp>
        <p:nvSpPr>
          <p:cNvPr id="58" name="Text 56"/>
          <p:cNvSpPr/>
          <p:nvPr/>
        </p:nvSpPr>
        <p:spPr>
          <a:xfrm>
            <a:off x="4549140" y="6926580"/>
            <a:ext cx="31089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14. Forward request</a:t>
            </a:r>
            <a:endParaRPr lang="en-US" sz="760" dirty="0"/>
          </a:p>
        </p:txBody>
      </p:sp>
      <p:sp>
        <p:nvSpPr>
          <p:cNvPr id="59" name="Shape 57"/>
          <p:cNvSpPr/>
          <p:nvPr/>
        </p:nvSpPr>
        <p:spPr>
          <a:xfrm>
            <a:off x="7703820" y="7507224"/>
            <a:ext cx="777240" cy="0"/>
          </a:xfrm>
          <a:prstGeom prst="line">
            <a:avLst/>
          </a:prstGeom>
          <a:noFill/>
          <a:ln w="12700">
            <a:solidFill>
              <a:srgbClr val="5B6B85"/>
            </a:solidFill>
            <a:prstDash val="solid"/>
          </a:ln>
        </p:spPr>
      </p:sp>
      <p:sp>
        <p:nvSpPr>
          <p:cNvPr id="60" name="Shape 58"/>
          <p:cNvSpPr/>
          <p:nvPr/>
        </p:nvSpPr>
        <p:spPr>
          <a:xfrm>
            <a:off x="8481060" y="7507224"/>
            <a:ext cx="0" cy="146304"/>
          </a:xfrm>
          <a:prstGeom prst="line">
            <a:avLst/>
          </a:prstGeom>
          <a:noFill/>
          <a:ln w="12700">
            <a:solidFill>
              <a:srgbClr val="5B6B85"/>
            </a:solidFill>
            <a:prstDash val="solid"/>
          </a:ln>
        </p:spPr>
      </p:sp>
      <p:sp>
        <p:nvSpPr>
          <p:cNvPr id="61" name="Shape 59"/>
          <p:cNvSpPr/>
          <p:nvPr/>
        </p:nvSpPr>
        <p:spPr>
          <a:xfrm>
            <a:off x="7703820" y="7653528"/>
            <a:ext cx="777240" cy="0"/>
          </a:xfrm>
          <a:prstGeom prst="line">
            <a:avLst/>
          </a:prstGeom>
          <a:noFill/>
          <a:ln w="12700">
            <a:solidFill>
              <a:srgbClr val="5B6B85"/>
            </a:solidFill>
            <a:prstDash val="solid"/>
            <a:tailEnd type="triangle"/>
          </a:ln>
        </p:spPr>
      </p:sp>
      <p:sp>
        <p:nvSpPr>
          <p:cNvPr id="62" name="Text 60"/>
          <p:cNvSpPr/>
          <p:nvPr/>
        </p:nvSpPr>
        <p:spPr>
          <a:xfrm>
            <a:off x="7758684" y="7324344"/>
            <a:ext cx="3291840" cy="310896"/>
          </a:xfrm>
          <a:prstGeom prst="rect">
            <a:avLst/>
          </a:prstGeom>
          <a:noFill/>
          <a:ln/>
        </p:spPr>
        <p:txBody>
          <a:bodyPr wrap="square" lIns="0" tIns="0" rIns="0" bIns="0" rtlCol="0" anchor="ctr"/>
          <a:lstStyle/>
          <a:p>
            <a:pPr indent="0" marL="0">
              <a:buNone/>
            </a:pPr>
            <a:r>
              <a:rPr lang="en-US" sz="760" dirty="0">
                <a:solidFill>
                  <a:srgbClr val="16233B"/>
                </a:solidFill>
                <a:latin typeface="Calibri" pitchFamily="34" charset="0"/>
                <a:ea typeface="Calibri" pitchFamily="34" charset="-122"/>
                <a:cs typeface="Calibri" pitchFamily="34" charset="-120"/>
              </a:rPr>
              <a:t>15. Verify HMAC signature; Save Payment (DB)</a:t>
            </a:r>
            <a:endParaRPr lang="en-US" sz="760" dirty="0"/>
          </a:p>
        </p:txBody>
      </p:sp>
      <p:sp>
        <p:nvSpPr>
          <p:cNvPr id="63" name="Shape 61"/>
          <p:cNvSpPr/>
          <p:nvPr/>
        </p:nvSpPr>
        <p:spPr>
          <a:xfrm>
            <a:off x="7703820" y="7904988"/>
            <a:ext cx="1600200" cy="0"/>
          </a:xfrm>
          <a:prstGeom prst="line">
            <a:avLst/>
          </a:prstGeom>
          <a:noFill/>
          <a:ln w="14605">
            <a:solidFill>
              <a:srgbClr val="0B2545"/>
            </a:solidFill>
            <a:prstDash val="solid"/>
            <a:tailEnd type="triangle"/>
          </a:ln>
        </p:spPr>
      </p:sp>
      <p:sp>
        <p:nvSpPr>
          <p:cNvPr id="64" name="Text 62"/>
          <p:cNvSpPr/>
          <p:nvPr/>
        </p:nvSpPr>
        <p:spPr>
          <a:xfrm>
            <a:off x="7749540" y="7722108"/>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16. publish payment.notification</a:t>
            </a:r>
            <a:endParaRPr lang="en-US" sz="760" dirty="0"/>
          </a:p>
        </p:txBody>
      </p:sp>
      <p:sp>
        <p:nvSpPr>
          <p:cNvPr id="65" name="Shape 63"/>
          <p:cNvSpPr/>
          <p:nvPr/>
        </p:nvSpPr>
        <p:spPr>
          <a:xfrm>
            <a:off x="9304020" y="8302752"/>
            <a:ext cx="1600200" cy="0"/>
          </a:xfrm>
          <a:prstGeom prst="line">
            <a:avLst/>
          </a:prstGeom>
          <a:noFill/>
          <a:ln w="14605">
            <a:solidFill>
              <a:srgbClr val="0B2545"/>
            </a:solidFill>
            <a:prstDash val="solid"/>
            <a:tailEnd type="triangle"/>
          </a:ln>
        </p:spPr>
      </p:sp>
      <p:sp>
        <p:nvSpPr>
          <p:cNvPr id="66" name="Text 64"/>
          <p:cNvSpPr/>
          <p:nvPr/>
        </p:nvSpPr>
        <p:spPr>
          <a:xfrm>
            <a:off x="9349740" y="8119872"/>
            <a:ext cx="15087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17. @RabbitListener consumes event</a:t>
            </a:r>
            <a:endParaRPr lang="en-US" sz="760" dirty="0"/>
          </a:p>
        </p:txBody>
      </p:sp>
      <p:sp>
        <p:nvSpPr>
          <p:cNvPr id="67" name="Shape 65"/>
          <p:cNvSpPr/>
          <p:nvPr/>
        </p:nvSpPr>
        <p:spPr>
          <a:xfrm>
            <a:off x="10904220" y="8700516"/>
            <a:ext cx="777240" cy="0"/>
          </a:xfrm>
          <a:prstGeom prst="line">
            <a:avLst/>
          </a:prstGeom>
          <a:noFill/>
          <a:ln w="12700">
            <a:solidFill>
              <a:srgbClr val="5B6B85"/>
            </a:solidFill>
            <a:prstDash val="solid"/>
          </a:ln>
        </p:spPr>
      </p:sp>
      <p:sp>
        <p:nvSpPr>
          <p:cNvPr id="68" name="Shape 66"/>
          <p:cNvSpPr/>
          <p:nvPr/>
        </p:nvSpPr>
        <p:spPr>
          <a:xfrm>
            <a:off x="11681460" y="8700516"/>
            <a:ext cx="0" cy="146304"/>
          </a:xfrm>
          <a:prstGeom prst="line">
            <a:avLst/>
          </a:prstGeom>
          <a:noFill/>
          <a:ln w="12700">
            <a:solidFill>
              <a:srgbClr val="5B6B85"/>
            </a:solidFill>
            <a:prstDash val="solid"/>
          </a:ln>
        </p:spPr>
      </p:sp>
      <p:sp>
        <p:nvSpPr>
          <p:cNvPr id="69" name="Shape 67"/>
          <p:cNvSpPr/>
          <p:nvPr/>
        </p:nvSpPr>
        <p:spPr>
          <a:xfrm>
            <a:off x="10904220" y="8846820"/>
            <a:ext cx="777240" cy="0"/>
          </a:xfrm>
          <a:prstGeom prst="line">
            <a:avLst/>
          </a:prstGeom>
          <a:noFill/>
          <a:ln w="12700">
            <a:solidFill>
              <a:srgbClr val="5B6B85"/>
            </a:solidFill>
            <a:prstDash val="solid"/>
            <a:tailEnd type="triangle"/>
          </a:ln>
        </p:spPr>
      </p:sp>
      <p:sp>
        <p:nvSpPr>
          <p:cNvPr id="70" name="Text 68"/>
          <p:cNvSpPr/>
          <p:nvPr/>
        </p:nvSpPr>
        <p:spPr>
          <a:xfrm>
            <a:off x="10959084" y="8517636"/>
            <a:ext cx="3291840" cy="310896"/>
          </a:xfrm>
          <a:prstGeom prst="rect">
            <a:avLst/>
          </a:prstGeom>
          <a:noFill/>
          <a:ln/>
        </p:spPr>
        <p:txBody>
          <a:bodyPr wrap="square" lIns="0" tIns="0" rIns="0" bIns="0" rtlCol="0" anchor="ctr"/>
          <a:lstStyle/>
          <a:p>
            <a:pPr indent="0" marL="0">
              <a:buNone/>
            </a:pPr>
            <a:r>
              <a:rPr lang="en-US" sz="760" dirty="0">
                <a:solidFill>
                  <a:srgbClr val="16233B"/>
                </a:solidFill>
                <a:latin typeface="Calibri" pitchFamily="34" charset="0"/>
                <a:ea typeface="Calibri" pitchFamily="34" charset="-122"/>
                <a:cs typeface="Calibri" pitchFamily="34" charset="-120"/>
              </a:rPr>
              <a:t>18. Send email + Save InAppNotification (DB)</a:t>
            </a:r>
            <a:endParaRPr lang="en-US" sz="760" dirty="0"/>
          </a:p>
        </p:txBody>
      </p:sp>
      <p:sp>
        <p:nvSpPr>
          <p:cNvPr id="71" name="Shape 69"/>
          <p:cNvSpPr/>
          <p:nvPr/>
        </p:nvSpPr>
        <p:spPr>
          <a:xfrm flipH="1">
            <a:off x="2903220" y="9098280"/>
            <a:ext cx="8001000" cy="0"/>
          </a:xfrm>
          <a:prstGeom prst="line">
            <a:avLst/>
          </a:prstGeom>
          <a:noFill/>
          <a:ln w="14605">
            <a:solidFill>
              <a:srgbClr val="5B8FBF"/>
            </a:solidFill>
            <a:prstDash val="dash"/>
            <a:tailEnd type="triangle"/>
          </a:ln>
        </p:spPr>
      </p:sp>
      <p:sp>
        <p:nvSpPr>
          <p:cNvPr id="72" name="Text 70"/>
          <p:cNvSpPr/>
          <p:nvPr/>
        </p:nvSpPr>
        <p:spPr>
          <a:xfrm>
            <a:off x="2948940" y="8915400"/>
            <a:ext cx="7909560" cy="182880"/>
          </a:xfrm>
          <a:prstGeom prst="rect">
            <a:avLst/>
          </a:prstGeom>
          <a:noFill/>
          <a:ln/>
        </p:spPr>
        <p:txBody>
          <a:bodyPr wrap="square" lIns="0" tIns="0" rIns="0" bIns="0" rtlCol="0" anchor="ctr"/>
          <a:lstStyle/>
          <a:p>
            <a:pPr algn="ctr" indent="0" marL="0">
              <a:buNone/>
            </a:pPr>
            <a:r>
              <a:rPr lang="en-US" sz="760" dirty="0">
                <a:solidFill>
                  <a:srgbClr val="16233B"/>
                </a:solidFill>
                <a:latin typeface="Calibri" pitchFamily="34" charset="0"/>
                <a:ea typeface="Calibri" pitchFamily="34" charset="-122"/>
                <a:cs typeface="Calibri" pitchFamily="34" charset="-120"/>
              </a:rPr>
              <a:t>19. SSE push → live bell update</a:t>
            </a:r>
            <a:endParaRPr lang="en-US" sz="760" dirty="0"/>
          </a:p>
        </p:txBody>
      </p:sp>
      <p:sp>
        <p:nvSpPr>
          <p:cNvPr id="73" name="Text 71"/>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74" name="Text 72"/>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Sequence Diagram</a:t>
            </a:r>
            <a:endParaRPr lang="en-US" sz="900" dirty="0"/>
          </a:p>
        </p:txBody>
      </p:sp>
      <p:sp>
        <p:nvSpPr>
          <p:cNvPr id="75" name="Text 73"/>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UML DIAGRAM — CLASS</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Class Diagram — Booking Domain</a:t>
            </a:r>
            <a:endParaRPr lang="en-US" sz="2800" dirty="0"/>
          </a:p>
        </p:txBody>
      </p:sp>
      <p:sp>
        <p:nvSpPr>
          <p:cNvPr id="4" name="Shape 2"/>
          <p:cNvSpPr/>
          <p:nvPr/>
        </p:nvSpPr>
        <p:spPr>
          <a:xfrm>
            <a:off x="4709160" y="1234440"/>
            <a:ext cx="2651760" cy="310896"/>
          </a:xfrm>
          <a:prstGeom prst="rect">
            <a:avLst/>
          </a:prstGeom>
          <a:solidFill>
            <a:srgbClr val="0B2545"/>
          </a:solidFill>
          <a:ln w="12700">
            <a:solidFill>
              <a:srgbClr val="1B4F91"/>
            </a:solidFill>
            <a:prstDash val="solid"/>
          </a:ln>
        </p:spPr>
      </p:sp>
      <p:sp>
        <p:nvSpPr>
          <p:cNvPr id="5" name="Text 3"/>
          <p:cNvSpPr/>
          <p:nvPr/>
        </p:nvSpPr>
        <p:spPr>
          <a:xfrm>
            <a:off x="4709160" y="1252728"/>
            <a:ext cx="2651760" cy="292608"/>
          </a:xfrm>
          <a:prstGeom prst="rect">
            <a:avLst/>
          </a:prstGeom>
          <a:noFill/>
          <a:ln/>
        </p:spPr>
        <p:txBody>
          <a:bodyPr wrap="square" lIns="0" tIns="0" rIns="0" bIns="0" rtlCol="0" anchor="ctr"/>
          <a:lstStyle/>
          <a:p>
            <a:pPr algn="ctr" indent="0" marL="0">
              <a:buNone/>
            </a:pPr>
            <a:r>
              <a:rPr lang="en-US" sz="750" i="1" dirty="0">
                <a:solidFill>
                  <a:srgbClr val="CADCFC"/>
                </a:solidFill>
                <a:latin typeface="Calibri" pitchFamily="34" charset="0"/>
                <a:ea typeface="Calibri" pitchFamily="34" charset="-122"/>
                <a:cs typeface="Calibri" pitchFamily="34" charset="-120"/>
              </a:rPr>
              <a:t>«RestController»</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BookingController</a:t>
            </a:r>
            <a:endParaRPr lang="en-US" sz="750" dirty="0"/>
          </a:p>
        </p:txBody>
      </p:sp>
      <p:sp>
        <p:nvSpPr>
          <p:cNvPr id="6" name="Shape 4"/>
          <p:cNvSpPr/>
          <p:nvPr/>
        </p:nvSpPr>
        <p:spPr>
          <a:xfrm>
            <a:off x="4709160" y="1545336"/>
            <a:ext cx="2651760" cy="260604"/>
          </a:xfrm>
          <a:prstGeom prst="rect">
            <a:avLst/>
          </a:prstGeom>
          <a:solidFill>
            <a:srgbClr val="FFFFFF"/>
          </a:solidFill>
          <a:ln w="12700">
            <a:solidFill>
              <a:srgbClr val="1B4F91"/>
            </a:solidFill>
            <a:prstDash val="solid"/>
          </a:ln>
        </p:spPr>
      </p:sp>
      <p:sp>
        <p:nvSpPr>
          <p:cNvPr id="7" name="Text 5"/>
          <p:cNvSpPr/>
          <p:nvPr/>
        </p:nvSpPr>
        <p:spPr>
          <a:xfrm>
            <a:off x="4782312" y="1581912"/>
            <a:ext cx="2505456" cy="187452"/>
          </a:xfrm>
          <a:prstGeom prst="rect">
            <a:avLst/>
          </a:prstGeom>
          <a:noFill/>
          <a:ln/>
        </p:spPr>
        <p:txBody>
          <a:bodyPr wrap="square" lIns="0" tIns="0" rIns="0" bIns="0" rtlCol="0" anchor="t"/>
          <a:lstStyle/>
          <a:p>
            <a:pPr indent="0" marL="0">
              <a:buNone/>
            </a:pPr>
            <a:r>
              <a:rPr lang="en-US" sz="760" dirty="0">
                <a:solidFill>
                  <a:srgbClr val="16233B"/>
                </a:solidFill>
                <a:latin typeface="Courier New" pitchFamily="34" charset="0"/>
                <a:ea typeface="Courier New" pitchFamily="34" charset="-122"/>
                <a:cs typeface="Courier New" pitchFamily="34" charset="-120"/>
              </a:rPr>
              <a:t> </a:t>
            </a:r>
            <a:endParaRPr lang="en-US" sz="760" dirty="0"/>
          </a:p>
        </p:txBody>
      </p:sp>
      <p:sp>
        <p:nvSpPr>
          <p:cNvPr id="8" name="Shape 6"/>
          <p:cNvSpPr/>
          <p:nvPr/>
        </p:nvSpPr>
        <p:spPr>
          <a:xfrm>
            <a:off x="4709160" y="1805940"/>
            <a:ext cx="2651760" cy="937260"/>
          </a:xfrm>
          <a:prstGeom prst="rect">
            <a:avLst/>
          </a:prstGeom>
          <a:solidFill>
            <a:srgbClr val="FFFFFF"/>
          </a:solidFill>
          <a:ln w="12700">
            <a:solidFill>
              <a:srgbClr val="1B4F91"/>
            </a:solidFill>
            <a:prstDash val="solid"/>
          </a:ln>
        </p:spPr>
      </p:sp>
      <p:sp>
        <p:nvSpPr>
          <p:cNvPr id="9" name="Text 7"/>
          <p:cNvSpPr/>
          <p:nvPr/>
        </p:nvSpPr>
        <p:spPr>
          <a:xfrm>
            <a:off x="4782312" y="1842516"/>
            <a:ext cx="2505456" cy="864108"/>
          </a:xfrm>
          <a:prstGeom prst="rect">
            <a:avLst/>
          </a:prstGeom>
          <a:noFill/>
          <a:ln/>
        </p:spPr>
        <p:txBody>
          <a:bodyPr wrap="square" lIns="0" tIns="0" rIns="0" bIns="0" rtlCol="0" anchor="t"/>
          <a:lstStyle/>
          <a:p>
            <a:pPr indent="0" marL="0">
              <a:buNone/>
            </a:pPr>
            <a:r>
              <a:rPr lang="en-US" sz="760" dirty="0">
                <a:solidFill>
                  <a:srgbClr val="0B2545"/>
                </a:solidFill>
                <a:latin typeface="Courier New" pitchFamily="34" charset="0"/>
                <a:ea typeface="Courier New" pitchFamily="34" charset="-122"/>
                <a:cs typeface="Courier New" pitchFamily="34" charset="-120"/>
              </a:rPr>
              <a:t>+ create(req): Response</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getById(id): Response</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getByMember(id): List</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cancel(id): String</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confirmPayment(id)</a:t>
            </a:r>
            <a:endParaRPr lang="en-US" sz="760" dirty="0"/>
          </a:p>
        </p:txBody>
      </p:sp>
      <p:sp>
        <p:nvSpPr>
          <p:cNvPr id="10" name="Shape 8"/>
          <p:cNvSpPr/>
          <p:nvPr/>
        </p:nvSpPr>
        <p:spPr>
          <a:xfrm>
            <a:off x="4709160" y="2606040"/>
            <a:ext cx="2651760" cy="310896"/>
          </a:xfrm>
          <a:prstGeom prst="rect">
            <a:avLst/>
          </a:prstGeom>
          <a:solidFill>
            <a:srgbClr val="0B2545"/>
          </a:solidFill>
          <a:ln w="12700">
            <a:solidFill>
              <a:srgbClr val="1B4F91"/>
            </a:solidFill>
            <a:prstDash val="solid"/>
          </a:ln>
        </p:spPr>
      </p:sp>
      <p:sp>
        <p:nvSpPr>
          <p:cNvPr id="11" name="Text 9"/>
          <p:cNvSpPr/>
          <p:nvPr/>
        </p:nvSpPr>
        <p:spPr>
          <a:xfrm>
            <a:off x="4709160" y="2624328"/>
            <a:ext cx="26517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BookingService</a:t>
            </a:r>
            <a:endParaRPr lang="en-US" sz="1050" dirty="0"/>
          </a:p>
        </p:txBody>
      </p:sp>
      <p:sp>
        <p:nvSpPr>
          <p:cNvPr id="12" name="Shape 10"/>
          <p:cNvSpPr/>
          <p:nvPr/>
        </p:nvSpPr>
        <p:spPr>
          <a:xfrm>
            <a:off x="4709160" y="2916936"/>
            <a:ext cx="2651760" cy="937260"/>
          </a:xfrm>
          <a:prstGeom prst="rect">
            <a:avLst/>
          </a:prstGeom>
          <a:solidFill>
            <a:srgbClr val="FFFFFF"/>
          </a:solidFill>
          <a:ln w="12700">
            <a:solidFill>
              <a:srgbClr val="1B4F91"/>
            </a:solidFill>
            <a:prstDash val="solid"/>
          </a:ln>
        </p:spPr>
      </p:sp>
      <p:sp>
        <p:nvSpPr>
          <p:cNvPr id="13" name="Text 11"/>
          <p:cNvSpPr/>
          <p:nvPr/>
        </p:nvSpPr>
        <p:spPr>
          <a:xfrm>
            <a:off x="4782312" y="2953512"/>
            <a:ext cx="2505456" cy="864108"/>
          </a:xfrm>
          <a:prstGeom prst="rect">
            <a:avLst/>
          </a:prstGeom>
          <a:noFill/>
          <a:ln/>
        </p:spPr>
        <p:txBody>
          <a:bodyPr wrap="square" lIns="0" tIns="0" rIns="0" bIns="0" rtlCol="0" anchor="t"/>
          <a:lstStyle/>
          <a:p>
            <a:pPr indent="0" marL="0">
              <a:buNone/>
            </a:pPr>
            <a:r>
              <a:rPr lang="en-US" sz="760" dirty="0">
                <a:solidFill>
                  <a:srgbClr val="16233B"/>
                </a:solidFill>
                <a:latin typeface="Courier New" pitchFamily="34" charset="0"/>
                <a:ea typeface="Courier New" pitchFamily="34" charset="-122"/>
                <a:cs typeface="Courier New" pitchFamily="34" charset="-120"/>
              </a:rPr>
              <a:t>- repo: BookingRepository</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notificationPublisher</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planServiceClient</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trainerServiceClient</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authServiceClient</a:t>
            </a:r>
            <a:endParaRPr lang="en-US" sz="760" dirty="0"/>
          </a:p>
        </p:txBody>
      </p:sp>
      <p:sp>
        <p:nvSpPr>
          <p:cNvPr id="14" name="Shape 12"/>
          <p:cNvSpPr/>
          <p:nvPr/>
        </p:nvSpPr>
        <p:spPr>
          <a:xfrm>
            <a:off x="4709160" y="3854196"/>
            <a:ext cx="2651760" cy="598932"/>
          </a:xfrm>
          <a:prstGeom prst="rect">
            <a:avLst/>
          </a:prstGeom>
          <a:solidFill>
            <a:srgbClr val="FFFFFF"/>
          </a:solidFill>
          <a:ln w="12700">
            <a:solidFill>
              <a:srgbClr val="1B4F91"/>
            </a:solidFill>
            <a:prstDash val="solid"/>
          </a:ln>
        </p:spPr>
      </p:sp>
      <p:sp>
        <p:nvSpPr>
          <p:cNvPr id="15" name="Text 13"/>
          <p:cNvSpPr/>
          <p:nvPr/>
        </p:nvSpPr>
        <p:spPr>
          <a:xfrm>
            <a:off x="4782312" y="3890772"/>
            <a:ext cx="2505456" cy="525780"/>
          </a:xfrm>
          <a:prstGeom prst="rect">
            <a:avLst/>
          </a:prstGeom>
          <a:noFill/>
          <a:ln/>
        </p:spPr>
        <p:txBody>
          <a:bodyPr wrap="square" lIns="0" tIns="0" rIns="0" bIns="0" rtlCol="0" anchor="t"/>
          <a:lstStyle/>
          <a:p>
            <a:pPr indent="0" marL="0">
              <a:buNone/>
            </a:pPr>
            <a:r>
              <a:rPr lang="en-US" sz="760" dirty="0">
                <a:solidFill>
                  <a:srgbClr val="0B2545"/>
                </a:solidFill>
                <a:latin typeface="Courier New" pitchFamily="34" charset="0"/>
                <a:ea typeface="Courier New" pitchFamily="34" charset="-122"/>
                <a:cs typeface="Courier New" pitchFamily="34" charset="-120"/>
              </a:rPr>
              <a:t>+ createBooking(req)</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cancelBooking(id)</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getBookingsByMember(id)</a:t>
            </a:r>
            <a:endParaRPr lang="en-US" sz="760" dirty="0"/>
          </a:p>
        </p:txBody>
      </p:sp>
      <p:sp>
        <p:nvSpPr>
          <p:cNvPr id="16" name="Shape 14"/>
          <p:cNvSpPr/>
          <p:nvPr/>
        </p:nvSpPr>
        <p:spPr>
          <a:xfrm>
            <a:off x="1737360" y="4343400"/>
            <a:ext cx="2331720" cy="310896"/>
          </a:xfrm>
          <a:prstGeom prst="rect">
            <a:avLst/>
          </a:prstGeom>
          <a:solidFill>
            <a:srgbClr val="0B2545"/>
          </a:solidFill>
          <a:ln w="12700">
            <a:solidFill>
              <a:srgbClr val="0086B3"/>
            </a:solidFill>
            <a:prstDash val="solid"/>
          </a:ln>
        </p:spPr>
      </p:sp>
      <p:sp>
        <p:nvSpPr>
          <p:cNvPr id="17" name="Text 15"/>
          <p:cNvSpPr/>
          <p:nvPr/>
        </p:nvSpPr>
        <p:spPr>
          <a:xfrm>
            <a:off x="1737360" y="4361688"/>
            <a:ext cx="2331720" cy="292608"/>
          </a:xfrm>
          <a:prstGeom prst="rect">
            <a:avLst/>
          </a:prstGeom>
          <a:noFill/>
          <a:ln/>
        </p:spPr>
        <p:txBody>
          <a:bodyPr wrap="square" lIns="0" tIns="0" rIns="0" bIns="0" rtlCol="0" anchor="ctr"/>
          <a:lstStyle/>
          <a:p>
            <a:pPr algn="ctr" indent="0" marL="0">
              <a:buNone/>
            </a:pPr>
            <a:r>
              <a:rPr lang="en-US" sz="750" i="1" dirty="0">
                <a:solidFill>
                  <a:srgbClr val="CADCFC"/>
                </a:solidFill>
                <a:latin typeface="Calibri" pitchFamily="34" charset="0"/>
                <a:ea typeface="Calibri" pitchFamily="34" charset="-122"/>
                <a:cs typeface="Calibri" pitchFamily="34" charset="-120"/>
              </a:rPr>
              <a:t>«Repository»</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«interface»</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BookingRepository</a:t>
            </a:r>
            <a:endParaRPr lang="en-US" sz="750" dirty="0"/>
          </a:p>
        </p:txBody>
      </p:sp>
      <p:sp>
        <p:nvSpPr>
          <p:cNvPr id="18" name="Shape 16"/>
          <p:cNvSpPr/>
          <p:nvPr/>
        </p:nvSpPr>
        <p:spPr>
          <a:xfrm>
            <a:off x="1737360" y="4654296"/>
            <a:ext cx="2331720" cy="260604"/>
          </a:xfrm>
          <a:prstGeom prst="rect">
            <a:avLst/>
          </a:prstGeom>
          <a:solidFill>
            <a:srgbClr val="FFFFFF"/>
          </a:solidFill>
          <a:ln w="12700">
            <a:solidFill>
              <a:srgbClr val="0086B3"/>
            </a:solidFill>
            <a:prstDash val="solid"/>
          </a:ln>
        </p:spPr>
      </p:sp>
      <p:sp>
        <p:nvSpPr>
          <p:cNvPr id="19" name="Text 17"/>
          <p:cNvSpPr/>
          <p:nvPr/>
        </p:nvSpPr>
        <p:spPr>
          <a:xfrm>
            <a:off x="1810512" y="4690872"/>
            <a:ext cx="2185416" cy="187452"/>
          </a:xfrm>
          <a:prstGeom prst="rect">
            <a:avLst/>
          </a:prstGeom>
          <a:noFill/>
          <a:ln/>
        </p:spPr>
        <p:txBody>
          <a:bodyPr wrap="square" lIns="0" tIns="0" rIns="0" bIns="0" rtlCol="0" anchor="t"/>
          <a:lstStyle/>
          <a:p>
            <a:pPr indent="0" marL="0">
              <a:buNone/>
            </a:pPr>
            <a:r>
              <a:rPr lang="en-US" sz="760" dirty="0">
                <a:solidFill>
                  <a:srgbClr val="16233B"/>
                </a:solidFill>
                <a:latin typeface="Courier New" pitchFamily="34" charset="0"/>
                <a:ea typeface="Courier New" pitchFamily="34" charset="-122"/>
                <a:cs typeface="Courier New" pitchFamily="34" charset="-120"/>
              </a:rPr>
              <a:t> </a:t>
            </a:r>
            <a:endParaRPr lang="en-US" sz="760" dirty="0"/>
          </a:p>
        </p:txBody>
      </p:sp>
      <p:sp>
        <p:nvSpPr>
          <p:cNvPr id="20" name="Shape 18"/>
          <p:cNvSpPr/>
          <p:nvPr/>
        </p:nvSpPr>
        <p:spPr>
          <a:xfrm>
            <a:off x="1737360" y="4914900"/>
            <a:ext cx="2331720" cy="429768"/>
          </a:xfrm>
          <a:prstGeom prst="rect">
            <a:avLst/>
          </a:prstGeom>
          <a:solidFill>
            <a:srgbClr val="FFFFFF"/>
          </a:solidFill>
          <a:ln w="12700">
            <a:solidFill>
              <a:srgbClr val="0086B3"/>
            </a:solidFill>
            <a:prstDash val="solid"/>
          </a:ln>
        </p:spPr>
      </p:sp>
      <p:sp>
        <p:nvSpPr>
          <p:cNvPr id="21" name="Text 19"/>
          <p:cNvSpPr/>
          <p:nvPr/>
        </p:nvSpPr>
        <p:spPr>
          <a:xfrm>
            <a:off x="1810512" y="4951476"/>
            <a:ext cx="2185416" cy="356616"/>
          </a:xfrm>
          <a:prstGeom prst="rect">
            <a:avLst/>
          </a:prstGeom>
          <a:noFill/>
          <a:ln/>
        </p:spPr>
        <p:txBody>
          <a:bodyPr wrap="square" lIns="0" tIns="0" rIns="0" bIns="0" rtlCol="0" anchor="t"/>
          <a:lstStyle/>
          <a:p>
            <a:pPr indent="0" marL="0">
              <a:buNone/>
            </a:pPr>
            <a:r>
              <a:rPr lang="en-US" sz="760" dirty="0">
                <a:solidFill>
                  <a:srgbClr val="0B2545"/>
                </a:solidFill>
                <a:latin typeface="Courier New" pitchFamily="34" charset="0"/>
                <a:ea typeface="Courier New" pitchFamily="34" charset="-122"/>
                <a:cs typeface="Courier New" pitchFamily="34" charset="-120"/>
              </a:rPr>
              <a:t>+ findByMemberId(id)</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findByTrainerId(id)</a:t>
            </a:r>
            <a:endParaRPr lang="en-US" sz="760" dirty="0"/>
          </a:p>
        </p:txBody>
      </p:sp>
      <p:sp>
        <p:nvSpPr>
          <p:cNvPr id="22" name="Shape 20"/>
          <p:cNvSpPr/>
          <p:nvPr/>
        </p:nvSpPr>
        <p:spPr>
          <a:xfrm>
            <a:off x="502920" y="5623560"/>
            <a:ext cx="2377440" cy="310896"/>
          </a:xfrm>
          <a:prstGeom prst="rect">
            <a:avLst/>
          </a:prstGeom>
          <a:solidFill>
            <a:srgbClr val="12345F"/>
          </a:solidFill>
          <a:ln w="12700">
            <a:solidFill>
              <a:srgbClr val="12345F"/>
            </a:solidFill>
            <a:prstDash val="solid"/>
          </a:ln>
        </p:spPr>
      </p:sp>
      <p:sp>
        <p:nvSpPr>
          <p:cNvPr id="23" name="Text 21"/>
          <p:cNvSpPr/>
          <p:nvPr/>
        </p:nvSpPr>
        <p:spPr>
          <a:xfrm>
            <a:off x="502920" y="5641848"/>
            <a:ext cx="2377440" cy="292608"/>
          </a:xfrm>
          <a:prstGeom prst="rect">
            <a:avLst/>
          </a:prstGeom>
          <a:noFill/>
          <a:ln/>
        </p:spPr>
        <p:txBody>
          <a:bodyPr wrap="square" lIns="0" tIns="0" rIns="0" bIns="0" rtlCol="0" anchor="ctr"/>
          <a:lstStyle/>
          <a:p>
            <a:pPr algn="ctr" indent="0" marL="0">
              <a:buNone/>
            </a:pPr>
            <a:r>
              <a:rPr lang="en-US" sz="750" i="1" dirty="0">
                <a:solidFill>
                  <a:srgbClr val="CADCFC"/>
                </a:solidFill>
                <a:latin typeface="Calibri" pitchFamily="34" charset="0"/>
                <a:ea typeface="Calibri" pitchFamily="34" charset="-122"/>
                <a:cs typeface="Calibri" pitchFamily="34" charset="-120"/>
              </a:rPr>
              <a:t>«Entity»</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Booking</a:t>
            </a:r>
            <a:endParaRPr lang="en-US" sz="750" dirty="0"/>
          </a:p>
        </p:txBody>
      </p:sp>
      <p:sp>
        <p:nvSpPr>
          <p:cNvPr id="24" name="Shape 22"/>
          <p:cNvSpPr/>
          <p:nvPr/>
        </p:nvSpPr>
        <p:spPr>
          <a:xfrm>
            <a:off x="502920" y="5934456"/>
            <a:ext cx="2377440" cy="1106424"/>
          </a:xfrm>
          <a:prstGeom prst="rect">
            <a:avLst/>
          </a:prstGeom>
          <a:solidFill>
            <a:srgbClr val="FFFFFF"/>
          </a:solidFill>
          <a:ln w="12700">
            <a:solidFill>
              <a:srgbClr val="12345F"/>
            </a:solidFill>
            <a:prstDash val="solid"/>
          </a:ln>
        </p:spPr>
      </p:sp>
      <p:sp>
        <p:nvSpPr>
          <p:cNvPr id="25" name="Text 23"/>
          <p:cNvSpPr/>
          <p:nvPr/>
        </p:nvSpPr>
        <p:spPr>
          <a:xfrm>
            <a:off x="576072" y="5971032"/>
            <a:ext cx="2231136" cy="1033272"/>
          </a:xfrm>
          <a:prstGeom prst="rect">
            <a:avLst/>
          </a:prstGeom>
          <a:noFill/>
          <a:ln/>
        </p:spPr>
        <p:txBody>
          <a:bodyPr wrap="square" lIns="0" tIns="0" rIns="0" bIns="0" rtlCol="0" anchor="t"/>
          <a:lstStyle/>
          <a:p>
            <a:pPr indent="0" marL="0">
              <a:buNone/>
            </a:pPr>
            <a:r>
              <a:rPr lang="en-US" sz="760" dirty="0">
                <a:solidFill>
                  <a:srgbClr val="16233B"/>
                </a:solidFill>
                <a:latin typeface="Courier New" pitchFamily="34" charset="0"/>
                <a:ea typeface="Courier New" pitchFamily="34" charset="-122"/>
                <a:cs typeface="Courier New" pitchFamily="34" charset="-120"/>
              </a:rPr>
              <a:t>- id: Long</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memberId: Long</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trainerId: Long</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sessionType: String</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paymentStatus: String</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status: String</a:t>
            </a:r>
            <a:endParaRPr lang="en-US" sz="760" dirty="0"/>
          </a:p>
        </p:txBody>
      </p:sp>
      <p:sp>
        <p:nvSpPr>
          <p:cNvPr id="26" name="Shape 24"/>
          <p:cNvSpPr/>
          <p:nvPr/>
        </p:nvSpPr>
        <p:spPr>
          <a:xfrm>
            <a:off x="502920" y="7040880"/>
            <a:ext cx="2377440" cy="260604"/>
          </a:xfrm>
          <a:prstGeom prst="rect">
            <a:avLst/>
          </a:prstGeom>
          <a:solidFill>
            <a:srgbClr val="FFFFFF"/>
          </a:solidFill>
          <a:ln w="12700">
            <a:solidFill>
              <a:srgbClr val="12345F"/>
            </a:solidFill>
            <a:prstDash val="solid"/>
          </a:ln>
        </p:spPr>
      </p:sp>
      <p:sp>
        <p:nvSpPr>
          <p:cNvPr id="27" name="Text 25"/>
          <p:cNvSpPr/>
          <p:nvPr/>
        </p:nvSpPr>
        <p:spPr>
          <a:xfrm>
            <a:off x="576072" y="7077456"/>
            <a:ext cx="2231136" cy="187452"/>
          </a:xfrm>
          <a:prstGeom prst="rect">
            <a:avLst/>
          </a:prstGeom>
          <a:noFill/>
          <a:ln/>
        </p:spPr>
        <p:txBody>
          <a:bodyPr wrap="square" lIns="0" tIns="0" rIns="0" bIns="0" rtlCol="0" anchor="t"/>
          <a:lstStyle/>
          <a:p>
            <a:pPr indent="0" marL="0">
              <a:buNone/>
            </a:pPr>
            <a:r>
              <a:rPr lang="en-US" sz="760" dirty="0">
                <a:solidFill>
                  <a:srgbClr val="0B2545"/>
                </a:solidFill>
                <a:latin typeface="Courier New" pitchFamily="34" charset="0"/>
                <a:ea typeface="Courier New" pitchFamily="34" charset="-122"/>
                <a:cs typeface="Courier New" pitchFamily="34" charset="-120"/>
              </a:rPr>
              <a:t> </a:t>
            </a:r>
            <a:endParaRPr lang="en-US" sz="760" dirty="0"/>
          </a:p>
        </p:txBody>
      </p:sp>
      <p:sp>
        <p:nvSpPr>
          <p:cNvPr id="28" name="Shape 26"/>
          <p:cNvSpPr/>
          <p:nvPr/>
        </p:nvSpPr>
        <p:spPr>
          <a:xfrm>
            <a:off x="7909560" y="1234440"/>
            <a:ext cx="1965960" cy="310896"/>
          </a:xfrm>
          <a:prstGeom prst="rect">
            <a:avLst/>
          </a:prstGeom>
          <a:solidFill>
            <a:srgbClr val="6B7A90"/>
          </a:solidFill>
          <a:ln w="12700">
            <a:solidFill>
              <a:srgbClr val="5B6B85"/>
            </a:solidFill>
            <a:prstDash val="solid"/>
          </a:ln>
        </p:spPr>
      </p:sp>
      <p:sp>
        <p:nvSpPr>
          <p:cNvPr id="29" name="Text 27"/>
          <p:cNvSpPr/>
          <p:nvPr/>
        </p:nvSpPr>
        <p:spPr>
          <a:xfrm>
            <a:off x="7909560" y="1252728"/>
            <a:ext cx="1965960" cy="292608"/>
          </a:xfrm>
          <a:prstGeom prst="rect">
            <a:avLst/>
          </a:prstGeom>
          <a:noFill/>
          <a:ln/>
        </p:spPr>
        <p:txBody>
          <a:bodyPr wrap="square" lIns="0" tIns="0" rIns="0" bIns="0" rtlCol="0" anchor="ctr"/>
          <a:lstStyle/>
          <a:p>
            <a:pPr algn="ctr" indent="0" marL="0">
              <a:buNone/>
            </a:pPr>
            <a:r>
              <a:rPr lang="en-US" sz="750" i="1" dirty="0">
                <a:solidFill>
                  <a:srgbClr val="CADCFC"/>
                </a:solidFill>
                <a:latin typeface="Calibri" pitchFamily="34" charset="0"/>
                <a:ea typeface="Calibri" pitchFamily="34" charset="-122"/>
                <a:cs typeface="Calibri" pitchFamily="34" charset="-120"/>
              </a:rPr>
              <a:t>«DTO»</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BookingRequest</a:t>
            </a:r>
            <a:endParaRPr lang="en-US" sz="750" dirty="0"/>
          </a:p>
        </p:txBody>
      </p:sp>
      <p:sp>
        <p:nvSpPr>
          <p:cNvPr id="30" name="Shape 28"/>
          <p:cNvSpPr/>
          <p:nvPr/>
        </p:nvSpPr>
        <p:spPr>
          <a:xfrm>
            <a:off x="7909560" y="1545336"/>
            <a:ext cx="1965960" cy="598932"/>
          </a:xfrm>
          <a:prstGeom prst="rect">
            <a:avLst/>
          </a:prstGeom>
          <a:solidFill>
            <a:srgbClr val="FFFFFF"/>
          </a:solidFill>
          <a:ln w="12700">
            <a:solidFill>
              <a:srgbClr val="5B6B85"/>
            </a:solidFill>
            <a:prstDash val="solid"/>
          </a:ln>
        </p:spPr>
      </p:sp>
      <p:sp>
        <p:nvSpPr>
          <p:cNvPr id="31" name="Text 29"/>
          <p:cNvSpPr/>
          <p:nvPr/>
        </p:nvSpPr>
        <p:spPr>
          <a:xfrm>
            <a:off x="7982712" y="1581912"/>
            <a:ext cx="1819656" cy="525780"/>
          </a:xfrm>
          <a:prstGeom prst="rect">
            <a:avLst/>
          </a:prstGeom>
          <a:noFill/>
          <a:ln/>
        </p:spPr>
        <p:txBody>
          <a:bodyPr wrap="square" lIns="0" tIns="0" rIns="0" bIns="0" rtlCol="0" anchor="t"/>
          <a:lstStyle/>
          <a:p>
            <a:pPr indent="0" marL="0">
              <a:buNone/>
            </a:pPr>
            <a:r>
              <a:rPr lang="en-US" sz="760" dirty="0">
                <a:solidFill>
                  <a:srgbClr val="16233B"/>
                </a:solidFill>
                <a:latin typeface="Courier New" pitchFamily="34" charset="0"/>
                <a:ea typeface="Courier New" pitchFamily="34" charset="-122"/>
                <a:cs typeface="Courier New" pitchFamily="34" charset="-120"/>
              </a:rPr>
              <a:t>- memberId: Long</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trainerId: Long</a:t>
            </a:r>
            <a:endParaRPr lang="en-US" sz="760" dirty="0"/>
          </a:p>
          <a:p>
            <a:pPr indent="0" marL="0">
              <a:buNone/>
            </a:pPr>
            <a:r>
              <a:rPr lang="en-US" sz="760" dirty="0">
                <a:solidFill>
                  <a:srgbClr val="16233B"/>
                </a:solidFill>
                <a:latin typeface="Courier New" pitchFamily="34" charset="0"/>
                <a:ea typeface="Courier New" pitchFamily="34" charset="-122"/>
                <a:cs typeface="Courier New" pitchFamily="34" charset="-120"/>
              </a:rPr>
              <a:t>- scheduleId: Long</a:t>
            </a:r>
            <a:endParaRPr lang="en-US" sz="760" dirty="0"/>
          </a:p>
        </p:txBody>
      </p:sp>
      <p:sp>
        <p:nvSpPr>
          <p:cNvPr id="32" name="Shape 30"/>
          <p:cNvSpPr/>
          <p:nvPr/>
        </p:nvSpPr>
        <p:spPr>
          <a:xfrm>
            <a:off x="7909560" y="2144268"/>
            <a:ext cx="1965960" cy="260604"/>
          </a:xfrm>
          <a:prstGeom prst="rect">
            <a:avLst/>
          </a:prstGeom>
          <a:solidFill>
            <a:srgbClr val="FFFFFF"/>
          </a:solidFill>
          <a:ln w="12700">
            <a:solidFill>
              <a:srgbClr val="5B6B85"/>
            </a:solidFill>
            <a:prstDash val="solid"/>
          </a:ln>
        </p:spPr>
      </p:sp>
      <p:sp>
        <p:nvSpPr>
          <p:cNvPr id="33" name="Text 31"/>
          <p:cNvSpPr/>
          <p:nvPr/>
        </p:nvSpPr>
        <p:spPr>
          <a:xfrm>
            <a:off x="7982712" y="2180844"/>
            <a:ext cx="1819656" cy="187452"/>
          </a:xfrm>
          <a:prstGeom prst="rect">
            <a:avLst/>
          </a:prstGeom>
          <a:noFill/>
          <a:ln/>
        </p:spPr>
        <p:txBody>
          <a:bodyPr wrap="square" lIns="0" tIns="0" rIns="0" bIns="0" rtlCol="0" anchor="t"/>
          <a:lstStyle/>
          <a:p>
            <a:pPr indent="0" marL="0">
              <a:buNone/>
            </a:pPr>
            <a:r>
              <a:rPr lang="en-US" sz="760" dirty="0">
                <a:solidFill>
                  <a:srgbClr val="0B2545"/>
                </a:solidFill>
                <a:latin typeface="Courier New" pitchFamily="34" charset="0"/>
                <a:ea typeface="Courier New" pitchFamily="34" charset="-122"/>
                <a:cs typeface="Courier New" pitchFamily="34" charset="-120"/>
              </a:rPr>
              <a:t> </a:t>
            </a:r>
            <a:endParaRPr lang="en-US" sz="760" dirty="0"/>
          </a:p>
        </p:txBody>
      </p:sp>
      <p:sp>
        <p:nvSpPr>
          <p:cNvPr id="34" name="Shape 32"/>
          <p:cNvSpPr/>
          <p:nvPr/>
        </p:nvSpPr>
        <p:spPr>
          <a:xfrm>
            <a:off x="7909560" y="2697480"/>
            <a:ext cx="1965960" cy="310896"/>
          </a:xfrm>
          <a:prstGeom prst="rect">
            <a:avLst/>
          </a:prstGeom>
          <a:solidFill>
            <a:srgbClr val="0B2545"/>
          </a:solidFill>
          <a:ln w="12700">
            <a:solidFill>
              <a:srgbClr val="1F9D55"/>
            </a:solidFill>
            <a:prstDash val="solid"/>
          </a:ln>
        </p:spPr>
      </p:sp>
      <p:sp>
        <p:nvSpPr>
          <p:cNvPr id="35" name="Text 33"/>
          <p:cNvSpPr/>
          <p:nvPr/>
        </p:nvSpPr>
        <p:spPr>
          <a:xfrm>
            <a:off x="7909560" y="2715768"/>
            <a:ext cx="1965960" cy="292608"/>
          </a:xfrm>
          <a:prstGeom prst="rect">
            <a:avLst/>
          </a:prstGeom>
          <a:noFill/>
          <a:ln/>
        </p:spPr>
        <p:txBody>
          <a:bodyPr wrap="square" lIns="0" tIns="0" rIns="0" bIns="0" rtlCol="0" anchor="ctr"/>
          <a:lstStyle/>
          <a:p>
            <a:pPr algn="ctr" indent="0" marL="0">
              <a:buNone/>
            </a:pPr>
            <a:r>
              <a:rPr lang="en-US" sz="750" i="1" dirty="0">
                <a:solidFill>
                  <a:srgbClr val="CADCFC"/>
                </a:solidFill>
                <a:latin typeface="Calibri" pitchFamily="34" charset="0"/>
                <a:ea typeface="Calibri" pitchFamily="34" charset="-122"/>
                <a:cs typeface="Calibri" pitchFamily="34" charset="-120"/>
              </a:rPr>
              <a:t>«FeignClient»</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«interface»</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PlanServiceClient</a:t>
            </a:r>
            <a:endParaRPr lang="en-US" sz="750" dirty="0"/>
          </a:p>
        </p:txBody>
      </p:sp>
      <p:sp>
        <p:nvSpPr>
          <p:cNvPr id="36" name="Shape 34"/>
          <p:cNvSpPr/>
          <p:nvPr/>
        </p:nvSpPr>
        <p:spPr>
          <a:xfrm>
            <a:off x="7909560" y="3008376"/>
            <a:ext cx="1965960" cy="260604"/>
          </a:xfrm>
          <a:prstGeom prst="rect">
            <a:avLst/>
          </a:prstGeom>
          <a:solidFill>
            <a:srgbClr val="FFFFFF"/>
          </a:solidFill>
          <a:ln w="12700">
            <a:solidFill>
              <a:srgbClr val="1F9D55"/>
            </a:solidFill>
            <a:prstDash val="solid"/>
          </a:ln>
        </p:spPr>
      </p:sp>
      <p:sp>
        <p:nvSpPr>
          <p:cNvPr id="37" name="Text 35"/>
          <p:cNvSpPr/>
          <p:nvPr/>
        </p:nvSpPr>
        <p:spPr>
          <a:xfrm>
            <a:off x="7982712" y="3044952"/>
            <a:ext cx="1819656" cy="187452"/>
          </a:xfrm>
          <a:prstGeom prst="rect">
            <a:avLst/>
          </a:prstGeom>
          <a:noFill/>
          <a:ln/>
        </p:spPr>
        <p:txBody>
          <a:bodyPr wrap="square" lIns="0" tIns="0" rIns="0" bIns="0" rtlCol="0" anchor="t"/>
          <a:lstStyle/>
          <a:p>
            <a:pPr indent="0" marL="0">
              <a:buNone/>
            </a:pPr>
            <a:r>
              <a:rPr lang="en-US" sz="760" dirty="0">
                <a:solidFill>
                  <a:srgbClr val="16233B"/>
                </a:solidFill>
                <a:latin typeface="Courier New" pitchFamily="34" charset="0"/>
                <a:ea typeface="Courier New" pitchFamily="34" charset="-122"/>
                <a:cs typeface="Courier New" pitchFamily="34" charset="-120"/>
              </a:rPr>
              <a:t> </a:t>
            </a:r>
            <a:endParaRPr lang="en-US" sz="760" dirty="0"/>
          </a:p>
        </p:txBody>
      </p:sp>
      <p:sp>
        <p:nvSpPr>
          <p:cNvPr id="38" name="Shape 36"/>
          <p:cNvSpPr/>
          <p:nvPr/>
        </p:nvSpPr>
        <p:spPr>
          <a:xfrm>
            <a:off x="7909560" y="3268980"/>
            <a:ext cx="1965960" cy="429768"/>
          </a:xfrm>
          <a:prstGeom prst="rect">
            <a:avLst/>
          </a:prstGeom>
          <a:solidFill>
            <a:srgbClr val="FFFFFF"/>
          </a:solidFill>
          <a:ln w="12700">
            <a:solidFill>
              <a:srgbClr val="1F9D55"/>
            </a:solidFill>
            <a:prstDash val="solid"/>
          </a:ln>
        </p:spPr>
      </p:sp>
      <p:sp>
        <p:nvSpPr>
          <p:cNvPr id="39" name="Text 37"/>
          <p:cNvSpPr/>
          <p:nvPr/>
        </p:nvSpPr>
        <p:spPr>
          <a:xfrm>
            <a:off x="7982712" y="3305556"/>
            <a:ext cx="1819656" cy="356616"/>
          </a:xfrm>
          <a:prstGeom prst="rect">
            <a:avLst/>
          </a:prstGeom>
          <a:noFill/>
          <a:ln/>
        </p:spPr>
        <p:txBody>
          <a:bodyPr wrap="square" lIns="0" tIns="0" rIns="0" bIns="0" rtlCol="0" anchor="t"/>
          <a:lstStyle/>
          <a:p>
            <a:pPr indent="0" marL="0">
              <a:buNone/>
            </a:pPr>
            <a:r>
              <a:rPr lang="en-US" sz="760" dirty="0">
                <a:solidFill>
                  <a:srgbClr val="0B2545"/>
                </a:solidFill>
                <a:latin typeface="Courier New" pitchFamily="34" charset="0"/>
                <a:ea typeface="Courier New" pitchFamily="34" charset="-122"/>
                <a:cs typeface="Courier New" pitchFamily="34" charset="-120"/>
              </a:rPr>
              <a:t>+ checkFreeSession(id)</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restoreFreeSession(id)</a:t>
            </a:r>
            <a:endParaRPr lang="en-US" sz="760" dirty="0"/>
          </a:p>
        </p:txBody>
      </p:sp>
      <p:sp>
        <p:nvSpPr>
          <p:cNvPr id="40" name="Shape 38"/>
          <p:cNvSpPr/>
          <p:nvPr/>
        </p:nvSpPr>
        <p:spPr>
          <a:xfrm>
            <a:off x="7909560" y="4023360"/>
            <a:ext cx="1965960" cy="310896"/>
          </a:xfrm>
          <a:prstGeom prst="rect">
            <a:avLst/>
          </a:prstGeom>
          <a:solidFill>
            <a:srgbClr val="0B2545"/>
          </a:solidFill>
          <a:ln w="12700">
            <a:solidFill>
              <a:srgbClr val="1F9D55"/>
            </a:solidFill>
            <a:prstDash val="solid"/>
          </a:ln>
        </p:spPr>
      </p:sp>
      <p:sp>
        <p:nvSpPr>
          <p:cNvPr id="41" name="Text 39"/>
          <p:cNvSpPr/>
          <p:nvPr/>
        </p:nvSpPr>
        <p:spPr>
          <a:xfrm>
            <a:off x="7909560" y="4041648"/>
            <a:ext cx="1965960" cy="292608"/>
          </a:xfrm>
          <a:prstGeom prst="rect">
            <a:avLst/>
          </a:prstGeom>
          <a:noFill/>
          <a:ln/>
        </p:spPr>
        <p:txBody>
          <a:bodyPr wrap="square" lIns="0" tIns="0" rIns="0" bIns="0" rtlCol="0" anchor="ctr"/>
          <a:lstStyle/>
          <a:p>
            <a:pPr algn="ctr" indent="0" marL="0">
              <a:buNone/>
            </a:pPr>
            <a:r>
              <a:rPr lang="en-US" sz="750" i="1" dirty="0">
                <a:solidFill>
                  <a:srgbClr val="CADCFC"/>
                </a:solidFill>
                <a:latin typeface="Calibri" pitchFamily="34" charset="0"/>
                <a:ea typeface="Calibri" pitchFamily="34" charset="-122"/>
                <a:cs typeface="Calibri" pitchFamily="34" charset="-120"/>
              </a:rPr>
              <a:t>«FeignClient»</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«interface»</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TrainerServiceClient</a:t>
            </a:r>
            <a:endParaRPr lang="en-US" sz="750" dirty="0"/>
          </a:p>
        </p:txBody>
      </p:sp>
      <p:sp>
        <p:nvSpPr>
          <p:cNvPr id="42" name="Shape 40"/>
          <p:cNvSpPr/>
          <p:nvPr/>
        </p:nvSpPr>
        <p:spPr>
          <a:xfrm>
            <a:off x="7909560" y="4334256"/>
            <a:ext cx="1965960" cy="260604"/>
          </a:xfrm>
          <a:prstGeom prst="rect">
            <a:avLst/>
          </a:prstGeom>
          <a:solidFill>
            <a:srgbClr val="FFFFFF"/>
          </a:solidFill>
          <a:ln w="12700">
            <a:solidFill>
              <a:srgbClr val="1F9D55"/>
            </a:solidFill>
            <a:prstDash val="solid"/>
          </a:ln>
        </p:spPr>
      </p:sp>
      <p:sp>
        <p:nvSpPr>
          <p:cNvPr id="43" name="Text 41"/>
          <p:cNvSpPr/>
          <p:nvPr/>
        </p:nvSpPr>
        <p:spPr>
          <a:xfrm>
            <a:off x="7982712" y="4370832"/>
            <a:ext cx="1819656" cy="187452"/>
          </a:xfrm>
          <a:prstGeom prst="rect">
            <a:avLst/>
          </a:prstGeom>
          <a:noFill/>
          <a:ln/>
        </p:spPr>
        <p:txBody>
          <a:bodyPr wrap="square" lIns="0" tIns="0" rIns="0" bIns="0" rtlCol="0" anchor="t"/>
          <a:lstStyle/>
          <a:p>
            <a:pPr indent="0" marL="0">
              <a:buNone/>
            </a:pPr>
            <a:r>
              <a:rPr lang="en-US" sz="760" dirty="0">
                <a:solidFill>
                  <a:srgbClr val="16233B"/>
                </a:solidFill>
                <a:latin typeface="Courier New" pitchFamily="34" charset="0"/>
                <a:ea typeface="Courier New" pitchFamily="34" charset="-122"/>
                <a:cs typeface="Courier New" pitchFamily="34" charset="-120"/>
              </a:rPr>
              <a:t> </a:t>
            </a:r>
            <a:endParaRPr lang="en-US" sz="760" dirty="0"/>
          </a:p>
        </p:txBody>
      </p:sp>
      <p:sp>
        <p:nvSpPr>
          <p:cNvPr id="44" name="Shape 42"/>
          <p:cNvSpPr/>
          <p:nvPr/>
        </p:nvSpPr>
        <p:spPr>
          <a:xfrm>
            <a:off x="7909560" y="4594860"/>
            <a:ext cx="1965960" cy="260604"/>
          </a:xfrm>
          <a:prstGeom prst="rect">
            <a:avLst/>
          </a:prstGeom>
          <a:solidFill>
            <a:srgbClr val="FFFFFF"/>
          </a:solidFill>
          <a:ln w="12700">
            <a:solidFill>
              <a:srgbClr val="1F9D55"/>
            </a:solidFill>
            <a:prstDash val="solid"/>
          </a:ln>
        </p:spPr>
      </p:sp>
      <p:sp>
        <p:nvSpPr>
          <p:cNvPr id="45" name="Text 43"/>
          <p:cNvSpPr/>
          <p:nvPr/>
        </p:nvSpPr>
        <p:spPr>
          <a:xfrm>
            <a:off x="7982712" y="4631436"/>
            <a:ext cx="1819656" cy="187452"/>
          </a:xfrm>
          <a:prstGeom prst="rect">
            <a:avLst/>
          </a:prstGeom>
          <a:noFill/>
          <a:ln/>
        </p:spPr>
        <p:txBody>
          <a:bodyPr wrap="square" lIns="0" tIns="0" rIns="0" bIns="0" rtlCol="0" anchor="t"/>
          <a:lstStyle/>
          <a:p>
            <a:pPr indent="0" marL="0">
              <a:buNone/>
            </a:pPr>
            <a:r>
              <a:rPr lang="en-US" sz="760" dirty="0">
                <a:solidFill>
                  <a:srgbClr val="0B2545"/>
                </a:solidFill>
                <a:latin typeface="Courier New" pitchFamily="34" charset="0"/>
                <a:ea typeface="Courier New" pitchFamily="34" charset="-122"/>
                <a:cs typeface="Courier New" pitchFamily="34" charset="-120"/>
              </a:rPr>
              <a:t>+ getTrainerById(id)</a:t>
            </a:r>
            <a:endParaRPr lang="en-US" sz="760" dirty="0"/>
          </a:p>
        </p:txBody>
      </p:sp>
      <p:sp>
        <p:nvSpPr>
          <p:cNvPr id="46" name="Shape 44"/>
          <p:cNvSpPr/>
          <p:nvPr/>
        </p:nvSpPr>
        <p:spPr>
          <a:xfrm>
            <a:off x="4709160" y="5532120"/>
            <a:ext cx="2651760" cy="310896"/>
          </a:xfrm>
          <a:prstGeom prst="rect">
            <a:avLst/>
          </a:prstGeom>
          <a:solidFill>
            <a:srgbClr val="0B2545"/>
          </a:solidFill>
          <a:ln w="12700">
            <a:solidFill>
              <a:srgbClr val="C9781F"/>
            </a:solidFill>
            <a:prstDash val="solid"/>
          </a:ln>
        </p:spPr>
      </p:sp>
      <p:sp>
        <p:nvSpPr>
          <p:cNvPr id="47" name="Text 45"/>
          <p:cNvSpPr/>
          <p:nvPr/>
        </p:nvSpPr>
        <p:spPr>
          <a:xfrm>
            <a:off x="4709160" y="5550408"/>
            <a:ext cx="2651760" cy="292608"/>
          </a:xfrm>
          <a:prstGeom prst="rect">
            <a:avLst/>
          </a:prstGeom>
          <a:noFill/>
          <a:ln/>
        </p:spPr>
        <p:txBody>
          <a:bodyPr wrap="square" lIns="0" tIns="0" rIns="0" bIns="0" rtlCol="0" anchor="ctr"/>
          <a:lstStyle/>
          <a:p>
            <a:pPr algn="ctr" indent="0" marL="0">
              <a:buNone/>
            </a:pPr>
            <a:r>
              <a:rPr lang="en-US" sz="750" i="1" dirty="0">
                <a:solidFill>
                  <a:srgbClr val="CADCFC"/>
                </a:solidFill>
                <a:latin typeface="Calibri" pitchFamily="34" charset="0"/>
                <a:ea typeface="Calibri" pitchFamily="34" charset="-122"/>
                <a:cs typeface="Calibri" pitchFamily="34" charset="-120"/>
              </a:rPr>
              <a:t>«Component»</a:t>
            </a:r>
            <a:endParaRPr lang="en-US" sz="750" dirty="0"/>
          </a:p>
          <a:p>
            <a:pPr algn="ctr" indent="0" marL="0">
              <a:buNone/>
            </a:pPr>
            <a:r>
              <a:rPr lang="en-US" sz="1050" b="1" dirty="0">
                <a:solidFill>
                  <a:srgbClr val="FFFFFF"/>
                </a:solidFill>
                <a:latin typeface="Calibri" pitchFamily="34" charset="0"/>
                <a:ea typeface="Calibri" pitchFamily="34" charset="-122"/>
                <a:cs typeface="Calibri" pitchFamily="34" charset="-120"/>
              </a:rPr>
              <a:t>NotificationPublisher</a:t>
            </a:r>
            <a:endParaRPr lang="en-US" sz="750" dirty="0"/>
          </a:p>
        </p:txBody>
      </p:sp>
      <p:sp>
        <p:nvSpPr>
          <p:cNvPr id="48" name="Shape 46"/>
          <p:cNvSpPr/>
          <p:nvPr/>
        </p:nvSpPr>
        <p:spPr>
          <a:xfrm>
            <a:off x="4709160" y="5843016"/>
            <a:ext cx="2651760" cy="260604"/>
          </a:xfrm>
          <a:prstGeom prst="rect">
            <a:avLst/>
          </a:prstGeom>
          <a:solidFill>
            <a:srgbClr val="FFFFFF"/>
          </a:solidFill>
          <a:ln w="12700">
            <a:solidFill>
              <a:srgbClr val="C9781F"/>
            </a:solidFill>
            <a:prstDash val="solid"/>
          </a:ln>
        </p:spPr>
      </p:sp>
      <p:sp>
        <p:nvSpPr>
          <p:cNvPr id="49" name="Text 47"/>
          <p:cNvSpPr/>
          <p:nvPr/>
        </p:nvSpPr>
        <p:spPr>
          <a:xfrm>
            <a:off x="4782312" y="5879592"/>
            <a:ext cx="2505456" cy="187452"/>
          </a:xfrm>
          <a:prstGeom prst="rect">
            <a:avLst/>
          </a:prstGeom>
          <a:noFill/>
          <a:ln/>
        </p:spPr>
        <p:txBody>
          <a:bodyPr wrap="square" lIns="0" tIns="0" rIns="0" bIns="0" rtlCol="0" anchor="t"/>
          <a:lstStyle/>
          <a:p>
            <a:pPr indent="0" marL="0">
              <a:buNone/>
            </a:pPr>
            <a:r>
              <a:rPr lang="en-US" sz="760" dirty="0">
                <a:solidFill>
                  <a:srgbClr val="16233B"/>
                </a:solidFill>
                <a:latin typeface="Courier New" pitchFamily="34" charset="0"/>
                <a:ea typeface="Courier New" pitchFamily="34" charset="-122"/>
                <a:cs typeface="Courier New" pitchFamily="34" charset="-120"/>
              </a:rPr>
              <a:t> </a:t>
            </a:r>
            <a:endParaRPr lang="en-US" sz="760" dirty="0"/>
          </a:p>
        </p:txBody>
      </p:sp>
      <p:sp>
        <p:nvSpPr>
          <p:cNvPr id="50" name="Shape 48"/>
          <p:cNvSpPr/>
          <p:nvPr/>
        </p:nvSpPr>
        <p:spPr>
          <a:xfrm>
            <a:off x="4709160" y="6103620"/>
            <a:ext cx="2651760" cy="429768"/>
          </a:xfrm>
          <a:prstGeom prst="rect">
            <a:avLst/>
          </a:prstGeom>
          <a:solidFill>
            <a:srgbClr val="FFFFFF"/>
          </a:solidFill>
          <a:ln w="12700">
            <a:solidFill>
              <a:srgbClr val="C9781F"/>
            </a:solidFill>
            <a:prstDash val="solid"/>
          </a:ln>
        </p:spPr>
      </p:sp>
      <p:sp>
        <p:nvSpPr>
          <p:cNvPr id="51" name="Text 49"/>
          <p:cNvSpPr/>
          <p:nvPr/>
        </p:nvSpPr>
        <p:spPr>
          <a:xfrm>
            <a:off x="4782312" y="6140196"/>
            <a:ext cx="2505456" cy="356616"/>
          </a:xfrm>
          <a:prstGeom prst="rect">
            <a:avLst/>
          </a:prstGeom>
          <a:noFill/>
          <a:ln/>
        </p:spPr>
        <p:txBody>
          <a:bodyPr wrap="square" lIns="0" tIns="0" rIns="0" bIns="0" rtlCol="0" anchor="t"/>
          <a:lstStyle/>
          <a:p>
            <a:pPr indent="0" marL="0">
              <a:buNone/>
            </a:pPr>
            <a:r>
              <a:rPr lang="en-US" sz="760" dirty="0">
                <a:solidFill>
                  <a:srgbClr val="0B2545"/>
                </a:solidFill>
                <a:latin typeface="Courier New" pitchFamily="34" charset="0"/>
                <a:ea typeface="Courier New" pitchFamily="34" charset="-122"/>
                <a:cs typeface="Courier New" pitchFamily="34" charset="-120"/>
              </a:rPr>
              <a:t>+ publishBookingEvent(e)</a:t>
            </a:r>
            <a:endParaRPr lang="en-US" sz="760" dirty="0"/>
          </a:p>
          <a:p>
            <a:pPr indent="0" marL="0">
              <a:buNone/>
            </a:pPr>
            <a:r>
              <a:rPr lang="en-US" sz="760" dirty="0">
                <a:solidFill>
                  <a:srgbClr val="0B2545"/>
                </a:solidFill>
                <a:latin typeface="Courier New" pitchFamily="34" charset="0"/>
                <a:ea typeface="Courier New" pitchFamily="34" charset="-122"/>
                <a:cs typeface="Courier New" pitchFamily="34" charset="-120"/>
              </a:rPr>
              <a:t>+ publishPaymentEvent(e)</a:t>
            </a:r>
            <a:endParaRPr lang="en-US" sz="760" dirty="0"/>
          </a:p>
        </p:txBody>
      </p:sp>
      <p:sp>
        <p:nvSpPr>
          <p:cNvPr id="52" name="Shape 50"/>
          <p:cNvSpPr/>
          <p:nvPr/>
        </p:nvSpPr>
        <p:spPr>
          <a:xfrm flipV="1">
            <a:off x="6035040" y="2606040"/>
            <a:ext cx="9144" cy="137160"/>
          </a:xfrm>
          <a:prstGeom prst="line">
            <a:avLst/>
          </a:prstGeom>
          <a:noFill/>
          <a:ln w="13970">
            <a:solidFill>
              <a:srgbClr val="5B6B85"/>
            </a:solidFill>
            <a:prstDash val="solid"/>
            <a:tailEnd type="triangle"/>
          </a:ln>
        </p:spPr>
      </p:sp>
      <p:sp>
        <p:nvSpPr>
          <p:cNvPr id="53" name="Shape 51"/>
          <p:cNvSpPr/>
          <p:nvPr/>
        </p:nvSpPr>
        <p:spPr>
          <a:xfrm>
            <a:off x="7360920" y="1508760"/>
            <a:ext cx="548640" cy="9144"/>
          </a:xfrm>
          <a:prstGeom prst="line">
            <a:avLst/>
          </a:prstGeom>
          <a:noFill/>
          <a:ln w="13970">
            <a:solidFill>
              <a:srgbClr val="5B6B85"/>
            </a:solidFill>
            <a:prstDash val="dash"/>
            <a:tailEnd type="triangle"/>
          </a:ln>
        </p:spPr>
      </p:sp>
      <p:sp>
        <p:nvSpPr>
          <p:cNvPr id="54" name="Shape 52"/>
          <p:cNvSpPr/>
          <p:nvPr/>
        </p:nvSpPr>
        <p:spPr>
          <a:xfrm flipH="1">
            <a:off x="4069080" y="3063240"/>
            <a:ext cx="640080" cy="1737360"/>
          </a:xfrm>
          <a:prstGeom prst="line">
            <a:avLst/>
          </a:prstGeom>
          <a:noFill/>
          <a:ln w="13970">
            <a:solidFill>
              <a:srgbClr val="5B6B85"/>
            </a:solidFill>
            <a:prstDash val="solid"/>
            <a:tailEnd type="triangle"/>
          </a:ln>
        </p:spPr>
      </p:sp>
      <p:sp>
        <p:nvSpPr>
          <p:cNvPr id="55" name="Shape 53"/>
          <p:cNvSpPr/>
          <p:nvPr/>
        </p:nvSpPr>
        <p:spPr>
          <a:xfrm flipH="1">
            <a:off x="1691640" y="5344668"/>
            <a:ext cx="1211580" cy="278892"/>
          </a:xfrm>
          <a:prstGeom prst="line">
            <a:avLst/>
          </a:prstGeom>
          <a:noFill/>
          <a:ln w="13970">
            <a:solidFill>
              <a:srgbClr val="5B6B85"/>
            </a:solidFill>
            <a:prstDash val="solid"/>
            <a:tailEnd type="triangle"/>
          </a:ln>
        </p:spPr>
      </p:sp>
      <p:sp>
        <p:nvSpPr>
          <p:cNvPr id="56" name="Shape 54"/>
          <p:cNvSpPr/>
          <p:nvPr/>
        </p:nvSpPr>
        <p:spPr>
          <a:xfrm>
            <a:off x="7360920" y="2971800"/>
            <a:ext cx="548640" cy="91440"/>
          </a:xfrm>
          <a:prstGeom prst="line">
            <a:avLst/>
          </a:prstGeom>
          <a:noFill/>
          <a:ln w="13970">
            <a:solidFill>
              <a:srgbClr val="5B6B85"/>
            </a:solidFill>
            <a:prstDash val="dash"/>
            <a:tailEnd type="triangle"/>
          </a:ln>
        </p:spPr>
      </p:sp>
      <p:sp>
        <p:nvSpPr>
          <p:cNvPr id="57" name="Shape 55"/>
          <p:cNvSpPr/>
          <p:nvPr/>
        </p:nvSpPr>
        <p:spPr>
          <a:xfrm>
            <a:off x="7360920" y="3520440"/>
            <a:ext cx="548640" cy="868680"/>
          </a:xfrm>
          <a:prstGeom prst="line">
            <a:avLst/>
          </a:prstGeom>
          <a:noFill/>
          <a:ln w="13970">
            <a:solidFill>
              <a:srgbClr val="5B6B85"/>
            </a:solidFill>
            <a:prstDash val="dash"/>
            <a:tailEnd type="triangle"/>
          </a:ln>
        </p:spPr>
      </p:sp>
      <p:sp>
        <p:nvSpPr>
          <p:cNvPr id="58" name="Shape 56"/>
          <p:cNvSpPr/>
          <p:nvPr/>
        </p:nvSpPr>
        <p:spPr>
          <a:xfrm>
            <a:off x="6035040" y="4453128"/>
            <a:ext cx="9144" cy="1078992"/>
          </a:xfrm>
          <a:prstGeom prst="line">
            <a:avLst/>
          </a:prstGeom>
          <a:noFill/>
          <a:ln w="13970">
            <a:solidFill>
              <a:srgbClr val="5B6B85"/>
            </a:solidFill>
            <a:prstDash val="dash"/>
            <a:tailEnd type="triangle"/>
          </a:ln>
        </p:spPr>
      </p:sp>
      <p:sp>
        <p:nvSpPr>
          <p:cNvPr id="59" name="Text 57"/>
          <p:cNvSpPr/>
          <p:nvPr/>
        </p:nvSpPr>
        <p:spPr>
          <a:xfrm>
            <a:off x="502920" y="1280160"/>
            <a:ext cx="3657600" cy="457200"/>
          </a:xfrm>
          <a:prstGeom prst="rect">
            <a:avLst/>
          </a:prstGeom>
          <a:noFill/>
          <a:ln/>
        </p:spPr>
        <p:txBody>
          <a:bodyPr wrap="square" lIns="0" tIns="0" rIns="0" bIns="0" rtlCol="0" anchor="ctr"/>
          <a:lstStyle/>
          <a:p>
            <a:pPr indent="0" marL="0">
              <a:buNone/>
            </a:pPr>
            <a:r>
              <a:rPr lang="en-US" sz="900" b="1" dirty="0">
                <a:solidFill>
                  <a:srgbClr val="0B2545"/>
                </a:solidFill>
                <a:latin typeface="Calibri" pitchFamily="34" charset="0"/>
                <a:ea typeface="Calibri" pitchFamily="34" charset="-122"/>
                <a:cs typeface="Calibri" pitchFamily="34" charset="-120"/>
              </a:rPr>
              <a:t>———▷ </a:t>
            </a:r>
            <a:pPr indent="0" marL="0">
              <a:buNone/>
            </a:pPr>
            <a:r>
              <a:rPr lang="en-US" sz="900" dirty="0">
                <a:solidFill>
                  <a:srgbClr val="5B6B85"/>
                </a:solidFill>
                <a:latin typeface="Calibri" pitchFamily="34" charset="0"/>
                <a:ea typeface="Calibri" pitchFamily="34" charset="-122"/>
                <a:cs typeface="Calibri" pitchFamily="34" charset="-120"/>
              </a:rPr>
              <a:t>Association / Uses    </a:t>
            </a:r>
            <a:pPr indent="0" marL="0">
              <a:buNone/>
            </a:pPr>
            <a:r>
              <a:rPr lang="en-US" sz="900" b="1" dirty="0">
                <a:solidFill>
                  <a:srgbClr val="0B2545"/>
                </a:solidFill>
                <a:latin typeface="Calibri" pitchFamily="34" charset="0"/>
                <a:ea typeface="Calibri" pitchFamily="34" charset="-122"/>
                <a:cs typeface="Calibri" pitchFamily="34" charset="-120"/>
              </a:rPr>
              <a:t>- - -▷ </a:t>
            </a:r>
            <a:pPr indent="0" marL="0">
              <a:buNone/>
            </a:pPr>
            <a:r>
              <a:rPr lang="en-US" sz="900" dirty="0">
                <a:solidFill>
                  <a:srgbClr val="5B6B85"/>
                </a:solidFill>
                <a:latin typeface="Calibri" pitchFamily="34" charset="0"/>
                <a:ea typeface="Calibri" pitchFamily="34" charset="-122"/>
                <a:cs typeface="Calibri" pitchFamily="34" charset="-120"/>
              </a:rPr>
              <a:t>Dependency (injected)</a:t>
            </a:r>
            <a:endParaRPr lang="en-US" sz="900" dirty="0"/>
          </a:p>
        </p:txBody>
      </p:sp>
      <p:sp>
        <p:nvSpPr>
          <p:cNvPr id="60" name="Text 58"/>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61" name="Text 59"/>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Class Diagram</a:t>
            </a:r>
            <a:endParaRPr lang="en-US" sz="900" dirty="0"/>
          </a:p>
        </p:txBody>
      </p:sp>
      <p:sp>
        <p:nvSpPr>
          <p:cNvPr id="62" name="Text 60"/>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UML DIAGRAM — ER</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Entity Relationship Diagram</a:t>
            </a:r>
            <a:endParaRPr lang="en-US" sz="2800" dirty="0"/>
          </a:p>
        </p:txBody>
      </p:sp>
      <p:sp>
        <p:nvSpPr>
          <p:cNvPr id="4" name="Shape 2"/>
          <p:cNvSpPr/>
          <p:nvPr/>
        </p:nvSpPr>
        <p:spPr>
          <a:xfrm>
            <a:off x="502920" y="1234440"/>
            <a:ext cx="2331720" cy="292608"/>
          </a:xfrm>
          <a:prstGeom prst="rect">
            <a:avLst/>
          </a:prstGeom>
          <a:solidFill>
            <a:srgbClr val="0B2545"/>
          </a:solidFill>
          <a:ln w="12700">
            <a:solidFill>
              <a:srgbClr val="1B4F91"/>
            </a:solidFill>
            <a:prstDash val="solid"/>
          </a:ln>
        </p:spPr>
      </p:sp>
      <p:sp>
        <p:nvSpPr>
          <p:cNvPr id="5" name="Text 3"/>
          <p:cNvSpPr/>
          <p:nvPr/>
        </p:nvSpPr>
        <p:spPr>
          <a:xfrm>
            <a:off x="502920" y="1234440"/>
            <a:ext cx="2331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users  (auth_db)</a:t>
            </a:r>
            <a:endParaRPr lang="en-US" sz="1000" dirty="0"/>
          </a:p>
        </p:txBody>
      </p:sp>
      <p:sp>
        <p:nvSpPr>
          <p:cNvPr id="6" name="Shape 4"/>
          <p:cNvSpPr/>
          <p:nvPr/>
        </p:nvSpPr>
        <p:spPr>
          <a:xfrm>
            <a:off x="502920" y="1527048"/>
            <a:ext cx="2331720" cy="987552"/>
          </a:xfrm>
          <a:prstGeom prst="rect">
            <a:avLst/>
          </a:prstGeom>
          <a:solidFill>
            <a:srgbClr val="FFFFFF"/>
          </a:solidFill>
          <a:ln w="12700">
            <a:solidFill>
              <a:srgbClr val="1B4F91"/>
            </a:solidFill>
            <a:prstDash val="solid"/>
          </a:ln>
        </p:spPr>
      </p:sp>
      <p:sp>
        <p:nvSpPr>
          <p:cNvPr id="7" name="Text 5"/>
          <p:cNvSpPr/>
          <p:nvPr/>
        </p:nvSpPr>
        <p:spPr>
          <a:xfrm>
            <a:off x="594360" y="1563624"/>
            <a:ext cx="2148840" cy="914400"/>
          </a:xfrm>
          <a:prstGeom prst="rect">
            <a:avLst/>
          </a:prstGeom>
          <a:noFill/>
          <a:ln/>
        </p:spPr>
        <p:txBody>
          <a:bodyPr wrap="square" lIns="0" tIns="0" rIns="0" bIns="0" rtlCol="0" anchor="t"/>
          <a:lstStyle/>
          <a:p>
            <a:pPr indent="0" marL="0">
              <a:buNone/>
            </a:pPr>
            <a:r>
              <a:rPr lang="en-US" sz="800" b="1" dirty="0">
                <a:solidFill>
                  <a:srgbClr val="0B2545"/>
                </a:solidFill>
                <a:latin typeface="Courier New" pitchFamily="34" charset="0"/>
                <a:ea typeface="Courier New" pitchFamily="34" charset="-122"/>
                <a:cs typeface="Courier New" pitchFamily="34" charset="-120"/>
              </a:rPr>
              <a:t>PK  id: BIGINT</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name: VARCHAR</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email: VARCHAR (unique)</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password: VARCHAR</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role: VARCHAR</a:t>
            </a:r>
            <a:endParaRPr lang="en-US" sz="800" dirty="0"/>
          </a:p>
        </p:txBody>
      </p:sp>
      <p:sp>
        <p:nvSpPr>
          <p:cNvPr id="8" name="Shape 6"/>
          <p:cNvSpPr/>
          <p:nvPr/>
        </p:nvSpPr>
        <p:spPr>
          <a:xfrm>
            <a:off x="502920" y="2880360"/>
            <a:ext cx="2331720" cy="292608"/>
          </a:xfrm>
          <a:prstGeom prst="rect">
            <a:avLst/>
          </a:prstGeom>
          <a:solidFill>
            <a:srgbClr val="0B2545"/>
          </a:solidFill>
          <a:ln w="12700">
            <a:solidFill>
              <a:srgbClr val="1B4F91"/>
            </a:solidFill>
            <a:prstDash val="solid"/>
          </a:ln>
        </p:spPr>
      </p:sp>
      <p:sp>
        <p:nvSpPr>
          <p:cNvPr id="9" name="Text 7"/>
          <p:cNvSpPr/>
          <p:nvPr/>
        </p:nvSpPr>
        <p:spPr>
          <a:xfrm>
            <a:off x="502920" y="2880360"/>
            <a:ext cx="2331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members  (member_db)</a:t>
            </a:r>
            <a:endParaRPr lang="en-US" sz="1000" dirty="0"/>
          </a:p>
        </p:txBody>
      </p:sp>
      <p:sp>
        <p:nvSpPr>
          <p:cNvPr id="10" name="Shape 8"/>
          <p:cNvSpPr/>
          <p:nvPr/>
        </p:nvSpPr>
        <p:spPr>
          <a:xfrm>
            <a:off x="502920" y="3172968"/>
            <a:ext cx="2331720" cy="987552"/>
          </a:xfrm>
          <a:prstGeom prst="rect">
            <a:avLst/>
          </a:prstGeom>
          <a:solidFill>
            <a:srgbClr val="FFFFFF"/>
          </a:solidFill>
          <a:ln w="12700">
            <a:solidFill>
              <a:srgbClr val="1B4F91"/>
            </a:solidFill>
            <a:prstDash val="solid"/>
          </a:ln>
        </p:spPr>
      </p:sp>
      <p:sp>
        <p:nvSpPr>
          <p:cNvPr id="11" name="Text 9"/>
          <p:cNvSpPr/>
          <p:nvPr/>
        </p:nvSpPr>
        <p:spPr>
          <a:xfrm>
            <a:off x="594360" y="3209544"/>
            <a:ext cx="2148840" cy="914400"/>
          </a:xfrm>
          <a:prstGeom prst="rect">
            <a:avLst/>
          </a:prstGeom>
          <a:noFill/>
          <a:ln/>
        </p:spPr>
        <p:txBody>
          <a:bodyPr wrap="square" lIns="0" tIns="0" rIns="0" bIns="0" rtlCol="0" anchor="t"/>
          <a:lstStyle/>
          <a:p>
            <a:pPr indent="0" marL="0">
              <a:buNone/>
            </a:pPr>
            <a:r>
              <a:rPr lang="en-US" sz="800" b="1" dirty="0">
                <a:solidFill>
                  <a:srgbClr val="0B2545"/>
                </a:solidFill>
                <a:latin typeface="Courier New" pitchFamily="34" charset="0"/>
                <a:ea typeface="Courier New" pitchFamily="34" charset="-122"/>
                <a:cs typeface="Courier New" pitchFamily="34" charset="-120"/>
              </a:rPr>
              <a:t>PK  id: BIGINT</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name: VARCHAR</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email: VARCHAR (unique)</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phone / address</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status: VARCHAR</a:t>
            </a:r>
            <a:endParaRPr lang="en-US" sz="800" dirty="0"/>
          </a:p>
        </p:txBody>
      </p:sp>
      <p:sp>
        <p:nvSpPr>
          <p:cNvPr id="12" name="Shape 10"/>
          <p:cNvSpPr/>
          <p:nvPr/>
        </p:nvSpPr>
        <p:spPr>
          <a:xfrm>
            <a:off x="4892040" y="1234440"/>
            <a:ext cx="2331720" cy="292608"/>
          </a:xfrm>
          <a:prstGeom prst="rect">
            <a:avLst/>
          </a:prstGeom>
          <a:solidFill>
            <a:srgbClr val="0B2545"/>
          </a:solidFill>
          <a:ln w="12700">
            <a:solidFill>
              <a:srgbClr val="1B4F91"/>
            </a:solidFill>
            <a:prstDash val="solid"/>
          </a:ln>
        </p:spPr>
      </p:sp>
      <p:sp>
        <p:nvSpPr>
          <p:cNvPr id="13" name="Text 11"/>
          <p:cNvSpPr/>
          <p:nvPr/>
        </p:nvSpPr>
        <p:spPr>
          <a:xfrm>
            <a:off x="4892040" y="1234440"/>
            <a:ext cx="2331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trainers  (trainer_db)</a:t>
            </a:r>
            <a:endParaRPr lang="en-US" sz="1000" dirty="0"/>
          </a:p>
        </p:txBody>
      </p:sp>
      <p:sp>
        <p:nvSpPr>
          <p:cNvPr id="14" name="Shape 12"/>
          <p:cNvSpPr/>
          <p:nvPr/>
        </p:nvSpPr>
        <p:spPr>
          <a:xfrm>
            <a:off x="4892040" y="1527048"/>
            <a:ext cx="2331720" cy="987552"/>
          </a:xfrm>
          <a:prstGeom prst="rect">
            <a:avLst/>
          </a:prstGeom>
          <a:solidFill>
            <a:srgbClr val="FFFFFF"/>
          </a:solidFill>
          <a:ln w="12700">
            <a:solidFill>
              <a:srgbClr val="1B4F91"/>
            </a:solidFill>
            <a:prstDash val="solid"/>
          </a:ln>
        </p:spPr>
      </p:sp>
      <p:sp>
        <p:nvSpPr>
          <p:cNvPr id="15" name="Text 13"/>
          <p:cNvSpPr/>
          <p:nvPr/>
        </p:nvSpPr>
        <p:spPr>
          <a:xfrm>
            <a:off x="4983480" y="1563624"/>
            <a:ext cx="2148840" cy="914400"/>
          </a:xfrm>
          <a:prstGeom prst="rect">
            <a:avLst/>
          </a:prstGeom>
          <a:noFill/>
          <a:ln/>
        </p:spPr>
        <p:txBody>
          <a:bodyPr wrap="square" lIns="0" tIns="0" rIns="0" bIns="0" rtlCol="0" anchor="t"/>
          <a:lstStyle/>
          <a:p>
            <a:pPr indent="0" marL="0">
              <a:buNone/>
            </a:pPr>
            <a:r>
              <a:rPr lang="en-US" sz="800" b="1" dirty="0">
                <a:solidFill>
                  <a:srgbClr val="0B2545"/>
                </a:solidFill>
                <a:latin typeface="Courier New" pitchFamily="34" charset="0"/>
                <a:ea typeface="Courier New" pitchFamily="34" charset="-122"/>
                <a:cs typeface="Courier New" pitchFamily="34" charset="-120"/>
              </a:rPr>
              <a:t>PK  id: BIGINT</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name / email</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specialization</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session_fee: DECIMAL</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status: VARCHAR</a:t>
            </a:r>
            <a:endParaRPr lang="en-US" sz="800" dirty="0"/>
          </a:p>
        </p:txBody>
      </p:sp>
      <p:sp>
        <p:nvSpPr>
          <p:cNvPr id="16" name="Shape 14"/>
          <p:cNvSpPr/>
          <p:nvPr/>
        </p:nvSpPr>
        <p:spPr>
          <a:xfrm>
            <a:off x="4892040" y="2880360"/>
            <a:ext cx="2331720" cy="292608"/>
          </a:xfrm>
          <a:prstGeom prst="rect">
            <a:avLst/>
          </a:prstGeom>
          <a:solidFill>
            <a:srgbClr val="0B2545"/>
          </a:solidFill>
          <a:ln w="12700">
            <a:solidFill>
              <a:srgbClr val="1B4F91"/>
            </a:solidFill>
            <a:prstDash val="solid"/>
          </a:ln>
        </p:spPr>
      </p:sp>
      <p:sp>
        <p:nvSpPr>
          <p:cNvPr id="17" name="Text 15"/>
          <p:cNvSpPr/>
          <p:nvPr/>
        </p:nvSpPr>
        <p:spPr>
          <a:xfrm>
            <a:off x="4892040" y="2880360"/>
            <a:ext cx="2331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trainer_schedules</a:t>
            </a:r>
            <a:endParaRPr lang="en-US" sz="1000" dirty="0"/>
          </a:p>
        </p:txBody>
      </p:sp>
      <p:sp>
        <p:nvSpPr>
          <p:cNvPr id="18" name="Shape 16"/>
          <p:cNvSpPr/>
          <p:nvPr/>
        </p:nvSpPr>
        <p:spPr>
          <a:xfrm>
            <a:off x="4892040" y="3172968"/>
            <a:ext cx="2331720" cy="987552"/>
          </a:xfrm>
          <a:prstGeom prst="rect">
            <a:avLst/>
          </a:prstGeom>
          <a:solidFill>
            <a:srgbClr val="FFFFFF"/>
          </a:solidFill>
          <a:ln w="12700">
            <a:solidFill>
              <a:srgbClr val="1B4F91"/>
            </a:solidFill>
            <a:prstDash val="solid"/>
          </a:ln>
        </p:spPr>
      </p:sp>
      <p:sp>
        <p:nvSpPr>
          <p:cNvPr id="19" name="Text 17"/>
          <p:cNvSpPr/>
          <p:nvPr/>
        </p:nvSpPr>
        <p:spPr>
          <a:xfrm>
            <a:off x="4983480" y="3209544"/>
            <a:ext cx="2148840" cy="914400"/>
          </a:xfrm>
          <a:prstGeom prst="rect">
            <a:avLst/>
          </a:prstGeom>
          <a:noFill/>
          <a:ln/>
        </p:spPr>
        <p:txBody>
          <a:bodyPr wrap="square" lIns="0" tIns="0" rIns="0" bIns="0" rtlCol="0" anchor="t"/>
          <a:lstStyle/>
          <a:p>
            <a:pPr indent="0" marL="0">
              <a:buNone/>
            </a:pPr>
            <a:r>
              <a:rPr lang="en-US" sz="800" b="1" dirty="0">
                <a:solidFill>
                  <a:srgbClr val="0B2545"/>
                </a:solidFill>
                <a:latin typeface="Courier New" pitchFamily="34" charset="0"/>
                <a:ea typeface="Courier New" pitchFamily="34" charset="-122"/>
                <a:cs typeface="Courier New" pitchFamily="34" charset="-120"/>
              </a:rPr>
              <a:t>PK  id: BIGINT</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trainer_id → trainers</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day_of_week</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start_time / end_time</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available: BOOLEAN</a:t>
            </a:r>
            <a:endParaRPr lang="en-US" sz="800" dirty="0"/>
          </a:p>
        </p:txBody>
      </p:sp>
      <p:sp>
        <p:nvSpPr>
          <p:cNvPr id="20" name="Shape 18"/>
          <p:cNvSpPr/>
          <p:nvPr/>
        </p:nvSpPr>
        <p:spPr>
          <a:xfrm>
            <a:off x="9281160" y="1234440"/>
            <a:ext cx="2377440" cy="292608"/>
          </a:xfrm>
          <a:prstGeom prst="rect">
            <a:avLst/>
          </a:prstGeom>
          <a:solidFill>
            <a:srgbClr val="0B2545"/>
          </a:solidFill>
          <a:ln w="12700">
            <a:solidFill>
              <a:srgbClr val="1B4F91"/>
            </a:solidFill>
            <a:prstDash val="solid"/>
          </a:ln>
        </p:spPr>
      </p:sp>
      <p:sp>
        <p:nvSpPr>
          <p:cNvPr id="21" name="Text 19"/>
          <p:cNvSpPr/>
          <p:nvPr/>
        </p:nvSpPr>
        <p:spPr>
          <a:xfrm>
            <a:off x="9281160" y="1234440"/>
            <a:ext cx="23774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membership_plans  (plan_db)</a:t>
            </a:r>
            <a:endParaRPr lang="en-US" sz="1000" dirty="0"/>
          </a:p>
        </p:txBody>
      </p:sp>
      <p:sp>
        <p:nvSpPr>
          <p:cNvPr id="22" name="Shape 20"/>
          <p:cNvSpPr/>
          <p:nvPr/>
        </p:nvSpPr>
        <p:spPr>
          <a:xfrm>
            <a:off x="9281160" y="1527048"/>
            <a:ext cx="2377440" cy="804672"/>
          </a:xfrm>
          <a:prstGeom prst="rect">
            <a:avLst/>
          </a:prstGeom>
          <a:solidFill>
            <a:srgbClr val="FFFFFF"/>
          </a:solidFill>
          <a:ln w="12700">
            <a:solidFill>
              <a:srgbClr val="1B4F91"/>
            </a:solidFill>
            <a:prstDash val="solid"/>
          </a:ln>
        </p:spPr>
      </p:sp>
      <p:sp>
        <p:nvSpPr>
          <p:cNvPr id="23" name="Text 21"/>
          <p:cNvSpPr/>
          <p:nvPr/>
        </p:nvSpPr>
        <p:spPr>
          <a:xfrm>
            <a:off x="9372600" y="1563624"/>
            <a:ext cx="2194560" cy="731520"/>
          </a:xfrm>
          <a:prstGeom prst="rect">
            <a:avLst/>
          </a:prstGeom>
          <a:noFill/>
          <a:ln/>
        </p:spPr>
        <p:txBody>
          <a:bodyPr wrap="square" lIns="0" tIns="0" rIns="0" bIns="0" rtlCol="0" anchor="t"/>
          <a:lstStyle/>
          <a:p>
            <a:pPr indent="0" marL="0">
              <a:buNone/>
            </a:pPr>
            <a:r>
              <a:rPr lang="en-US" sz="800" b="1" dirty="0">
                <a:solidFill>
                  <a:srgbClr val="0B2545"/>
                </a:solidFill>
                <a:latin typeface="Courier New" pitchFamily="34" charset="0"/>
                <a:ea typeface="Courier New" pitchFamily="34" charset="-122"/>
                <a:cs typeface="Courier New" pitchFamily="34" charset="-120"/>
              </a:rPr>
              <a:t>PK  id: BIGINT</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plan_name / price</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duration_type</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sessions_included: INT</a:t>
            </a:r>
            <a:endParaRPr lang="en-US" sz="800" dirty="0"/>
          </a:p>
        </p:txBody>
      </p:sp>
      <p:sp>
        <p:nvSpPr>
          <p:cNvPr id="24" name="Shape 22"/>
          <p:cNvSpPr/>
          <p:nvPr/>
        </p:nvSpPr>
        <p:spPr>
          <a:xfrm>
            <a:off x="9281160" y="2788920"/>
            <a:ext cx="2377440" cy="292608"/>
          </a:xfrm>
          <a:prstGeom prst="rect">
            <a:avLst/>
          </a:prstGeom>
          <a:solidFill>
            <a:srgbClr val="0B2545"/>
          </a:solidFill>
          <a:ln w="12700">
            <a:solidFill>
              <a:srgbClr val="1B4F91"/>
            </a:solidFill>
            <a:prstDash val="solid"/>
          </a:ln>
        </p:spPr>
      </p:sp>
      <p:sp>
        <p:nvSpPr>
          <p:cNvPr id="25" name="Text 23"/>
          <p:cNvSpPr/>
          <p:nvPr/>
        </p:nvSpPr>
        <p:spPr>
          <a:xfrm>
            <a:off x="9281160" y="2788920"/>
            <a:ext cx="23774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member_subscriptions</a:t>
            </a:r>
            <a:endParaRPr lang="en-US" sz="1000" dirty="0"/>
          </a:p>
        </p:txBody>
      </p:sp>
      <p:sp>
        <p:nvSpPr>
          <p:cNvPr id="26" name="Shape 24"/>
          <p:cNvSpPr/>
          <p:nvPr/>
        </p:nvSpPr>
        <p:spPr>
          <a:xfrm>
            <a:off x="9281160" y="3081528"/>
            <a:ext cx="2377440" cy="987552"/>
          </a:xfrm>
          <a:prstGeom prst="rect">
            <a:avLst/>
          </a:prstGeom>
          <a:solidFill>
            <a:srgbClr val="FFFFFF"/>
          </a:solidFill>
          <a:ln w="12700">
            <a:solidFill>
              <a:srgbClr val="1B4F91"/>
            </a:solidFill>
            <a:prstDash val="solid"/>
          </a:ln>
        </p:spPr>
      </p:sp>
      <p:sp>
        <p:nvSpPr>
          <p:cNvPr id="27" name="Text 25"/>
          <p:cNvSpPr/>
          <p:nvPr/>
        </p:nvSpPr>
        <p:spPr>
          <a:xfrm>
            <a:off x="9372600" y="3118104"/>
            <a:ext cx="2194560" cy="914400"/>
          </a:xfrm>
          <a:prstGeom prst="rect">
            <a:avLst/>
          </a:prstGeom>
          <a:noFill/>
          <a:ln/>
        </p:spPr>
        <p:txBody>
          <a:bodyPr wrap="square" lIns="0" tIns="0" rIns="0" bIns="0" rtlCol="0" anchor="t"/>
          <a:lstStyle/>
          <a:p>
            <a:pPr indent="0" marL="0">
              <a:buNone/>
            </a:pPr>
            <a:r>
              <a:rPr lang="en-US" sz="800" b="1" dirty="0">
                <a:solidFill>
                  <a:srgbClr val="0B2545"/>
                </a:solidFill>
                <a:latin typeface="Courier New" pitchFamily="34" charset="0"/>
                <a:ea typeface="Courier New" pitchFamily="34" charset="-122"/>
                <a:cs typeface="Courier New" pitchFamily="34" charset="-120"/>
              </a:rPr>
              <a:t>PK  id: BIGINT</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member_id → members</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plan_id → membership_plans</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start / end date</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sessions_used: INT</a:t>
            </a:r>
            <a:endParaRPr lang="en-US" sz="800" dirty="0"/>
          </a:p>
        </p:txBody>
      </p:sp>
      <p:sp>
        <p:nvSpPr>
          <p:cNvPr id="28" name="Shape 26"/>
          <p:cNvSpPr/>
          <p:nvPr/>
        </p:nvSpPr>
        <p:spPr>
          <a:xfrm>
            <a:off x="2560320" y="4709160"/>
            <a:ext cx="2743200" cy="292608"/>
          </a:xfrm>
          <a:prstGeom prst="rect">
            <a:avLst/>
          </a:prstGeom>
          <a:solidFill>
            <a:srgbClr val="0B2545"/>
          </a:solidFill>
          <a:ln w="12700">
            <a:solidFill>
              <a:srgbClr val="1B4F91"/>
            </a:solidFill>
            <a:prstDash val="solid"/>
          </a:ln>
        </p:spPr>
      </p:sp>
      <p:sp>
        <p:nvSpPr>
          <p:cNvPr id="29" name="Text 27"/>
          <p:cNvSpPr/>
          <p:nvPr/>
        </p:nvSpPr>
        <p:spPr>
          <a:xfrm>
            <a:off x="2560320" y="4709160"/>
            <a:ext cx="2743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bookings  (booking_db)</a:t>
            </a:r>
            <a:endParaRPr lang="en-US" sz="1000" dirty="0"/>
          </a:p>
        </p:txBody>
      </p:sp>
      <p:sp>
        <p:nvSpPr>
          <p:cNvPr id="30" name="Shape 28"/>
          <p:cNvSpPr/>
          <p:nvPr/>
        </p:nvSpPr>
        <p:spPr>
          <a:xfrm>
            <a:off x="2560320" y="5001768"/>
            <a:ext cx="2743200" cy="987552"/>
          </a:xfrm>
          <a:prstGeom prst="rect">
            <a:avLst/>
          </a:prstGeom>
          <a:solidFill>
            <a:srgbClr val="FFFFFF"/>
          </a:solidFill>
          <a:ln w="12700">
            <a:solidFill>
              <a:srgbClr val="1B4F91"/>
            </a:solidFill>
            <a:prstDash val="solid"/>
          </a:ln>
        </p:spPr>
      </p:sp>
      <p:sp>
        <p:nvSpPr>
          <p:cNvPr id="31" name="Text 29"/>
          <p:cNvSpPr/>
          <p:nvPr/>
        </p:nvSpPr>
        <p:spPr>
          <a:xfrm>
            <a:off x="2651760" y="5038344"/>
            <a:ext cx="2560320" cy="914400"/>
          </a:xfrm>
          <a:prstGeom prst="rect">
            <a:avLst/>
          </a:prstGeom>
          <a:noFill/>
          <a:ln/>
        </p:spPr>
        <p:txBody>
          <a:bodyPr wrap="square" lIns="0" tIns="0" rIns="0" bIns="0" rtlCol="0" anchor="t"/>
          <a:lstStyle/>
          <a:p>
            <a:pPr indent="0" marL="0">
              <a:buNone/>
            </a:pPr>
            <a:r>
              <a:rPr lang="en-US" sz="800" b="1" dirty="0">
                <a:solidFill>
                  <a:srgbClr val="0B2545"/>
                </a:solidFill>
                <a:latin typeface="Courier New" pitchFamily="34" charset="0"/>
                <a:ea typeface="Courier New" pitchFamily="34" charset="-122"/>
                <a:cs typeface="Courier New" pitchFamily="34" charset="-120"/>
              </a:rPr>
              <a:t>PK  id: BIGINT</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member_id → members</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trainer_id → trainers</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schedule_id → schedules</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session_type / status</a:t>
            </a:r>
            <a:endParaRPr lang="en-US" sz="800" dirty="0"/>
          </a:p>
        </p:txBody>
      </p:sp>
      <p:sp>
        <p:nvSpPr>
          <p:cNvPr id="32" name="Shape 30"/>
          <p:cNvSpPr/>
          <p:nvPr/>
        </p:nvSpPr>
        <p:spPr>
          <a:xfrm>
            <a:off x="6858000" y="4709160"/>
            <a:ext cx="2743200" cy="292608"/>
          </a:xfrm>
          <a:prstGeom prst="rect">
            <a:avLst/>
          </a:prstGeom>
          <a:solidFill>
            <a:srgbClr val="0B2545"/>
          </a:solidFill>
          <a:ln w="12700">
            <a:solidFill>
              <a:srgbClr val="1B4F91"/>
            </a:solidFill>
            <a:prstDash val="solid"/>
          </a:ln>
        </p:spPr>
      </p:sp>
      <p:sp>
        <p:nvSpPr>
          <p:cNvPr id="33" name="Text 31"/>
          <p:cNvSpPr/>
          <p:nvPr/>
        </p:nvSpPr>
        <p:spPr>
          <a:xfrm>
            <a:off x="6858000" y="4709160"/>
            <a:ext cx="2743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payments  (payment_db)</a:t>
            </a:r>
            <a:endParaRPr lang="en-US" sz="1000" dirty="0"/>
          </a:p>
        </p:txBody>
      </p:sp>
      <p:sp>
        <p:nvSpPr>
          <p:cNvPr id="34" name="Shape 32"/>
          <p:cNvSpPr/>
          <p:nvPr/>
        </p:nvSpPr>
        <p:spPr>
          <a:xfrm>
            <a:off x="6858000" y="5001768"/>
            <a:ext cx="2743200" cy="987552"/>
          </a:xfrm>
          <a:prstGeom prst="rect">
            <a:avLst/>
          </a:prstGeom>
          <a:solidFill>
            <a:srgbClr val="FFFFFF"/>
          </a:solidFill>
          <a:ln w="12700">
            <a:solidFill>
              <a:srgbClr val="1B4F91"/>
            </a:solidFill>
            <a:prstDash val="solid"/>
          </a:ln>
        </p:spPr>
      </p:sp>
      <p:sp>
        <p:nvSpPr>
          <p:cNvPr id="35" name="Text 33"/>
          <p:cNvSpPr/>
          <p:nvPr/>
        </p:nvSpPr>
        <p:spPr>
          <a:xfrm>
            <a:off x="6949440" y="5038344"/>
            <a:ext cx="2560320" cy="914400"/>
          </a:xfrm>
          <a:prstGeom prst="rect">
            <a:avLst/>
          </a:prstGeom>
          <a:noFill/>
          <a:ln/>
        </p:spPr>
        <p:txBody>
          <a:bodyPr wrap="square" lIns="0" tIns="0" rIns="0" bIns="0" rtlCol="0" anchor="t"/>
          <a:lstStyle/>
          <a:p>
            <a:pPr indent="0" marL="0">
              <a:buNone/>
            </a:pPr>
            <a:r>
              <a:rPr lang="en-US" sz="800" b="1" dirty="0">
                <a:solidFill>
                  <a:srgbClr val="0B2545"/>
                </a:solidFill>
                <a:latin typeface="Courier New" pitchFamily="34" charset="0"/>
                <a:ea typeface="Courier New" pitchFamily="34" charset="-122"/>
                <a:cs typeface="Courier New" pitchFamily="34" charset="-120"/>
              </a:rPr>
              <a:t>PK  id: BIGINT</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member_id → members</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booking_id → bookings (null)</a:t>
            </a:r>
            <a:endParaRPr lang="en-US" sz="800" dirty="0"/>
          </a:p>
          <a:p>
            <a:pPr indent="0" marL="0">
              <a:buNone/>
            </a:pPr>
            <a:r>
              <a:rPr lang="en-US" sz="800" b="1" dirty="0">
                <a:solidFill>
                  <a:srgbClr val="0086B3"/>
                </a:solidFill>
                <a:latin typeface="Courier New" pitchFamily="34" charset="0"/>
                <a:ea typeface="Courier New" pitchFamily="34" charset="-122"/>
                <a:cs typeface="Courier New" pitchFamily="34" charset="-120"/>
              </a:rPr>
              <a:t>FK  subscription_id (null)</a:t>
            </a:r>
            <a:endParaRPr lang="en-US" sz="800" dirty="0"/>
          </a:p>
          <a:p>
            <a:pPr indent="0" marL="0">
              <a:buNone/>
            </a:pPr>
            <a:r>
              <a:rPr lang="en-US" sz="800" dirty="0">
                <a:solidFill>
                  <a:srgbClr val="16233B"/>
                </a:solidFill>
                <a:latin typeface="Courier New" pitchFamily="34" charset="0"/>
                <a:ea typeface="Courier New" pitchFamily="34" charset="-122"/>
                <a:cs typeface="Courier New" pitchFamily="34" charset="-120"/>
              </a:rPr>
              <a:t>  amount / status</a:t>
            </a:r>
            <a:endParaRPr lang="en-US" sz="800" dirty="0"/>
          </a:p>
        </p:txBody>
      </p:sp>
      <p:sp>
        <p:nvSpPr>
          <p:cNvPr id="36" name="Shape 34"/>
          <p:cNvSpPr/>
          <p:nvPr/>
        </p:nvSpPr>
        <p:spPr>
          <a:xfrm>
            <a:off x="2834640" y="1664208"/>
            <a:ext cx="9144" cy="1645920"/>
          </a:xfrm>
          <a:prstGeom prst="line">
            <a:avLst/>
          </a:prstGeom>
          <a:noFill/>
          <a:ln w="12700">
            <a:solidFill>
              <a:srgbClr val="6C8FC7"/>
            </a:solidFill>
            <a:prstDash val="solid"/>
          </a:ln>
        </p:spPr>
      </p:sp>
      <p:sp>
        <p:nvSpPr>
          <p:cNvPr id="37" name="Text 35"/>
          <p:cNvSpPr/>
          <p:nvPr/>
        </p:nvSpPr>
        <p:spPr>
          <a:xfrm>
            <a:off x="2697480" y="1517904"/>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38" name="Text 36"/>
          <p:cNvSpPr/>
          <p:nvPr/>
        </p:nvSpPr>
        <p:spPr>
          <a:xfrm>
            <a:off x="2697480" y="3163824"/>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39" name="Shape 37"/>
          <p:cNvSpPr/>
          <p:nvPr/>
        </p:nvSpPr>
        <p:spPr>
          <a:xfrm>
            <a:off x="1600200" y="2514600"/>
            <a:ext cx="0" cy="365760"/>
          </a:xfrm>
          <a:prstGeom prst="line">
            <a:avLst/>
          </a:prstGeom>
          <a:noFill/>
          <a:ln w="12700">
            <a:solidFill>
              <a:srgbClr val="6C8FC7"/>
            </a:solidFill>
            <a:prstDash val="solid"/>
          </a:ln>
        </p:spPr>
      </p:sp>
      <p:sp>
        <p:nvSpPr>
          <p:cNvPr id="40" name="Text 38"/>
          <p:cNvSpPr/>
          <p:nvPr/>
        </p:nvSpPr>
        <p:spPr>
          <a:xfrm>
            <a:off x="1463040" y="2532888"/>
            <a:ext cx="274320" cy="164592"/>
          </a:xfrm>
          <a:prstGeom prst="rect">
            <a:avLst/>
          </a:prstGeom>
          <a:noFill/>
          <a:ln/>
        </p:spPr>
        <p:txBody>
          <a:bodyPr wrap="square" lIns="0" tIns="0" rIns="0" bIns="0" rtlCol="0" anchor="ctr"/>
          <a:lstStyle/>
          <a:p>
            <a:pP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41" name="Text 39"/>
          <p:cNvSpPr/>
          <p:nvPr/>
        </p:nvSpPr>
        <p:spPr>
          <a:xfrm>
            <a:off x="1463040" y="2697480"/>
            <a:ext cx="274320" cy="164592"/>
          </a:xfrm>
          <a:prstGeom prst="rect">
            <a:avLst/>
          </a:prstGeom>
          <a:noFill/>
          <a:ln/>
        </p:spPr>
        <p:txBody>
          <a:bodyPr wrap="square" lIns="0" tIns="0" rIns="0" bIns="0" rtlCol="0" anchor="ctr"/>
          <a:lstStyle/>
          <a:p>
            <a:pP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42" name="Shape 40"/>
          <p:cNvSpPr/>
          <p:nvPr/>
        </p:nvSpPr>
        <p:spPr>
          <a:xfrm>
            <a:off x="5989320" y="2514600"/>
            <a:ext cx="0" cy="365760"/>
          </a:xfrm>
          <a:prstGeom prst="line">
            <a:avLst/>
          </a:prstGeom>
          <a:noFill/>
          <a:ln w="12700">
            <a:solidFill>
              <a:srgbClr val="6C8FC7"/>
            </a:solidFill>
            <a:prstDash val="solid"/>
          </a:ln>
        </p:spPr>
      </p:sp>
      <p:sp>
        <p:nvSpPr>
          <p:cNvPr id="43" name="Text 41"/>
          <p:cNvSpPr/>
          <p:nvPr/>
        </p:nvSpPr>
        <p:spPr>
          <a:xfrm>
            <a:off x="5852160" y="2532888"/>
            <a:ext cx="274320" cy="164592"/>
          </a:xfrm>
          <a:prstGeom prst="rect">
            <a:avLst/>
          </a:prstGeom>
          <a:noFill/>
          <a:ln/>
        </p:spPr>
        <p:txBody>
          <a:bodyPr wrap="square" lIns="0" tIns="0" rIns="0" bIns="0" rtlCol="0" anchor="ctr"/>
          <a:lstStyle/>
          <a:p>
            <a:pP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44" name="Text 42"/>
          <p:cNvSpPr/>
          <p:nvPr/>
        </p:nvSpPr>
        <p:spPr>
          <a:xfrm>
            <a:off x="5852160" y="2697480"/>
            <a:ext cx="274320" cy="164592"/>
          </a:xfrm>
          <a:prstGeom prst="rect">
            <a:avLst/>
          </a:prstGeom>
          <a:noFill/>
          <a:ln/>
        </p:spPr>
        <p:txBody>
          <a:bodyPr wrap="square" lIns="0" tIns="0" rIns="0" bIns="0" rtlCol="0" anchor="ctr"/>
          <a:lstStyle/>
          <a:p>
            <a:pPr indent="0" marL="0">
              <a:buNone/>
            </a:pPr>
            <a:r>
              <a:rPr lang="en-US" sz="750" b="1" dirty="0">
                <a:solidFill>
                  <a:srgbClr val="3E7CC9"/>
                </a:solidFill>
                <a:latin typeface="Calibri" pitchFamily="34" charset="0"/>
                <a:ea typeface="Calibri" pitchFamily="34" charset="-122"/>
                <a:cs typeface="Calibri" pitchFamily="34" charset="-120"/>
              </a:rPr>
              <a:t>N</a:t>
            </a:r>
            <a:endParaRPr lang="en-US" sz="750" dirty="0"/>
          </a:p>
        </p:txBody>
      </p:sp>
      <p:sp>
        <p:nvSpPr>
          <p:cNvPr id="45" name="Shape 43"/>
          <p:cNvSpPr/>
          <p:nvPr/>
        </p:nvSpPr>
        <p:spPr>
          <a:xfrm>
            <a:off x="10378440" y="2331720"/>
            <a:ext cx="0" cy="457200"/>
          </a:xfrm>
          <a:prstGeom prst="line">
            <a:avLst/>
          </a:prstGeom>
          <a:noFill/>
          <a:ln w="12700">
            <a:solidFill>
              <a:srgbClr val="6C8FC7"/>
            </a:solidFill>
            <a:prstDash val="solid"/>
          </a:ln>
        </p:spPr>
      </p:sp>
      <p:sp>
        <p:nvSpPr>
          <p:cNvPr id="46" name="Text 44"/>
          <p:cNvSpPr/>
          <p:nvPr/>
        </p:nvSpPr>
        <p:spPr>
          <a:xfrm>
            <a:off x="10241280" y="2350008"/>
            <a:ext cx="274320" cy="164592"/>
          </a:xfrm>
          <a:prstGeom prst="rect">
            <a:avLst/>
          </a:prstGeom>
          <a:noFill/>
          <a:ln/>
        </p:spPr>
        <p:txBody>
          <a:bodyPr wrap="square" lIns="0" tIns="0" rIns="0" bIns="0" rtlCol="0" anchor="ctr"/>
          <a:lstStyle/>
          <a:p>
            <a:pP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47" name="Text 45"/>
          <p:cNvSpPr/>
          <p:nvPr/>
        </p:nvSpPr>
        <p:spPr>
          <a:xfrm>
            <a:off x="10241280" y="2606040"/>
            <a:ext cx="274320" cy="164592"/>
          </a:xfrm>
          <a:prstGeom prst="rect">
            <a:avLst/>
          </a:prstGeom>
          <a:noFill/>
          <a:ln/>
        </p:spPr>
        <p:txBody>
          <a:bodyPr wrap="square" lIns="0" tIns="0" rIns="0" bIns="0" rtlCol="0" anchor="ctr"/>
          <a:lstStyle/>
          <a:p>
            <a:pPr indent="0" marL="0">
              <a:buNone/>
            </a:pPr>
            <a:r>
              <a:rPr lang="en-US" sz="750" b="1" dirty="0">
                <a:solidFill>
                  <a:srgbClr val="3E7CC9"/>
                </a:solidFill>
                <a:latin typeface="Calibri" pitchFamily="34" charset="0"/>
                <a:ea typeface="Calibri" pitchFamily="34" charset="-122"/>
                <a:cs typeface="Calibri" pitchFamily="34" charset="-120"/>
              </a:rPr>
              <a:t>N</a:t>
            </a:r>
            <a:endParaRPr lang="en-US" sz="750" dirty="0"/>
          </a:p>
        </p:txBody>
      </p:sp>
      <p:sp>
        <p:nvSpPr>
          <p:cNvPr id="48" name="Shape 46"/>
          <p:cNvSpPr/>
          <p:nvPr/>
        </p:nvSpPr>
        <p:spPr>
          <a:xfrm flipH="1">
            <a:off x="2560320" y="3520440"/>
            <a:ext cx="274320" cy="1371600"/>
          </a:xfrm>
          <a:prstGeom prst="line">
            <a:avLst/>
          </a:prstGeom>
          <a:noFill/>
          <a:ln w="12700">
            <a:solidFill>
              <a:srgbClr val="6C8FC7"/>
            </a:solidFill>
            <a:prstDash val="solid"/>
          </a:ln>
        </p:spPr>
      </p:sp>
      <p:sp>
        <p:nvSpPr>
          <p:cNvPr id="49" name="Text 47"/>
          <p:cNvSpPr/>
          <p:nvPr/>
        </p:nvSpPr>
        <p:spPr>
          <a:xfrm>
            <a:off x="2697480" y="337413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50" name="Text 48"/>
          <p:cNvSpPr/>
          <p:nvPr/>
        </p:nvSpPr>
        <p:spPr>
          <a:xfrm>
            <a:off x="2423160" y="474573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N</a:t>
            </a:r>
            <a:endParaRPr lang="en-US" sz="750" dirty="0"/>
          </a:p>
        </p:txBody>
      </p:sp>
      <p:sp>
        <p:nvSpPr>
          <p:cNvPr id="51" name="Shape 49"/>
          <p:cNvSpPr/>
          <p:nvPr/>
        </p:nvSpPr>
        <p:spPr>
          <a:xfrm flipH="1">
            <a:off x="3520440" y="2514600"/>
            <a:ext cx="1737360" cy="2194560"/>
          </a:xfrm>
          <a:prstGeom prst="line">
            <a:avLst/>
          </a:prstGeom>
          <a:noFill/>
          <a:ln w="12700">
            <a:solidFill>
              <a:srgbClr val="6C8FC7"/>
            </a:solidFill>
            <a:prstDash val="solid"/>
          </a:ln>
        </p:spPr>
      </p:sp>
      <p:sp>
        <p:nvSpPr>
          <p:cNvPr id="52" name="Text 50"/>
          <p:cNvSpPr/>
          <p:nvPr/>
        </p:nvSpPr>
        <p:spPr>
          <a:xfrm>
            <a:off x="5120640" y="236829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53" name="Text 51"/>
          <p:cNvSpPr/>
          <p:nvPr/>
        </p:nvSpPr>
        <p:spPr>
          <a:xfrm>
            <a:off x="3383280" y="456285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N</a:t>
            </a:r>
            <a:endParaRPr lang="en-US" sz="750" dirty="0"/>
          </a:p>
        </p:txBody>
      </p:sp>
      <p:sp>
        <p:nvSpPr>
          <p:cNvPr id="54" name="Shape 52"/>
          <p:cNvSpPr/>
          <p:nvPr/>
        </p:nvSpPr>
        <p:spPr>
          <a:xfrm flipH="1">
            <a:off x="4343400" y="4160520"/>
            <a:ext cx="914400" cy="548640"/>
          </a:xfrm>
          <a:prstGeom prst="line">
            <a:avLst/>
          </a:prstGeom>
          <a:noFill/>
          <a:ln w="12700">
            <a:solidFill>
              <a:srgbClr val="6C8FC7"/>
            </a:solidFill>
            <a:prstDash val="solid"/>
          </a:ln>
        </p:spPr>
      </p:sp>
      <p:sp>
        <p:nvSpPr>
          <p:cNvPr id="55" name="Text 53"/>
          <p:cNvSpPr/>
          <p:nvPr/>
        </p:nvSpPr>
        <p:spPr>
          <a:xfrm>
            <a:off x="5120640" y="401421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56" name="Text 54"/>
          <p:cNvSpPr/>
          <p:nvPr/>
        </p:nvSpPr>
        <p:spPr>
          <a:xfrm>
            <a:off x="4206240" y="456285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N</a:t>
            </a:r>
            <a:endParaRPr lang="en-US" sz="750" dirty="0"/>
          </a:p>
        </p:txBody>
      </p:sp>
      <p:sp>
        <p:nvSpPr>
          <p:cNvPr id="57" name="Shape 55"/>
          <p:cNvSpPr/>
          <p:nvPr/>
        </p:nvSpPr>
        <p:spPr>
          <a:xfrm flipV="1">
            <a:off x="5303520" y="4892040"/>
            <a:ext cx="1554480" cy="329184"/>
          </a:xfrm>
          <a:prstGeom prst="line">
            <a:avLst/>
          </a:prstGeom>
          <a:noFill/>
          <a:ln w="12700">
            <a:solidFill>
              <a:srgbClr val="6C8FC7"/>
            </a:solidFill>
            <a:prstDash val="solid"/>
          </a:ln>
        </p:spPr>
      </p:sp>
      <p:sp>
        <p:nvSpPr>
          <p:cNvPr id="58" name="Text 56"/>
          <p:cNvSpPr/>
          <p:nvPr/>
        </p:nvSpPr>
        <p:spPr>
          <a:xfrm>
            <a:off x="5166360" y="5074920"/>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59" name="Text 57"/>
          <p:cNvSpPr/>
          <p:nvPr/>
        </p:nvSpPr>
        <p:spPr>
          <a:xfrm>
            <a:off x="6720840" y="474573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60" name="Shape 58"/>
          <p:cNvSpPr/>
          <p:nvPr/>
        </p:nvSpPr>
        <p:spPr>
          <a:xfrm>
            <a:off x="2368296" y="4160520"/>
            <a:ext cx="4901184" cy="548640"/>
          </a:xfrm>
          <a:prstGeom prst="line">
            <a:avLst/>
          </a:prstGeom>
          <a:noFill/>
          <a:ln w="12700">
            <a:solidFill>
              <a:srgbClr val="6C8FC7"/>
            </a:solidFill>
            <a:prstDash val="solid"/>
          </a:ln>
        </p:spPr>
      </p:sp>
      <p:sp>
        <p:nvSpPr>
          <p:cNvPr id="61" name="Text 59"/>
          <p:cNvSpPr/>
          <p:nvPr/>
        </p:nvSpPr>
        <p:spPr>
          <a:xfrm>
            <a:off x="2231136" y="401421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62" name="Text 60"/>
          <p:cNvSpPr/>
          <p:nvPr/>
        </p:nvSpPr>
        <p:spPr>
          <a:xfrm>
            <a:off x="7132320" y="456285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N</a:t>
            </a:r>
            <a:endParaRPr lang="en-US" sz="750" dirty="0"/>
          </a:p>
        </p:txBody>
      </p:sp>
      <p:sp>
        <p:nvSpPr>
          <p:cNvPr id="63" name="Shape 61"/>
          <p:cNvSpPr/>
          <p:nvPr/>
        </p:nvSpPr>
        <p:spPr>
          <a:xfrm flipH="1">
            <a:off x="5029200" y="4069080"/>
            <a:ext cx="4526280" cy="640080"/>
          </a:xfrm>
          <a:prstGeom prst="line">
            <a:avLst/>
          </a:prstGeom>
          <a:noFill/>
          <a:ln w="12700">
            <a:solidFill>
              <a:srgbClr val="6C8FC7"/>
            </a:solidFill>
            <a:prstDash val="solid"/>
          </a:ln>
        </p:spPr>
      </p:sp>
      <p:sp>
        <p:nvSpPr>
          <p:cNvPr id="64" name="Text 62"/>
          <p:cNvSpPr/>
          <p:nvPr/>
        </p:nvSpPr>
        <p:spPr>
          <a:xfrm>
            <a:off x="9418320" y="392277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1</a:t>
            </a:r>
            <a:endParaRPr lang="en-US" sz="750" dirty="0"/>
          </a:p>
        </p:txBody>
      </p:sp>
      <p:sp>
        <p:nvSpPr>
          <p:cNvPr id="65" name="Text 63"/>
          <p:cNvSpPr/>
          <p:nvPr/>
        </p:nvSpPr>
        <p:spPr>
          <a:xfrm>
            <a:off x="4892040" y="4562856"/>
            <a:ext cx="274320" cy="164592"/>
          </a:xfrm>
          <a:prstGeom prst="rect">
            <a:avLst/>
          </a:prstGeom>
          <a:noFill/>
          <a:ln/>
        </p:spPr>
        <p:txBody>
          <a:bodyPr wrap="square" lIns="0" tIns="0" rIns="0" bIns="0" rtlCol="0" anchor="ctr"/>
          <a:lstStyle/>
          <a:p>
            <a:pPr algn="ctr" indent="0" marL="0">
              <a:buNone/>
            </a:pPr>
            <a:r>
              <a:rPr lang="en-US" sz="750" b="1" dirty="0">
                <a:solidFill>
                  <a:srgbClr val="3E7CC9"/>
                </a:solidFill>
                <a:latin typeface="Calibri" pitchFamily="34" charset="0"/>
                <a:ea typeface="Calibri" pitchFamily="34" charset="-122"/>
                <a:cs typeface="Calibri" pitchFamily="34" charset="-120"/>
              </a:rPr>
              <a:t>N</a:t>
            </a:r>
            <a:endParaRPr lang="en-US" sz="750" dirty="0"/>
          </a:p>
        </p:txBody>
      </p:sp>
      <p:sp>
        <p:nvSpPr>
          <p:cNvPr id="66" name="Shape 64"/>
          <p:cNvSpPr/>
          <p:nvPr/>
        </p:nvSpPr>
        <p:spPr>
          <a:xfrm>
            <a:off x="502920" y="6263640"/>
            <a:ext cx="11155680" cy="320040"/>
          </a:xfrm>
          <a:prstGeom prst="roundRect">
            <a:avLst>
              <a:gd name="adj" fmla="val 11429"/>
            </a:avLst>
          </a:prstGeom>
          <a:solidFill>
            <a:srgbClr val="EAF2FB"/>
          </a:solidFill>
          <a:ln/>
        </p:spPr>
      </p:sp>
      <p:sp>
        <p:nvSpPr>
          <p:cNvPr id="67" name="Text 65"/>
          <p:cNvSpPr/>
          <p:nvPr/>
        </p:nvSpPr>
        <p:spPr>
          <a:xfrm>
            <a:off x="685800" y="6263640"/>
            <a:ext cx="10789920" cy="320040"/>
          </a:xfrm>
          <a:prstGeom prst="rect">
            <a:avLst/>
          </a:prstGeom>
          <a:noFill/>
          <a:ln/>
        </p:spPr>
        <p:txBody>
          <a:bodyPr wrap="square" lIns="0" tIns="0" rIns="0" bIns="0" rtlCol="0" anchor="ctr"/>
          <a:lstStyle/>
          <a:p>
            <a:pPr indent="0" marL="0">
              <a:buNone/>
            </a:pPr>
            <a:r>
              <a:rPr lang="en-US" sz="930" i="1" dirty="0">
                <a:solidFill>
                  <a:srgbClr val="5B6B85"/>
                </a:solidFill>
                <a:latin typeface="Calibri" pitchFamily="34" charset="0"/>
                <a:ea typeface="Calibri" pitchFamily="34" charset="-122"/>
                <a:cs typeface="Calibri" pitchFamily="34" charset="-120"/>
              </a:rPr>
              <a:t>Note: relationships are logical (cross-service, enforced in code) — not physical FK constraints, per the database-per-service pattern.</a:t>
            </a:r>
            <a:endParaRPr lang="en-US" sz="930" dirty="0"/>
          </a:p>
        </p:txBody>
      </p:sp>
      <p:sp>
        <p:nvSpPr>
          <p:cNvPr id="68" name="Text 66"/>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69" name="Text 67"/>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ER Diagram</a:t>
            </a:r>
            <a:endParaRPr lang="en-US" sz="900" dirty="0"/>
          </a:p>
        </p:txBody>
      </p:sp>
      <p:sp>
        <p:nvSpPr>
          <p:cNvPr id="70" name="Text 68"/>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REQUEST LIFECYCLE</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From Click to Response — End to End</a:t>
            </a:r>
            <a:endParaRPr lang="en-US" sz="2800" dirty="0"/>
          </a:p>
        </p:txBody>
      </p:sp>
      <p:sp>
        <p:nvSpPr>
          <p:cNvPr id="4" name="Shape 2"/>
          <p:cNvSpPr/>
          <p:nvPr/>
        </p:nvSpPr>
        <p:spPr>
          <a:xfrm>
            <a:off x="502920" y="2194560"/>
            <a:ext cx="1481328" cy="777240"/>
          </a:xfrm>
          <a:prstGeom prst="roundRect">
            <a:avLst>
              <a:gd name="adj" fmla="val 7059"/>
            </a:avLst>
          </a:prstGeom>
          <a:solidFill>
            <a:srgbClr val="0B2545"/>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5" name="Text 3"/>
          <p:cNvSpPr/>
          <p:nvPr/>
        </p:nvSpPr>
        <p:spPr>
          <a:xfrm>
            <a:off x="502920" y="2194560"/>
            <a:ext cx="1481328" cy="7772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React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6" name="Shape 4"/>
          <p:cNvSpPr/>
          <p:nvPr/>
        </p:nvSpPr>
        <p:spPr>
          <a:xfrm>
            <a:off x="2002536" y="2578608"/>
            <a:ext cx="137160" cy="0"/>
          </a:xfrm>
          <a:prstGeom prst="line">
            <a:avLst/>
          </a:prstGeom>
          <a:noFill/>
          <a:ln w="22225">
            <a:solidFill>
              <a:srgbClr val="3E7CC9"/>
            </a:solidFill>
            <a:prstDash val="solid"/>
            <a:tailEnd type="triangle"/>
          </a:ln>
        </p:spPr>
      </p:sp>
      <p:sp>
        <p:nvSpPr>
          <p:cNvPr id="7" name="Shape 5"/>
          <p:cNvSpPr/>
          <p:nvPr/>
        </p:nvSpPr>
        <p:spPr>
          <a:xfrm>
            <a:off x="2157984" y="2194560"/>
            <a:ext cx="1481328" cy="777240"/>
          </a:xfrm>
          <a:prstGeom prst="roundRect">
            <a:avLst>
              <a:gd name="adj" fmla="val 705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8" name="Text 6"/>
          <p:cNvSpPr/>
          <p:nvPr/>
        </p:nvSpPr>
        <p:spPr>
          <a:xfrm>
            <a:off x="2157984" y="2194560"/>
            <a:ext cx="1481328" cy="777240"/>
          </a:xfrm>
          <a:prstGeom prst="rect">
            <a:avLst/>
          </a:prstGeom>
          <a:noFill/>
          <a:ln/>
        </p:spPr>
        <p:txBody>
          <a:bodyPr wrap="square" lIns="38100" tIns="38100" rIns="38100" bIns="3810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API</a:t>
            </a:r>
            <a:endParaRPr lang="en-US" sz="1100" dirty="0"/>
          </a:p>
          <a:p>
            <a:pPr algn="ctr" indent="0" marL="0">
              <a:buNone/>
            </a:pPr>
            <a:r>
              <a:rPr lang="en-US" sz="1100" b="1" dirty="0">
                <a:solidFill>
                  <a:srgbClr val="0B2545"/>
                </a:solidFill>
                <a:latin typeface="Calibri" pitchFamily="34" charset="0"/>
                <a:ea typeface="Calibri" pitchFamily="34" charset="-122"/>
                <a:cs typeface="Calibri" pitchFamily="34" charset="-120"/>
              </a:rPr>
              <a:t>Gateway</a:t>
            </a:r>
            <a:endParaRPr lang="en-US" sz="1100" dirty="0"/>
          </a:p>
        </p:txBody>
      </p:sp>
      <p:sp>
        <p:nvSpPr>
          <p:cNvPr id="9" name="Shape 7"/>
          <p:cNvSpPr/>
          <p:nvPr/>
        </p:nvSpPr>
        <p:spPr>
          <a:xfrm>
            <a:off x="3657600" y="2578608"/>
            <a:ext cx="137160" cy="0"/>
          </a:xfrm>
          <a:prstGeom prst="line">
            <a:avLst/>
          </a:prstGeom>
          <a:noFill/>
          <a:ln w="22225">
            <a:solidFill>
              <a:srgbClr val="3E7CC9"/>
            </a:solidFill>
            <a:prstDash val="solid"/>
            <a:tailEnd type="triangle"/>
          </a:ln>
        </p:spPr>
      </p:sp>
      <p:sp>
        <p:nvSpPr>
          <p:cNvPr id="10" name="Shape 8"/>
          <p:cNvSpPr/>
          <p:nvPr/>
        </p:nvSpPr>
        <p:spPr>
          <a:xfrm>
            <a:off x="3813048" y="2194560"/>
            <a:ext cx="1481328" cy="777240"/>
          </a:xfrm>
          <a:prstGeom prst="roundRect">
            <a:avLst>
              <a:gd name="adj" fmla="val 705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1" name="Text 9"/>
          <p:cNvSpPr/>
          <p:nvPr/>
        </p:nvSpPr>
        <p:spPr>
          <a:xfrm>
            <a:off x="3813048" y="2194560"/>
            <a:ext cx="1481328" cy="777240"/>
          </a:xfrm>
          <a:prstGeom prst="rect">
            <a:avLst/>
          </a:prstGeom>
          <a:noFill/>
          <a:ln/>
        </p:spPr>
        <p:txBody>
          <a:bodyPr wrap="square" lIns="38100" tIns="38100" rIns="38100" bIns="3810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Controller</a:t>
            </a:r>
            <a:endParaRPr lang="en-US" sz="1100" dirty="0"/>
          </a:p>
        </p:txBody>
      </p:sp>
      <p:sp>
        <p:nvSpPr>
          <p:cNvPr id="12" name="Shape 10"/>
          <p:cNvSpPr/>
          <p:nvPr/>
        </p:nvSpPr>
        <p:spPr>
          <a:xfrm>
            <a:off x="5312664" y="2578608"/>
            <a:ext cx="137160" cy="0"/>
          </a:xfrm>
          <a:prstGeom prst="line">
            <a:avLst/>
          </a:prstGeom>
          <a:noFill/>
          <a:ln w="22225">
            <a:solidFill>
              <a:srgbClr val="3E7CC9"/>
            </a:solidFill>
            <a:prstDash val="solid"/>
            <a:tailEnd type="triangle"/>
          </a:ln>
        </p:spPr>
      </p:sp>
      <p:sp>
        <p:nvSpPr>
          <p:cNvPr id="13" name="Shape 11"/>
          <p:cNvSpPr/>
          <p:nvPr/>
        </p:nvSpPr>
        <p:spPr>
          <a:xfrm>
            <a:off x="5468112" y="2194560"/>
            <a:ext cx="1481328" cy="777240"/>
          </a:xfrm>
          <a:prstGeom prst="roundRect">
            <a:avLst>
              <a:gd name="adj" fmla="val 705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4" name="Text 12"/>
          <p:cNvSpPr/>
          <p:nvPr/>
        </p:nvSpPr>
        <p:spPr>
          <a:xfrm>
            <a:off x="5468112" y="2194560"/>
            <a:ext cx="1481328" cy="777240"/>
          </a:xfrm>
          <a:prstGeom prst="rect">
            <a:avLst/>
          </a:prstGeom>
          <a:noFill/>
          <a:ln/>
        </p:spPr>
        <p:txBody>
          <a:bodyPr wrap="square" lIns="38100" tIns="38100" rIns="38100" bIns="3810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Service</a:t>
            </a:r>
            <a:endParaRPr lang="en-US" sz="1100" dirty="0"/>
          </a:p>
        </p:txBody>
      </p:sp>
      <p:sp>
        <p:nvSpPr>
          <p:cNvPr id="15" name="Shape 13"/>
          <p:cNvSpPr/>
          <p:nvPr/>
        </p:nvSpPr>
        <p:spPr>
          <a:xfrm>
            <a:off x="6967728" y="2578608"/>
            <a:ext cx="137160" cy="0"/>
          </a:xfrm>
          <a:prstGeom prst="line">
            <a:avLst/>
          </a:prstGeom>
          <a:noFill/>
          <a:ln w="22225">
            <a:solidFill>
              <a:srgbClr val="3E7CC9"/>
            </a:solidFill>
            <a:prstDash val="solid"/>
            <a:tailEnd type="triangle"/>
          </a:ln>
        </p:spPr>
      </p:sp>
      <p:sp>
        <p:nvSpPr>
          <p:cNvPr id="16" name="Shape 14"/>
          <p:cNvSpPr/>
          <p:nvPr/>
        </p:nvSpPr>
        <p:spPr>
          <a:xfrm>
            <a:off x="7123176" y="2194560"/>
            <a:ext cx="1481328" cy="777240"/>
          </a:xfrm>
          <a:prstGeom prst="roundRect">
            <a:avLst>
              <a:gd name="adj" fmla="val 7059"/>
            </a:avLst>
          </a:prstGeom>
          <a:solidFill>
            <a:srgbClr val="EAF2FB"/>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17" name="Text 15"/>
          <p:cNvSpPr/>
          <p:nvPr/>
        </p:nvSpPr>
        <p:spPr>
          <a:xfrm>
            <a:off x="7123176" y="2194560"/>
            <a:ext cx="1481328" cy="777240"/>
          </a:xfrm>
          <a:prstGeom prst="rect">
            <a:avLst/>
          </a:prstGeom>
          <a:noFill/>
          <a:ln/>
        </p:spPr>
        <p:txBody>
          <a:bodyPr wrap="square" lIns="38100" tIns="38100" rIns="38100" bIns="3810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Repository</a:t>
            </a:r>
            <a:endParaRPr lang="en-US" sz="1100" dirty="0"/>
          </a:p>
        </p:txBody>
      </p:sp>
      <p:sp>
        <p:nvSpPr>
          <p:cNvPr id="18" name="Shape 16"/>
          <p:cNvSpPr/>
          <p:nvPr/>
        </p:nvSpPr>
        <p:spPr>
          <a:xfrm>
            <a:off x="8622792" y="2578608"/>
            <a:ext cx="137160" cy="0"/>
          </a:xfrm>
          <a:prstGeom prst="line">
            <a:avLst/>
          </a:prstGeom>
          <a:noFill/>
          <a:ln w="22225">
            <a:solidFill>
              <a:srgbClr val="3E7CC9"/>
            </a:solidFill>
            <a:prstDash val="solid"/>
            <a:tailEnd type="triangle"/>
          </a:ln>
        </p:spPr>
      </p:sp>
      <p:sp>
        <p:nvSpPr>
          <p:cNvPr id="19" name="Shape 17"/>
          <p:cNvSpPr/>
          <p:nvPr/>
        </p:nvSpPr>
        <p:spPr>
          <a:xfrm>
            <a:off x="8778240" y="2194560"/>
            <a:ext cx="1481328" cy="777240"/>
          </a:xfrm>
          <a:prstGeom prst="roundRect">
            <a:avLst>
              <a:gd name="adj" fmla="val 7059"/>
            </a:avLst>
          </a:prstGeom>
          <a:solidFill>
            <a:srgbClr val="C9781F"/>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0" name="Text 18"/>
          <p:cNvSpPr/>
          <p:nvPr/>
        </p:nvSpPr>
        <p:spPr>
          <a:xfrm>
            <a:off x="8778240" y="2194560"/>
            <a:ext cx="1481328" cy="7772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MySQL</a:t>
            </a:r>
            <a:endParaRPr lang="en-US" sz="1100" dirty="0"/>
          </a:p>
        </p:txBody>
      </p:sp>
      <p:sp>
        <p:nvSpPr>
          <p:cNvPr id="21" name="Shape 19"/>
          <p:cNvSpPr/>
          <p:nvPr/>
        </p:nvSpPr>
        <p:spPr>
          <a:xfrm>
            <a:off x="10277856" y="2578608"/>
            <a:ext cx="137160" cy="0"/>
          </a:xfrm>
          <a:prstGeom prst="line">
            <a:avLst/>
          </a:prstGeom>
          <a:noFill/>
          <a:ln w="22225">
            <a:solidFill>
              <a:srgbClr val="3E7CC9"/>
            </a:solidFill>
            <a:prstDash val="solid"/>
            <a:tailEnd type="triangle"/>
          </a:ln>
        </p:spPr>
      </p:sp>
      <p:sp>
        <p:nvSpPr>
          <p:cNvPr id="22" name="Shape 20"/>
          <p:cNvSpPr/>
          <p:nvPr/>
        </p:nvSpPr>
        <p:spPr>
          <a:xfrm>
            <a:off x="10433304" y="2194560"/>
            <a:ext cx="1481328" cy="777240"/>
          </a:xfrm>
          <a:prstGeom prst="roundRect">
            <a:avLst>
              <a:gd name="adj" fmla="val 7059"/>
            </a:avLst>
          </a:prstGeom>
          <a:solidFill>
            <a:srgbClr val="0B2545"/>
          </a:solidFill>
          <a:ln w="15875">
            <a:solidFill>
              <a:srgbClr val="D7E3F3"/>
            </a:solidFill>
            <a:prstDash val="solid"/>
          </a:ln>
          <a:effectLst>
            <a:outerShdw sx="100000" sy="100000" kx="0" ky="0" algn="bl" rotWithShape="0" blurRad="76200" dist="12700" dir="5400000">
              <a:srgbClr val="0B2545">
                <a:alpha val="10000"/>
              </a:srgbClr>
            </a:outerShdw>
          </a:effectLst>
        </p:spPr>
      </p:sp>
      <p:sp>
        <p:nvSpPr>
          <p:cNvPr id="23" name="Text 21"/>
          <p:cNvSpPr/>
          <p:nvPr/>
        </p:nvSpPr>
        <p:spPr>
          <a:xfrm>
            <a:off x="10433304" y="2194560"/>
            <a:ext cx="1481328" cy="7772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Response</a:t>
            </a:r>
            <a:endParaRPr lang="en-US" sz="1100" dirty="0"/>
          </a:p>
        </p:txBody>
      </p:sp>
      <p:sp>
        <p:nvSpPr>
          <p:cNvPr id="24" name="Shape 22"/>
          <p:cNvSpPr/>
          <p:nvPr/>
        </p:nvSpPr>
        <p:spPr>
          <a:xfrm>
            <a:off x="502920" y="3246120"/>
            <a:ext cx="5532120" cy="960120"/>
          </a:xfrm>
          <a:prstGeom prst="roundRect">
            <a:avLst>
              <a:gd name="adj" fmla="val 6667"/>
            </a:avLst>
          </a:prstGeom>
          <a:solidFill>
            <a:srgbClr val="FFFFFF"/>
          </a:solidFill>
          <a:ln w="12700">
            <a:solidFill>
              <a:srgbClr val="D7E3F3"/>
            </a:solidFill>
            <a:prstDash val="solid"/>
          </a:ln>
        </p:spPr>
      </p:sp>
      <p:sp>
        <p:nvSpPr>
          <p:cNvPr id="25" name="Text 23"/>
          <p:cNvSpPr/>
          <p:nvPr/>
        </p:nvSpPr>
        <p:spPr>
          <a:xfrm>
            <a:off x="667512" y="3319272"/>
            <a:ext cx="5202936"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1.  React</a:t>
            </a:r>
            <a:endParaRPr lang="en-US" sz="1100" dirty="0"/>
          </a:p>
          <a:p>
            <a:pPr indent="0" marL="0">
              <a:buNone/>
            </a:pPr>
            <a:r>
              <a:rPr lang="en-US" sz="1100" b="1" dirty="0">
                <a:solidFill>
                  <a:srgbClr val="0B2545"/>
                </a:solidFill>
                <a:latin typeface="Calibri" pitchFamily="34" charset="0"/>
                <a:ea typeface="Calibri" pitchFamily="34" charset="-122"/>
                <a:cs typeface="Calibri" pitchFamily="34" charset="-120"/>
              </a:rPr>
              <a:t>Frontend</a:t>
            </a:r>
            <a:endParaRPr lang="en-US" sz="1100" dirty="0"/>
          </a:p>
        </p:txBody>
      </p:sp>
      <p:sp>
        <p:nvSpPr>
          <p:cNvPr id="26" name="Text 24"/>
          <p:cNvSpPr/>
          <p:nvPr/>
        </p:nvSpPr>
        <p:spPr>
          <a:xfrm>
            <a:off x="667512" y="3593592"/>
            <a:ext cx="5202936" cy="548640"/>
          </a:xfrm>
          <a:prstGeom prst="rect">
            <a:avLst/>
          </a:prstGeom>
          <a:noFill/>
          <a:ln/>
        </p:spPr>
        <p:txBody>
          <a:bodyPr wrap="square" lIns="0" tIns="0" rIns="0" bIns="0" rtlCol="0" anchor="ctr"/>
          <a:lstStyle/>
          <a:p>
            <a:pPr indent="0" marL="0">
              <a:buNone/>
            </a:pPr>
            <a:r>
              <a:rPr lang="en-US" sz="960" dirty="0">
                <a:solidFill>
                  <a:srgbClr val="5B6B85"/>
                </a:solidFill>
                <a:latin typeface="Calibri" pitchFamily="34" charset="0"/>
                <a:ea typeface="Calibri" pitchFamily="34" charset="-122"/>
                <a:cs typeface="Calibri" pitchFamily="34" charset="-120"/>
              </a:rPr>
              <a:t>Axios call with Authorization: Bearer &lt;jwt&gt; header, e.g. POST /bookings/create</a:t>
            </a:r>
            <a:endParaRPr lang="en-US" sz="960" dirty="0"/>
          </a:p>
        </p:txBody>
      </p:sp>
      <p:sp>
        <p:nvSpPr>
          <p:cNvPr id="27" name="Shape 25"/>
          <p:cNvSpPr/>
          <p:nvPr/>
        </p:nvSpPr>
        <p:spPr>
          <a:xfrm>
            <a:off x="6217920" y="3246120"/>
            <a:ext cx="5532120" cy="960120"/>
          </a:xfrm>
          <a:prstGeom prst="roundRect">
            <a:avLst>
              <a:gd name="adj" fmla="val 6667"/>
            </a:avLst>
          </a:prstGeom>
          <a:solidFill>
            <a:srgbClr val="FFFFFF"/>
          </a:solidFill>
          <a:ln w="12700">
            <a:solidFill>
              <a:srgbClr val="D7E3F3"/>
            </a:solidFill>
            <a:prstDash val="solid"/>
          </a:ln>
        </p:spPr>
      </p:sp>
      <p:sp>
        <p:nvSpPr>
          <p:cNvPr id="28" name="Text 26"/>
          <p:cNvSpPr/>
          <p:nvPr/>
        </p:nvSpPr>
        <p:spPr>
          <a:xfrm>
            <a:off x="6382512" y="3319272"/>
            <a:ext cx="5202936"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2.  API</a:t>
            </a:r>
            <a:endParaRPr lang="en-US" sz="1100" dirty="0"/>
          </a:p>
          <a:p>
            <a:pPr indent="0" marL="0">
              <a:buNone/>
            </a:pPr>
            <a:r>
              <a:rPr lang="en-US" sz="1100" b="1" dirty="0">
                <a:solidFill>
                  <a:srgbClr val="0B2545"/>
                </a:solidFill>
                <a:latin typeface="Calibri" pitchFamily="34" charset="0"/>
                <a:ea typeface="Calibri" pitchFamily="34" charset="-122"/>
                <a:cs typeface="Calibri" pitchFamily="34" charset="-120"/>
              </a:rPr>
              <a:t>Gateway</a:t>
            </a:r>
            <a:endParaRPr lang="en-US" sz="1100" dirty="0"/>
          </a:p>
        </p:txBody>
      </p:sp>
      <p:sp>
        <p:nvSpPr>
          <p:cNvPr id="29" name="Text 27"/>
          <p:cNvSpPr/>
          <p:nvPr/>
        </p:nvSpPr>
        <p:spPr>
          <a:xfrm>
            <a:off x="6382512" y="3593592"/>
            <a:ext cx="5202936" cy="548640"/>
          </a:xfrm>
          <a:prstGeom prst="rect">
            <a:avLst/>
          </a:prstGeom>
          <a:noFill/>
          <a:ln/>
        </p:spPr>
        <p:txBody>
          <a:bodyPr wrap="square" lIns="0" tIns="0" rIns="0" bIns="0" rtlCol="0" anchor="ctr"/>
          <a:lstStyle/>
          <a:p>
            <a:pPr indent="0" marL="0">
              <a:buNone/>
            </a:pPr>
            <a:r>
              <a:rPr lang="en-US" sz="960" dirty="0">
                <a:solidFill>
                  <a:srgbClr val="5B6B85"/>
                </a:solidFill>
                <a:latin typeface="Calibri" pitchFamily="34" charset="0"/>
                <a:ea typeface="Calibri" pitchFamily="34" charset="-122"/>
                <a:cs typeface="Calibri" pitchFamily="34" charset="-120"/>
              </a:rPr>
              <a:t>JwtAuthFilter validates JWT once; injects X-User-Email/Role/Id; routes via lb://booking-service</a:t>
            </a:r>
            <a:endParaRPr lang="en-US" sz="960" dirty="0"/>
          </a:p>
        </p:txBody>
      </p:sp>
      <p:sp>
        <p:nvSpPr>
          <p:cNvPr id="30" name="Shape 28"/>
          <p:cNvSpPr/>
          <p:nvPr/>
        </p:nvSpPr>
        <p:spPr>
          <a:xfrm>
            <a:off x="502920" y="4370832"/>
            <a:ext cx="5532120" cy="960120"/>
          </a:xfrm>
          <a:prstGeom prst="roundRect">
            <a:avLst>
              <a:gd name="adj" fmla="val 6667"/>
            </a:avLst>
          </a:prstGeom>
          <a:solidFill>
            <a:srgbClr val="FFFFFF"/>
          </a:solidFill>
          <a:ln w="12700">
            <a:solidFill>
              <a:srgbClr val="D7E3F3"/>
            </a:solidFill>
            <a:prstDash val="solid"/>
          </a:ln>
        </p:spPr>
      </p:sp>
      <p:sp>
        <p:nvSpPr>
          <p:cNvPr id="31" name="Text 29"/>
          <p:cNvSpPr/>
          <p:nvPr/>
        </p:nvSpPr>
        <p:spPr>
          <a:xfrm>
            <a:off x="667512" y="4443984"/>
            <a:ext cx="5202936"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3.  Controller</a:t>
            </a:r>
            <a:endParaRPr lang="en-US" sz="1100" dirty="0"/>
          </a:p>
        </p:txBody>
      </p:sp>
      <p:sp>
        <p:nvSpPr>
          <p:cNvPr id="32" name="Text 30"/>
          <p:cNvSpPr/>
          <p:nvPr/>
        </p:nvSpPr>
        <p:spPr>
          <a:xfrm>
            <a:off x="667512" y="4718304"/>
            <a:ext cx="5202936" cy="548640"/>
          </a:xfrm>
          <a:prstGeom prst="rect">
            <a:avLst/>
          </a:prstGeom>
          <a:noFill/>
          <a:ln/>
        </p:spPr>
        <p:txBody>
          <a:bodyPr wrap="square" lIns="0" tIns="0" rIns="0" bIns="0" rtlCol="0" anchor="ctr"/>
          <a:lstStyle/>
          <a:p>
            <a:pPr indent="0" marL="0">
              <a:buNone/>
            </a:pPr>
            <a:r>
              <a:rPr lang="en-US" sz="960" dirty="0">
                <a:solidFill>
                  <a:srgbClr val="5B6B85"/>
                </a:solidFill>
                <a:latin typeface="Calibri" pitchFamily="34" charset="0"/>
                <a:ea typeface="Calibri" pitchFamily="34" charset="-122"/>
                <a:cs typeface="Calibri" pitchFamily="34" charset="-120"/>
              </a:rPr>
              <a:t>@RestController method binds @RequestBody DTO, delegates to service layer, wrapped by LoggingAspect (AOP)</a:t>
            </a:r>
            <a:endParaRPr lang="en-US" sz="960" dirty="0"/>
          </a:p>
        </p:txBody>
      </p:sp>
      <p:sp>
        <p:nvSpPr>
          <p:cNvPr id="33" name="Shape 31"/>
          <p:cNvSpPr/>
          <p:nvPr/>
        </p:nvSpPr>
        <p:spPr>
          <a:xfrm>
            <a:off x="6217920" y="4370832"/>
            <a:ext cx="5532120" cy="960120"/>
          </a:xfrm>
          <a:prstGeom prst="roundRect">
            <a:avLst>
              <a:gd name="adj" fmla="val 6667"/>
            </a:avLst>
          </a:prstGeom>
          <a:solidFill>
            <a:srgbClr val="FFFFFF"/>
          </a:solidFill>
          <a:ln w="12700">
            <a:solidFill>
              <a:srgbClr val="D7E3F3"/>
            </a:solidFill>
            <a:prstDash val="solid"/>
          </a:ln>
        </p:spPr>
      </p:sp>
      <p:sp>
        <p:nvSpPr>
          <p:cNvPr id="34" name="Text 32"/>
          <p:cNvSpPr/>
          <p:nvPr/>
        </p:nvSpPr>
        <p:spPr>
          <a:xfrm>
            <a:off x="6382512" y="4443984"/>
            <a:ext cx="5202936"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4.  Service</a:t>
            </a:r>
            <a:endParaRPr lang="en-US" sz="1100" dirty="0"/>
          </a:p>
        </p:txBody>
      </p:sp>
      <p:sp>
        <p:nvSpPr>
          <p:cNvPr id="35" name="Text 33"/>
          <p:cNvSpPr/>
          <p:nvPr/>
        </p:nvSpPr>
        <p:spPr>
          <a:xfrm>
            <a:off x="6382512" y="4718304"/>
            <a:ext cx="5202936" cy="548640"/>
          </a:xfrm>
          <a:prstGeom prst="rect">
            <a:avLst/>
          </a:prstGeom>
          <a:noFill/>
          <a:ln/>
        </p:spPr>
        <p:txBody>
          <a:bodyPr wrap="square" lIns="0" tIns="0" rIns="0" bIns="0" rtlCol="0" anchor="ctr"/>
          <a:lstStyle/>
          <a:p>
            <a:pPr indent="0" marL="0">
              <a:buNone/>
            </a:pPr>
            <a:r>
              <a:rPr lang="en-US" sz="960" dirty="0">
                <a:solidFill>
                  <a:srgbClr val="5B6B85"/>
                </a:solidFill>
                <a:latin typeface="Calibri" pitchFamily="34" charset="0"/>
                <a:ea typeface="Calibri" pitchFamily="34" charset="-122"/>
                <a:cs typeface="Calibri" pitchFamily="34" charset="-120"/>
              </a:rPr>
              <a:t>Business logic executes — validation, Feign calls to other services, decision logic</a:t>
            </a:r>
            <a:endParaRPr lang="en-US" sz="960" dirty="0"/>
          </a:p>
        </p:txBody>
      </p:sp>
      <p:sp>
        <p:nvSpPr>
          <p:cNvPr id="36" name="Shape 34"/>
          <p:cNvSpPr/>
          <p:nvPr/>
        </p:nvSpPr>
        <p:spPr>
          <a:xfrm>
            <a:off x="502920" y="5495544"/>
            <a:ext cx="5532120" cy="960120"/>
          </a:xfrm>
          <a:prstGeom prst="roundRect">
            <a:avLst>
              <a:gd name="adj" fmla="val 6667"/>
            </a:avLst>
          </a:prstGeom>
          <a:solidFill>
            <a:srgbClr val="FFFFFF"/>
          </a:solidFill>
          <a:ln w="12700">
            <a:solidFill>
              <a:srgbClr val="D7E3F3"/>
            </a:solidFill>
            <a:prstDash val="solid"/>
          </a:ln>
        </p:spPr>
      </p:sp>
      <p:sp>
        <p:nvSpPr>
          <p:cNvPr id="37" name="Text 35"/>
          <p:cNvSpPr/>
          <p:nvPr/>
        </p:nvSpPr>
        <p:spPr>
          <a:xfrm>
            <a:off x="667512" y="5568696"/>
            <a:ext cx="5202936"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5.  Repository</a:t>
            </a:r>
            <a:endParaRPr lang="en-US" sz="1100" dirty="0"/>
          </a:p>
        </p:txBody>
      </p:sp>
      <p:sp>
        <p:nvSpPr>
          <p:cNvPr id="38" name="Text 36"/>
          <p:cNvSpPr/>
          <p:nvPr/>
        </p:nvSpPr>
        <p:spPr>
          <a:xfrm>
            <a:off x="667512" y="5843016"/>
            <a:ext cx="5202936" cy="548640"/>
          </a:xfrm>
          <a:prstGeom prst="rect">
            <a:avLst/>
          </a:prstGeom>
          <a:noFill/>
          <a:ln/>
        </p:spPr>
        <p:txBody>
          <a:bodyPr wrap="square" lIns="0" tIns="0" rIns="0" bIns="0" rtlCol="0" anchor="ctr"/>
          <a:lstStyle/>
          <a:p>
            <a:pPr indent="0" marL="0">
              <a:buNone/>
            </a:pPr>
            <a:r>
              <a:rPr lang="en-US" sz="960" dirty="0">
                <a:solidFill>
                  <a:srgbClr val="5B6B85"/>
                </a:solidFill>
                <a:latin typeface="Calibri" pitchFamily="34" charset="0"/>
                <a:ea typeface="Calibri" pitchFamily="34" charset="-122"/>
                <a:cs typeface="Calibri" pitchFamily="34" charset="-120"/>
              </a:rPr>
              <a:t>Spring Data JPA repository persists/queries the entity via Hibernate</a:t>
            </a:r>
            <a:endParaRPr lang="en-US" sz="960" dirty="0"/>
          </a:p>
        </p:txBody>
      </p:sp>
      <p:sp>
        <p:nvSpPr>
          <p:cNvPr id="39" name="Shape 37"/>
          <p:cNvSpPr/>
          <p:nvPr/>
        </p:nvSpPr>
        <p:spPr>
          <a:xfrm>
            <a:off x="6217920" y="5495544"/>
            <a:ext cx="5532120" cy="960120"/>
          </a:xfrm>
          <a:prstGeom prst="roundRect">
            <a:avLst>
              <a:gd name="adj" fmla="val 6667"/>
            </a:avLst>
          </a:prstGeom>
          <a:solidFill>
            <a:srgbClr val="FFFFFF"/>
          </a:solidFill>
          <a:ln w="12700">
            <a:solidFill>
              <a:srgbClr val="D7E3F3"/>
            </a:solidFill>
            <a:prstDash val="solid"/>
          </a:ln>
        </p:spPr>
      </p:sp>
      <p:sp>
        <p:nvSpPr>
          <p:cNvPr id="40" name="Text 38"/>
          <p:cNvSpPr/>
          <p:nvPr/>
        </p:nvSpPr>
        <p:spPr>
          <a:xfrm>
            <a:off x="6382512" y="5568696"/>
            <a:ext cx="5202936"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6.  MySQL</a:t>
            </a:r>
            <a:endParaRPr lang="en-US" sz="1100" dirty="0"/>
          </a:p>
        </p:txBody>
      </p:sp>
      <p:sp>
        <p:nvSpPr>
          <p:cNvPr id="41" name="Text 39"/>
          <p:cNvSpPr/>
          <p:nvPr/>
        </p:nvSpPr>
        <p:spPr>
          <a:xfrm>
            <a:off x="6382512" y="5843016"/>
            <a:ext cx="5202936" cy="548640"/>
          </a:xfrm>
          <a:prstGeom prst="rect">
            <a:avLst/>
          </a:prstGeom>
          <a:noFill/>
          <a:ln/>
        </p:spPr>
        <p:txBody>
          <a:bodyPr wrap="square" lIns="0" tIns="0" rIns="0" bIns="0" rtlCol="0" anchor="ctr"/>
          <a:lstStyle/>
          <a:p>
            <a:pPr indent="0" marL="0">
              <a:buNone/>
            </a:pPr>
            <a:r>
              <a:rPr lang="en-US" sz="960" dirty="0">
                <a:solidFill>
                  <a:srgbClr val="5B6B85"/>
                </a:solidFill>
                <a:latin typeface="Calibri" pitchFamily="34" charset="0"/>
                <a:ea typeface="Calibri" pitchFamily="34" charset="-122"/>
                <a:cs typeface="Calibri" pitchFamily="34" charset="-120"/>
              </a:rPr>
              <a:t>booking_db (or the relevant service's schema) commits the transaction</a:t>
            </a:r>
            <a:endParaRPr lang="en-US" sz="960" dirty="0"/>
          </a:p>
        </p:txBody>
      </p:sp>
      <p:sp>
        <p:nvSpPr>
          <p:cNvPr id="42" name="Shape 40"/>
          <p:cNvSpPr/>
          <p:nvPr/>
        </p:nvSpPr>
        <p:spPr>
          <a:xfrm>
            <a:off x="502920" y="6620256"/>
            <a:ext cx="5532120" cy="960120"/>
          </a:xfrm>
          <a:prstGeom prst="roundRect">
            <a:avLst>
              <a:gd name="adj" fmla="val 6667"/>
            </a:avLst>
          </a:prstGeom>
          <a:solidFill>
            <a:srgbClr val="FFFFFF"/>
          </a:solidFill>
          <a:ln w="12700">
            <a:solidFill>
              <a:srgbClr val="D7E3F3"/>
            </a:solidFill>
            <a:prstDash val="solid"/>
          </a:ln>
        </p:spPr>
      </p:sp>
      <p:sp>
        <p:nvSpPr>
          <p:cNvPr id="43" name="Text 41"/>
          <p:cNvSpPr/>
          <p:nvPr/>
        </p:nvSpPr>
        <p:spPr>
          <a:xfrm>
            <a:off x="667512" y="6693408"/>
            <a:ext cx="5202936"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7.  Response</a:t>
            </a:r>
            <a:endParaRPr lang="en-US" sz="1100" dirty="0"/>
          </a:p>
        </p:txBody>
      </p:sp>
      <p:sp>
        <p:nvSpPr>
          <p:cNvPr id="44" name="Text 42"/>
          <p:cNvSpPr/>
          <p:nvPr/>
        </p:nvSpPr>
        <p:spPr>
          <a:xfrm>
            <a:off x="667512" y="6967728"/>
            <a:ext cx="5202936" cy="548640"/>
          </a:xfrm>
          <a:prstGeom prst="rect">
            <a:avLst/>
          </a:prstGeom>
          <a:noFill/>
          <a:ln/>
        </p:spPr>
        <p:txBody>
          <a:bodyPr wrap="square" lIns="0" tIns="0" rIns="0" bIns="0" rtlCol="0" anchor="ctr"/>
          <a:lstStyle/>
          <a:p>
            <a:pPr indent="0" marL="0">
              <a:buNone/>
            </a:pPr>
            <a:r>
              <a:rPr lang="en-US" sz="960" dirty="0">
                <a:solidFill>
                  <a:srgbClr val="5B6B85"/>
                </a:solidFill>
                <a:latin typeface="Calibri" pitchFamily="34" charset="0"/>
                <a:ea typeface="Calibri" pitchFamily="34" charset="-122"/>
                <a:cs typeface="Calibri" pitchFamily="34" charset="-120"/>
              </a:rPr>
              <a:t>ResponseEntity&lt;T&gt; flows back up through Gateway to the frontend as JSON</a:t>
            </a:r>
            <a:endParaRPr lang="en-US" sz="960" dirty="0"/>
          </a:p>
        </p:txBody>
      </p:sp>
      <p:sp>
        <p:nvSpPr>
          <p:cNvPr id="45" name="Text 43"/>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46" name="Text 44"/>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Request Lifecycle</a:t>
            </a:r>
            <a:endParaRPr lang="en-US" sz="900" dirty="0"/>
          </a:p>
        </p:txBody>
      </p:sp>
      <p:sp>
        <p:nvSpPr>
          <p:cNvPr id="47" name="Text 45"/>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ENGINEERING DEPTH</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Real Challenges &amp; How They Were Solved</a:t>
            </a:r>
            <a:endParaRPr lang="en-US" sz="2800" dirty="0"/>
          </a:p>
        </p:txBody>
      </p:sp>
      <p:sp>
        <p:nvSpPr>
          <p:cNvPr id="4" name="Shape 2"/>
          <p:cNvSpPr/>
          <p:nvPr/>
        </p:nvSpPr>
        <p:spPr>
          <a:xfrm>
            <a:off x="502920" y="1371600"/>
            <a:ext cx="5532120" cy="1481328"/>
          </a:xfrm>
          <a:prstGeom prst="roundRect">
            <a:avLst>
              <a:gd name="adj" fmla="val 4321"/>
            </a:avLst>
          </a:prstGeom>
          <a:solidFill>
            <a:srgbClr val="FFFFFF"/>
          </a:solidFill>
          <a:ln w="12700">
            <a:solidFill>
              <a:srgbClr val="D7E3F3"/>
            </a:solidFill>
            <a:prstDash val="solid"/>
          </a:ln>
        </p:spPr>
      </p:sp>
      <p:pic>
        <p:nvPicPr>
          <p:cNvPr id="5" name="Image 0" descr="preencoded.png">    </p:cNvPr>
          <p:cNvPicPr>
            <a:picLocks noChangeAspect="1"/>
          </p:cNvPicPr>
          <p:nvPr/>
        </p:nvPicPr>
        <p:blipFill>
          <a:blip r:embed="rId1"/>
          <a:stretch>
            <a:fillRect/>
          </a:stretch>
        </p:blipFill>
        <p:spPr>
          <a:xfrm>
            <a:off x="649224" y="1499616"/>
            <a:ext cx="256032" cy="256032"/>
          </a:xfrm>
          <a:prstGeom prst="rect">
            <a:avLst/>
          </a:prstGeom>
        </p:spPr>
      </p:pic>
      <p:sp>
        <p:nvSpPr>
          <p:cNvPr id="6" name="Text 3"/>
          <p:cNvSpPr/>
          <p:nvPr/>
        </p:nvSpPr>
        <p:spPr>
          <a:xfrm>
            <a:off x="1005840" y="1463040"/>
            <a:ext cx="4846320" cy="310896"/>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In-App Notification Bugs</a:t>
            </a:r>
            <a:endParaRPr lang="en-US" sz="1200" dirty="0"/>
          </a:p>
        </p:txBody>
      </p:sp>
      <p:sp>
        <p:nvSpPr>
          <p:cNvPr id="7" name="Text 4"/>
          <p:cNvSpPr/>
          <p:nvPr/>
        </p:nvSpPr>
        <p:spPr>
          <a:xfrm>
            <a:off x="649224" y="1810512"/>
            <a:ext cx="5239512" cy="530352"/>
          </a:xfrm>
          <a:prstGeom prst="rect">
            <a:avLst/>
          </a:prstGeom>
          <a:noFill/>
          <a:ln/>
        </p:spPr>
        <p:txBody>
          <a:bodyPr wrap="square" lIns="0" tIns="0" rIns="0" bIns="0" rtlCol="0" anchor="ctr"/>
          <a:lstStyle/>
          <a:p>
            <a:pPr indent="0" marL="0">
              <a:buNone/>
            </a:pPr>
            <a:r>
              <a:rPr lang="en-US" sz="860" b="1" dirty="0">
                <a:solidFill>
                  <a:srgbClr val="C0392B"/>
                </a:solidFill>
                <a:latin typeface="Calibri" pitchFamily="34" charset="0"/>
                <a:ea typeface="Calibri" pitchFamily="34" charset="-122"/>
                <a:cs typeface="Calibri" pitchFamily="34" charset="-120"/>
              </a:rPr>
              <a:t>Problem: </a:t>
            </a:r>
            <a:pPr indent="0" marL="0">
              <a:buNone/>
            </a:pPr>
            <a:r>
              <a:rPr lang="en-US" sz="860" dirty="0">
                <a:solidFill>
                  <a:srgbClr val="5B6B85"/>
                </a:solidFill>
                <a:latin typeface="Calibri" pitchFamily="34" charset="0"/>
                <a:ea typeface="Calibri" pitchFamily="34" charset="-122"/>
                <a:cs typeface="Calibri" pitchFamily="34" charset="-120"/>
              </a:rPr>
              <a:t>isRead serialized incorrectly (Lombok getter naming for boolean fields), plus wrong userId resolution for MEMBER vs TRAINER roles from sessionStorage.</a:t>
            </a:r>
            <a:endParaRPr lang="en-US" sz="860" dirty="0"/>
          </a:p>
        </p:txBody>
      </p:sp>
      <p:sp>
        <p:nvSpPr>
          <p:cNvPr id="8" name="Text 5"/>
          <p:cNvSpPr/>
          <p:nvPr/>
        </p:nvSpPr>
        <p:spPr>
          <a:xfrm>
            <a:off x="649224" y="2322576"/>
            <a:ext cx="5239512" cy="502920"/>
          </a:xfrm>
          <a:prstGeom prst="rect">
            <a:avLst/>
          </a:prstGeom>
          <a:noFill/>
          <a:ln/>
        </p:spPr>
        <p:txBody>
          <a:bodyPr wrap="square" lIns="0" tIns="0" rIns="0" bIns="0" rtlCol="0" anchor="ctr"/>
          <a:lstStyle/>
          <a:p>
            <a:pPr indent="0" marL="0">
              <a:buNone/>
            </a:pPr>
            <a:r>
              <a:rPr lang="en-US" sz="860" b="1" dirty="0">
                <a:solidFill>
                  <a:srgbClr val="1F9D55"/>
                </a:solidFill>
                <a:latin typeface="Calibri" pitchFamily="34" charset="0"/>
                <a:ea typeface="Calibri" pitchFamily="34" charset="-122"/>
                <a:cs typeface="Calibri" pitchFamily="34" charset="-120"/>
              </a:rPr>
              <a:t>Fix: </a:t>
            </a:r>
            <a:pPr indent="0" marL="0">
              <a:buNone/>
            </a:pPr>
            <a:r>
              <a:rPr lang="en-US" sz="860" dirty="0">
                <a:solidFill>
                  <a:srgbClr val="16233B"/>
                </a:solidFill>
                <a:latin typeface="Calibri" pitchFamily="34" charset="0"/>
                <a:ea typeface="Calibri" pitchFamily="34" charset="-122"/>
                <a:cs typeface="Calibri" pitchFamily="34" charset="-120"/>
              </a:rPr>
              <a:t>Fixed Lombok field access + role-aware userId lookup; added a uniqueKey constraint (userId+eventType+referenceId) to prevent duplicate rows.</a:t>
            </a:r>
            <a:endParaRPr lang="en-US" sz="860" dirty="0"/>
          </a:p>
        </p:txBody>
      </p:sp>
      <p:sp>
        <p:nvSpPr>
          <p:cNvPr id="9" name="Shape 6"/>
          <p:cNvSpPr/>
          <p:nvPr/>
        </p:nvSpPr>
        <p:spPr>
          <a:xfrm>
            <a:off x="6217920" y="1371600"/>
            <a:ext cx="5532120" cy="1481328"/>
          </a:xfrm>
          <a:prstGeom prst="roundRect">
            <a:avLst>
              <a:gd name="adj" fmla="val 4321"/>
            </a:avLst>
          </a:prstGeom>
          <a:solidFill>
            <a:srgbClr val="FFFFFF"/>
          </a:solidFill>
          <a:ln w="12700">
            <a:solidFill>
              <a:srgbClr val="D7E3F3"/>
            </a:solidFill>
            <a:prstDash val="solid"/>
          </a:ln>
        </p:spPr>
      </p:sp>
      <p:pic>
        <p:nvPicPr>
          <p:cNvPr id="10" name="Image 1" descr="preencoded.png">    </p:cNvPr>
          <p:cNvPicPr>
            <a:picLocks noChangeAspect="1"/>
          </p:cNvPicPr>
          <p:nvPr/>
        </p:nvPicPr>
        <p:blipFill>
          <a:blip r:embed="rId2"/>
          <a:stretch>
            <a:fillRect/>
          </a:stretch>
        </p:blipFill>
        <p:spPr>
          <a:xfrm>
            <a:off x="6364224" y="1499616"/>
            <a:ext cx="256032" cy="256032"/>
          </a:xfrm>
          <a:prstGeom prst="rect">
            <a:avLst/>
          </a:prstGeom>
        </p:spPr>
      </p:pic>
      <p:sp>
        <p:nvSpPr>
          <p:cNvPr id="11" name="Text 7"/>
          <p:cNvSpPr/>
          <p:nvPr/>
        </p:nvSpPr>
        <p:spPr>
          <a:xfrm>
            <a:off x="6720840" y="1463040"/>
            <a:ext cx="4846320" cy="310896"/>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Docker → Localhost Migration</a:t>
            </a:r>
            <a:endParaRPr lang="en-US" sz="1200" dirty="0"/>
          </a:p>
        </p:txBody>
      </p:sp>
      <p:sp>
        <p:nvSpPr>
          <p:cNvPr id="12" name="Text 8"/>
          <p:cNvSpPr/>
          <p:nvPr/>
        </p:nvSpPr>
        <p:spPr>
          <a:xfrm>
            <a:off x="6364224" y="1810512"/>
            <a:ext cx="5239512" cy="530352"/>
          </a:xfrm>
          <a:prstGeom prst="rect">
            <a:avLst/>
          </a:prstGeom>
          <a:noFill/>
          <a:ln/>
        </p:spPr>
        <p:txBody>
          <a:bodyPr wrap="square" lIns="0" tIns="0" rIns="0" bIns="0" rtlCol="0" anchor="ctr"/>
          <a:lstStyle/>
          <a:p>
            <a:pPr indent="0" marL="0">
              <a:buNone/>
            </a:pPr>
            <a:r>
              <a:rPr lang="en-US" sz="860" b="1" dirty="0">
                <a:solidFill>
                  <a:srgbClr val="C0392B"/>
                </a:solidFill>
                <a:latin typeface="Calibri" pitchFamily="34" charset="0"/>
                <a:ea typeface="Calibri" pitchFamily="34" charset="-122"/>
                <a:cs typeface="Calibri" pitchFamily="34" charset="-120"/>
              </a:rPr>
              <a:t>Problem: </a:t>
            </a:r>
            <a:pPr indent="0" marL="0">
              <a:buNone/>
            </a:pPr>
            <a:r>
              <a:rPr lang="en-US" sz="860" dirty="0">
                <a:solidFill>
                  <a:srgbClr val="5B6B85"/>
                </a:solidFill>
                <a:latin typeface="Calibri" pitchFamily="34" charset="0"/>
                <a:ea typeface="Calibri" pitchFamily="34" charset="-122"/>
                <a:cs typeface="Calibri" pitchFamily="34" charset="-120"/>
              </a:rPr>
              <a:t>Project originally ran as 13 Docker containers with internal DNS between services.</a:t>
            </a:r>
            <a:endParaRPr lang="en-US" sz="860" dirty="0"/>
          </a:p>
        </p:txBody>
      </p:sp>
      <p:sp>
        <p:nvSpPr>
          <p:cNvPr id="13" name="Text 9"/>
          <p:cNvSpPr/>
          <p:nvPr/>
        </p:nvSpPr>
        <p:spPr>
          <a:xfrm>
            <a:off x="6364224" y="2322576"/>
            <a:ext cx="5239512" cy="502920"/>
          </a:xfrm>
          <a:prstGeom prst="rect">
            <a:avLst/>
          </a:prstGeom>
          <a:noFill/>
          <a:ln/>
        </p:spPr>
        <p:txBody>
          <a:bodyPr wrap="square" lIns="0" tIns="0" rIns="0" bIns="0" rtlCol="0" anchor="ctr"/>
          <a:lstStyle/>
          <a:p>
            <a:pPr indent="0" marL="0">
              <a:buNone/>
            </a:pPr>
            <a:r>
              <a:rPr lang="en-US" sz="860" b="1" dirty="0">
                <a:solidFill>
                  <a:srgbClr val="1F9D55"/>
                </a:solidFill>
                <a:latin typeface="Calibri" pitchFamily="34" charset="0"/>
                <a:ea typeface="Calibri" pitchFamily="34" charset="-122"/>
                <a:cs typeface="Calibri" pitchFamily="34" charset="-120"/>
              </a:rPr>
              <a:t>Fix: </a:t>
            </a:r>
            <a:pPr indent="0" marL="0">
              <a:buNone/>
            </a:pPr>
            <a:r>
              <a:rPr lang="en-US" sz="860" dirty="0">
                <a:solidFill>
                  <a:srgbClr val="16233B"/>
                </a:solidFill>
                <a:latin typeface="Calibri" pitchFamily="34" charset="0"/>
                <a:ea typeface="Calibri" pitchFamily="34" charset="-122"/>
                <a:cs typeface="Calibri" pitchFamily="34" charset="-120"/>
              </a:rPr>
              <a:t>Converted every service hostname to localhost:&lt;port&gt;, relying on Eureka for discovery instead of Docker Compose networking — zero code changes to Feign clients.</a:t>
            </a:r>
            <a:endParaRPr lang="en-US" sz="860" dirty="0"/>
          </a:p>
        </p:txBody>
      </p:sp>
      <p:sp>
        <p:nvSpPr>
          <p:cNvPr id="14" name="Shape 10"/>
          <p:cNvSpPr/>
          <p:nvPr/>
        </p:nvSpPr>
        <p:spPr>
          <a:xfrm>
            <a:off x="502920" y="2999232"/>
            <a:ext cx="5532120" cy="1481328"/>
          </a:xfrm>
          <a:prstGeom prst="roundRect">
            <a:avLst>
              <a:gd name="adj" fmla="val 4321"/>
            </a:avLst>
          </a:prstGeom>
          <a:solidFill>
            <a:srgbClr val="FFFFFF"/>
          </a:solidFill>
          <a:ln w="12700">
            <a:solidFill>
              <a:srgbClr val="D7E3F3"/>
            </a:solidFill>
            <a:prstDash val="solid"/>
          </a:ln>
        </p:spPr>
      </p:sp>
      <p:pic>
        <p:nvPicPr>
          <p:cNvPr id="15" name="Image 2" descr="preencoded.png">    </p:cNvPr>
          <p:cNvPicPr>
            <a:picLocks noChangeAspect="1"/>
          </p:cNvPicPr>
          <p:nvPr/>
        </p:nvPicPr>
        <p:blipFill>
          <a:blip r:embed="rId3"/>
          <a:stretch>
            <a:fillRect/>
          </a:stretch>
        </p:blipFill>
        <p:spPr>
          <a:xfrm>
            <a:off x="649224" y="3127248"/>
            <a:ext cx="256032" cy="256032"/>
          </a:xfrm>
          <a:prstGeom prst="rect">
            <a:avLst/>
          </a:prstGeom>
        </p:spPr>
      </p:pic>
      <p:sp>
        <p:nvSpPr>
          <p:cNvPr id="16" name="Text 11"/>
          <p:cNvSpPr/>
          <p:nvPr/>
        </p:nvSpPr>
        <p:spPr>
          <a:xfrm>
            <a:off x="1005840" y="3090672"/>
            <a:ext cx="4846320" cy="310896"/>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RabbitMQ Topology Drift</a:t>
            </a:r>
            <a:endParaRPr lang="en-US" sz="1200" dirty="0"/>
          </a:p>
        </p:txBody>
      </p:sp>
      <p:sp>
        <p:nvSpPr>
          <p:cNvPr id="17" name="Text 12"/>
          <p:cNvSpPr/>
          <p:nvPr/>
        </p:nvSpPr>
        <p:spPr>
          <a:xfrm>
            <a:off x="649224" y="3438144"/>
            <a:ext cx="5239512" cy="530352"/>
          </a:xfrm>
          <a:prstGeom prst="rect">
            <a:avLst/>
          </a:prstGeom>
          <a:noFill/>
          <a:ln/>
        </p:spPr>
        <p:txBody>
          <a:bodyPr wrap="square" lIns="0" tIns="0" rIns="0" bIns="0" rtlCol="0" anchor="ctr"/>
          <a:lstStyle/>
          <a:p>
            <a:pPr indent="0" marL="0">
              <a:buNone/>
            </a:pPr>
            <a:r>
              <a:rPr lang="en-US" sz="860" b="1" dirty="0">
                <a:solidFill>
                  <a:srgbClr val="C0392B"/>
                </a:solidFill>
                <a:latin typeface="Calibri" pitchFamily="34" charset="0"/>
                <a:ea typeface="Calibri" pitchFamily="34" charset="-122"/>
                <a:cs typeface="Calibri" pitchFamily="34" charset="-120"/>
              </a:rPr>
              <a:t>Problem: </a:t>
            </a:r>
            <a:pPr indent="0" marL="0">
              <a:buNone/>
            </a:pPr>
            <a:r>
              <a:rPr lang="en-US" sz="860" dirty="0">
                <a:solidFill>
                  <a:srgbClr val="5B6B85"/>
                </a:solidFill>
                <a:latin typeface="Calibri" pitchFamily="34" charset="0"/>
                <a:ea typeface="Calibri" pitchFamily="34" charset="-122"/>
                <a:cs typeface="Calibri" pitchFamily="34" charset="-120"/>
              </a:rPr>
              <a:t>Three producer services (auth, booking, payment) each duplicate their own RabbitMQConfig — risk of the exchange/queue/routing-key definitions silently diverging.</a:t>
            </a:r>
            <a:endParaRPr lang="en-US" sz="860" dirty="0"/>
          </a:p>
        </p:txBody>
      </p:sp>
      <p:sp>
        <p:nvSpPr>
          <p:cNvPr id="18" name="Text 13"/>
          <p:cNvSpPr/>
          <p:nvPr/>
        </p:nvSpPr>
        <p:spPr>
          <a:xfrm>
            <a:off x="649224" y="3950208"/>
            <a:ext cx="5239512" cy="502920"/>
          </a:xfrm>
          <a:prstGeom prst="rect">
            <a:avLst/>
          </a:prstGeom>
          <a:noFill/>
          <a:ln/>
        </p:spPr>
        <p:txBody>
          <a:bodyPr wrap="square" lIns="0" tIns="0" rIns="0" bIns="0" rtlCol="0" anchor="ctr"/>
          <a:lstStyle/>
          <a:p>
            <a:pPr indent="0" marL="0">
              <a:buNone/>
            </a:pPr>
            <a:r>
              <a:rPr lang="en-US" sz="860" b="1" dirty="0">
                <a:solidFill>
                  <a:srgbClr val="1F9D55"/>
                </a:solidFill>
                <a:latin typeface="Calibri" pitchFamily="34" charset="0"/>
                <a:ea typeface="Calibri" pitchFamily="34" charset="-122"/>
                <a:cs typeface="Calibri" pitchFamily="34" charset="-120"/>
              </a:rPr>
              <a:t>Fix: </a:t>
            </a:r>
            <a:pPr indent="0" marL="0">
              <a:buNone/>
            </a:pPr>
            <a:r>
              <a:rPr lang="en-US" sz="860" dirty="0">
                <a:solidFill>
                  <a:srgbClr val="16233B"/>
                </a:solidFill>
                <a:latin typeface="Calibri" pitchFamily="34" charset="0"/>
                <a:ea typeface="Calibri" pitchFamily="34" charset="-122"/>
                <a:cs typeface="Calibri" pitchFamily="34" charset="-120"/>
              </a:rPr>
              <a:t>Audited all four RabbitMQConfig.java copies side-by-side to confirm identical EXCHANGE/QUEUE/ROUTING_KEY constants; documented plan-service's deliberate Feign-based exception.</a:t>
            </a:r>
            <a:endParaRPr lang="en-US" sz="860" dirty="0"/>
          </a:p>
        </p:txBody>
      </p:sp>
      <p:sp>
        <p:nvSpPr>
          <p:cNvPr id="19" name="Shape 14"/>
          <p:cNvSpPr/>
          <p:nvPr/>
        </p:nvSpPr>
        <p:spPr>
          <a:xfrm>
            <a:off x="6217920" y="2999232"/>
            <a:ext cx="5532120" cy="1481328"/>
          </a:xfrm>
          <a:prstGeom prst="roundRect">
            <a:avLst>
              <a:gd name="adj" fmla="val 4321"/>
            </a:avLst>
          </a:prstGeom>
          <a:solidFill>
            <a:srgbClr val="FFFFFF"/>
          </a:solidFill>
          <a:ln w="12700">
            <a:solidFill>
              <a:srgbClr val="D7E3F3"/>
            </a:solidFill>
            <a:prstDash val="solid"/>
          </a:ln>
        </p:spPr>
      </p:sp>
      <p:pic>
        <p:nvPicPr>
          <p:cNvPr id="20" name="Image 3" descr="preencoded.png">    </p:cNvPr>
          <p:cNvPicPr>
            <a:picLocks noChangeAspect="1"/>
          </p:cNvPicPr>
          <p:nvPr/>
        </p:nvPicPr>
        <p:blipFill>
          <a:blip r:embed="rId4"/>
          <a:stretch>
            <a:fillRect/>
          </a:stretch>
        </p:blipFill>
        <p:spPr>
          <a:xfrm>
            <a:off x="6364224" y="3127248"/>
            <a:ext cx="256032" cy="256032"/>
          </a:xfrm>
          <a:prstGeom prst="rect">
            <a:avLst/>
          </a:prstGeom>
        </p:spPr>
      </p:pic>
      <p:sp>
        <p:nvSpPr>
          <p:cNvPr id="21" name="Text 15"/>
          <p:cNvSpPr/>
          <p:nvPr/>
        </p:nvSpPr>
        <p:spPr>
          <a:xfrm>
            <a:off x="6720840" y="3090672"/>
            <a:ext cx="4846320" cy="310896"/>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Chatbot Provider Migration</a:t>
            </a:r>
            <a:endParaRPr lang="en-US" sz="1200" dirty="0"/>
          </a:p>
        </p:txBody>
      </p:sp>
      <p:sp>
        <p:nvSpPr>
          <p:cNvPr id="22" name="Text 16"/>
          <p:cNvSpPr/>
          <p:nvPr/>
        </p:nvSpPr>
        <p:spPr>
          <a:xfrm>
            <a:off x="6364224" y="3438144"/>
            <a:ext cx="5239512" cy="530352"/>
          </a:xfrm>
          <a:prstGeom prst="rect">
            <a:avLst/>
          </a:prstGeom>
          <a:noFill/>
          <a:ln/>
        </p:spPr>
        <p:txBody>
          <a:bodyPr wrap="square" lIns="0" tIns="0" rIns="0" bIns="0" rtlCol="0" anchor="ctr"/>
          <a:lstStyle/>
          <a:p>
            <a:pPr indent="0" marL="0">
              <a:buNone/>
            </a:pPr>
            <a:r>
              <a:rPr lang="en-US" sz="860" b="1" dirty="0">
                <a:solidFill>
                  <a:srgbClr val="C0392B"/>
                </a:solidFill>
                <a:latin typeface="Calibri" pitchFamily="34" charset="0"/>
                <a:ea typeface="Calibri" pitchFamily="34" charset="-122"/>
                <a:cs typeface="Calibri" pitchFamily="34" charset="-120"/>
              </a:rPr>
              <a:t>Problem: </a:t>
            </a:r>
            <a:pPr indent="0" marL="0">
              <a:buNone/>
            </a:pPr>
            <a:r>
              <a:rPr lang="en-US" sz="860" dirty="0">
                <a:solidFill>
                  <a:srgbClr val="5B6B85"/>
                </a:solidFill>
                <a:latin typeface="Calibri" pitchFamily="34" charset="0"/>
                <a:ea typeface="Calibri" pitchFamily="34" charset="-122"/>
                <a:cs typeface="Calibri" pitchFamily="34" charset="-120"/>
              </a:rPr>
              <a:t>Chatbot originally built against Groq/OpenAI's chat-completion API and role convention.</a:t>
            </a:r>
            <a:endParaRPr lang="en-US" sz="860" dirty="0"/>
          </a:p>
        </p:txBody>
      </p:sp>
      <p:sp>
        <p:nvSpPr>
          <p:cNvPr id="23" name="Text 17"/>
          <p:cNvSpPr/>
          <p:nvPr/>
        </p:nvSpPr>
        <p:spPr>
          <a:xfrm>
            <a:off x="6364224" y="3950208"/>
            <a:ext cx="5239512" cy="502920"/>
          </a:xfrm>
          <a:prstGeom prst="rect">
            <a:avLst/>
          </a:prstGeom>
          <a:noFill/>
          <a:ln/>
        </p:spPr>
        <p:txBody>
          <a:bodyPr wrap="square" lIns="0" tIns="0" rIns="0" bIns="0" rtlCol="0" anchor="ctr"/>
          <a:lstStyle/>
          <a:p>
            <a:pPr indent="0" marL="0">
              <a:buNone/>
            </a:pPr>
            <a:r>
              <a:rPr lang="en-US" sz="860" b="1" dirty="0">
                <a:solidFill>
                  <a:srgbClr val="1F9D55"/>
                </a:solidFill>
                <a:latin typeface="Calibri" pitchFamily="34" charset="0"/>
                <a:ea typeface="Calibri" pitchFamily="34" charset="-122"/>
                <a:cs typeface="Calibri" pitchFamily="34" charset="-120"/>
              </a:rPr>
              <a:t>Fix: </a:t>
            </a:r>
            <a:pPr indent="0" marL="0">
              <a:buNone/>
            </a:pPr>
            <a:r>
              <a:rPr lang="en-US" sz="860" dirty="0">
                <a:solidFill>
                  <a:srgbClr val="16233B"/>
                </a:solidFill>
                <a:latin typeface="Calibri" pitchFamily="34" charset="0"/>
                <a:ea typeface="Calibri" pitchFamily="34" charset="-122"/>
                <a:cs typeface="Calibri" pitchFamily="34" charset="-120"/>
              </a:rPr>
              <a:t>Migrated ChatbotService + GeminiConfig to Gemini's generateContent endpoint, remapping OpenAI's "assistant" role to Gemini's "model" role in conversation history.</a:t>
            </a:r>
            <a:endParaRPr lang="en-US" sz="860" dirty="0"/>
          </a:p>
        </p:txBody>
      </p:sp>
      <p:sp>
        <p:nvSpPr>
          <p:cNvPr id="24" name="Shape 18"/>
          <p:cNvSpPr/>
          <p:nvPr/>
        </p:nvSpPr>
        <p:spPr>
          <a:xfrm>
            <a:off x="502920" y="4626864"/>
            <a:ext cx="5532120" cy="1481328"/>
          </a:xfrm>
          <a:prstGeom prst="roundRect">
            <a:avLst>
              <a:gd name="adj" fmla="val 4321"/>
            </a:avLst>
          </a:prstGeom>
          <a:solidFill>
            <a:srgbClr val="FFFFFF"/>
          </a:solidFill>
          <a:ln w="12700">
            <a:solidFill>
              <a:srgbClr val="D7E3F3"/>
            </a:solidFill>
            <a:prstDash val="solid"/>
          </a:ln>
        </p:spPr>
      </p:sp>
      <p:pic>
        <p:nvPicPr>
          <p:cNvPr id="25" name="Image 4" descr="preencoded.png">    </p:cNvPr>
          <p:cNvPicPr>
            <a:picLocks noChangeAspect="1"/>
          </p:cNvPicPr>
          <p:nvPr/>
        </p:nvPicPr>
        <p:blipFill>
          <a:blip r:embed="rId5"/>
          <a:stretch>
            <a:fillRect/>
          </a:stretch>
        </p:blipFill>
        <p:spPr>
          <a:xfrm>
            <a:off x="649224" y="4754880"/>
            <a:ext cx="256032" cy="256032"/>
          </a:xfrm>
          <a:prstGeom prst="rect">
            <a:avLst/>
          </a:prstGeom>
        </p:spPr>
      </p:pic>
      <p:sp>
        <p:nvSpPr>
          <p:cNvPr id="26" name="Text 19"/>
          <p:cNvSpPr/>
          <p:nvPr/>
        </p:nvSpPr>
        <p:spPr>
          <a:xfrm>
            <a:off x="1005840" y="4718304"/>
            <a:ext cx="4846320" cy="310896"/>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React Hook Ordering</a:t>
            </a:r>
            <a:endParaRPr lang="en-US" sz="1200" dirty="0"/>
          </a:p>
        </p:txBody>
      </p:sp>
      <p:sp>
        <p:nvSpPr>
          <p:cNvPr id="27" name="Text 20"/>
          <p:cNvSpPr/>
          <p:nvPr/>
        </p:nvSpPr>
        <p:spPr>
          <a:xfrm>
            <a:off x="649224" y="5065776"/>
            <a:ext cx="5239512" cy="530352"/>
          </a:xfrm>
          <a:prstGeom prst="rect">
            <a:avLst/>
          </a:prstGeom>
          <a:noFill/>
          <a:ln/>
        </p:spPr>
        <p:txBody>
          <a:bodyPr wrap="square" lIns="0" tIns="0" rIns="0" bIns="0" rtlCol="0" anchor="ctr"/>
          <a:lstStyle/>
          <a:p>
            <a:pPr indent="0" marL="0">
              <a:buNone/>
            </a:pPr>
            <a:r>
              <a:rPr lang="en-US" sz="860" b="1" dirty="0">
                <a:solidFill>
                  <a:srgbClr val="C0392B"/>
                </a:solidFill>
                <a:latin typeface="Calibri" pitchFamily="34" charset="0"/>
                <a:ea typeface="Calibri" pitchFamily="34" charset="-122"/>
                <a:cs typeface="Calibri" pitchFamily="34" charset="-120"/>
              </a:rPr>
              <a:t>Problem: </a:t>
            </a:r>
            <a:pPr indent="0" marL="0">
              <a:buNone/>
            </a:pPr>
            <a:r>
              <a:rPr lang="en-US" sz="860" dirty="0">
                <a:solidFill>
                  <a:srgbClr val="5B6B85"/>
                </a:solidFill>
                <a:latin typeface="Calibri" pitchFamily="34" charset="0"/>
                <a:ea typeface="Calibri" pitchFamily="34" charset="-122"/>
                <a:cs typeface="Calibri" pitchFamily="34" charset="-120"/>
              </a:rPr>
              <a:t>ChatbotWidget.jsx violated the Rules of Hooks with conditional hook calls, causing intermittent render errors.</a:t>
            </a:r>
            <a:endParaRPr lang="en-US" sz="860" dirty="0"/>
          </a:p>
        </p:txBody>
      </p:sp>
      <p:sp>
        <p:nvSpPr>
          <p:cNvPr id="28" name="Text 21"/>
          <p:cNvSpPr/>
          <p:nvPr/>
        </p:nvSpPr>
        <p:spPr>
          <a:xfrm>
            <a:off x="649224" y="5577840"/>
            <a:ext cx="5239512" cy="502920"/>
          </a:xfrm>
          <a:prstGeom prst="rect">
            <a:avLst/>
          </a:prstGeom>
          <a:noFill/>
          <a:ln/>
        </p:spPr>
        <p:txBody>
          <a:bodyPr wrap="square" lIns="0" tIns="0" rIns="0" bIns="0" rtlCol="0" anchor="ctr"/>
          <a:lstStyle/>
          <a:p>
            <a:pPr indent="0" marL="0">
              <a:buNone/>
            </a:pPr>
            <a:r>
              <a:rPr lang="en-US" sz="860" b="1" dirty="0">
                <a:solidFill>
                  <a:srgbClr val="1F9D55"/>
                </a:solidFill>
                <a:latin typeface="Calibri" pitchFamily="34" charset="0"/>
                <a:ea typeface="Calibri" pitchFamily="34" charset="-122"/>
                <a:cs typeface="Calibri" pitchFamily="34" charset="-120"/>
              </a:rPr>
              <a:t>Fix: </a:t>
            </a:r>
            <a:pPr indent="0" marL="0">
              <a:buNone/>
            </a:pPr>
            <a:r>
              <a:rPr lang="en-US" sz="860" dirty="0">
                <a:solidFill>
                  <a:srgbClr val="16233B"/>
                </a:solidFill>
                <a:latin typeface="Calibri" pitchFamily="34" charset="0"/>
                <a:ea typeface="Calibri" pitchFamily="34" charset="-122"/>
                <a:cs typeface="Calibri" pitchFamily="34" charset="-120"/>
              </a:rPr>
              <a:t>Reordered all useState/useEffect calls to the top of the component, unconditionally, before any early return.</a:t>
            </a:r>
            <a:endParaRPr lang="en-US" sz="860" dirty="0"/>
          </a:p>
        </p:txBody>
      </p:sp>
      <p:sp>
        <p:nvSpPr>
          <p:cNvPr id="29" name="Shape 22"/>
          <p:cNvSpPr/>
          <p:nvPr/>
        </p:nvSpPr>
        <p:spPr>
          <a:xfrm>
            <a:off x="6217920" y="4626864"/>
            <a:ext cx="5532120" cy="1481328"/>
          </a:xfrm>
          <a:prstGeom prst="roundRect">
            <a:avLst>
              <a:gd name="adj" fmla="val 4321"/>
            </a:avLst>
          </a:prstGeom>
          <a:solidFill>
            <a:srgbClr val="FFFFFF"/>
          </a:solidFill>
          <a:ln w="12700">
            <a:solidFill>
              <a:srgbClr val="D7E3F3"/>
            </a:solidFill>
            <a:prstDash val="solid"/>
          </a:ln>
        </p:spPr>
      </p:sp>
      <p:pic>
        <p:nvPicPr>
          <p:cNvPr id="30" name="Image 5" descr="preencoded.png">    </p:cNvPr>
          <p:cNvPicPr>
            <a:picLocks noChangeAspect="1"/>
          </p:cNvPicPr>
          <p:nvPr/>
        </p:nvPicPr>
        <p:blipFill>
          <a:blip r:embed="rId6"/>
          <a:stretch>
            <a:fillRect/>
          </a:stretch>
        </p:blipFill>
        <p:spPr>
          <a:xfrm>
            <a:off x="6364224" y="4754880"/>
            <a:ext cx="256032" cy="256032"/>
          </a:xfrm>
          <a:prstGeom prst="rect">
            <a:avLst/>
          </a:prstGeom>
        </p:spPr>
      </p:pic>
      <p:sp>
        <p:nvSpPr>
          <p:cNvPr id="31" name="Text 23"/>
          <p:cNvSpPr/>
          <p:nvPr/>
        </p:nvSpPr>
        <p:spPr>
          <a:xfrm>
            <a:off x="6720840" y="4718304"/>
            <a:ext cx="4846320" cy="310896"/>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Windows RabbitMQ/Erlang Setup</a:t>
            </a:r>
            <a:endParaRPr lang="en-US" sz="1200" dirty="0"/>
          </a:p>
        </p:txBody>
      </p:sp>
      <p:sp>
        <p:nvSpPr>
          <p:cNvPr id="32" name="Text 24"/>
          <p:cNvSpPr/>
          <p:nvPr/>
        </p:nvSpPr>
        <p:spPr>
          <a:xfrm>
            <a:off x="6364224" y="5065776"/>
            <a:ext cx="5239512" cy="530352"/>
          </a:xfrm>
          <a:prstGeom prst="rect">
            <a:avLst/>
          </a:prstGeom>
          <a:noFill/>
          <a:ln/>
        </p:spPr>
        <p:txBody>
          <a:bodyPr wrap="square" lIns="0" tIns="0" rIns="0" bIns="0" rtlCol="0" anchor="ctr"/>
          <a:lstStyle/>
          <a:p>
            <a:pPr indent="0" marL="0">
              <a:buNone/>
            </a:pPr>
            <a:r>
              <a:rPr lang="en-US" sz="860" b="1" dirty="0">
                <a:solidFill>
                  <a:srgbClr val="C0392B"/>
                </a:solidFill>
                <a:latin typeface="Calibri" pitchFamily="34" charset="0"/>
                <a:ea typeface="Calibri" pitchFamily="34" charset="-122"/>
                <a:cs typeface="Calibri" pitchFamily="34" charset="-120"/>
              </a:rPr>
              <a:t>Problem: </a:t>
            </a:r>
            <a:pPr indent="0" marL="0">
              <a:buNone/>
            </a:pPr>
            <a:r>
              <a:rPr lang="en-US" sz="860" dirty="0">
                <a:solidFill>
                  <a:srgbClr val="5B6B85"/>
                </a:solidFill>
                <a:latin typeface="Calibri" pitchFamily="34" charset="0"/>
                <a:ea typeface="Calibri" pitchFamily="34" charset="-122"/>
                <a:cs typeface="Calibri" pitchFamily="34" charset="-120"/>
              </a:rPr>
              <a:t>RabbitMQ and Erlang version incompatibilities blocked local broker startup on Windows.</a:t>
            </a:r>
            <a:endParaRPr lang="en-US" sz="860" dirty="0"/>
          </a:p>
        </p:txBody>
      </p:sp>
      <p:sp>
        <p:nvSpPr>
          <p:cNvPr id="33" name="Text 25"/>
          <p:cNvSpPr/>
          <p:nvPr/>
        </p:nvSpPr>
        <p:spPr>
          <a:xfrm>
            <a:off x="6364224" y="5577840"/>
            <a:ext cx="5239512" cy="502920"/>
          </a:xfrm>
          <a:prstGeom prst="rect">
            <a:avLst/>
          </a:prstGeom>
          <a:noFill/>
          <a:ln/>
        </p:spPr>
        <p:txBody>
          <a:bodyPr wrap="square" lIns="0" tIns="0" rIns="0" bIns="0" rtlCol="0" anchor="ctr"/>
          <a:lstStyle/>
          <a:p>
            <a:pPr indent="0" marL="0">
              <a:buNone/>
            </a:pPr>
            <a:r>
              <a:rPr lang="en-US" sz="860" b="1" dirty="0">
                <a:solidFill>
                  <a:srgbClr val="1F9D55"/>
                </a:solidFill>
                <a:latin typeface="Calibri" pitchFamily="34" charset="0"/>
                <a:ea typeface="Calibri" pitchFamily="34" charset="-122"/>
                <a:cs typeface="Calibri" pitchFamily="34" charset="-120"/>
              </a:rPr>
              <a:t>Fix: </a:t>
            </a:r>
            <a:pPr indent="0" marL="0">
              <a:buNone/>
            </a:pPr>
            <a:r>
              <a:rPr lang="en-US" sz="860" dirty="0">
                <a:solidFill>
                  <a:srgbClr val="16233B"/>
                </a:solidFill>
                <a:latin typeface="Calibri" pitchFamily="34" charset="0"/>
                <a:ea typeface="Calibri" pitchFamily="34" charset="-122"/>
                <a:cs typeface="Calibri" pitchFamily="34" charset="-120"/>
              </a:rPr>
              <a:t>Standardized on RabbitMQ 4.1.4 with Erlang 27.3.3, the confirmed compatible pairing.</a:t>
            </a:r>
            <a:endParaRPr lang="en-US" sz="860" dirty="0"/>
          </a:p>
        </p:txBody>
      </p:sp>
      <p:sp>
        <p:nvSpPr>
          <p:cNvPr id="34" name="Text 26"/>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35" name="Text 27"/>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Project Challenges</a:t>
            </a:r>
            <a:endParaRPr lang="en-US" sz="900" dirty="0"/>
          </a:p>
        </p:txBody>
      </p:sp>
      <p:sp>
        <p:nvSpPr>
          <p:cNvPr id="36" name="Text 28"/>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DESIGN PATTERNS</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Patterns Applied Throughout GymPro</a:t>
            </a:r>
            <a:endParaRPr lang="en-US" sz="2800" dirty="0"/>
          </a:p>
        </p:txBody>
      </p:sp>
      <p:sp>
        <p:nvSpPr>
          <p:cNvPr id="4" name="Shape 2"/>
          <p:cNvSpPr/>
          <p:nvPr/>
        </p:nvSpPr>
        <p:spPr>
          <a:xfrm>
            <a:off x="502920" y="1371600"/>
            <a:ext cx="3639312" cy="1572768"/>
          </a:xfrm>
          <a:prstGeom prst="roundRect">
            <a:avLst>
              <a:gd name="adj" fmla="val 4070"/>
            </a:avLst>
          </a:prstGeom>
          <a:solidFill>
            <a:srgbClr val="FFFFFF"/>
          </a:solidFill>
          <a:ln w="12700">
            <a:solidFill>
              <a:srgbClr val="D7E3F3"/>
            </a:solidFill>
            <a:prstDash val="solid"/>
          </a:ln>
        </p:spPr>
      </p:sp>
      <p:sp>
        <p:nvSpPr>
          <p:cNvPr id="5" name="Shape 3"/>
          <p:cNvSpPr/>
          <p:nvPr/>
        </p:nvSpPr>
        <p:spPr>
          <a:xfrm>
            <a:off x="685800" y="1536192"/>
            <a:ext cx="457200" cy="457200"/>
          </a:xfrm>
          <a:prstGeom prst="ellipse">
            <a:avLst/>
          </a:prstGeom>
          <a:solidFill>
            <a:srgbClr val="EAF2FB"/>
          </a:solidFill>
          <a:ln/>
        </p:spPr>
      </p:sp>
      <p:pic>
        <p:nvPicPr>
          <p:cNvPr id="6" name="Image 0" descr="preencoded.png">    </p:cNvPr>
          <p:cNvPicPr>
            <a:picLocks noChangeAspect="1"/>
          </p:cNvPicPr>
          <p:nvPr/>
        </p:nvPicPr>
        <p:blipFill>
          <a:blip r:embed="rId1"/>
          <a:stretch>
            <a:fillRect/>
          </a:stretch>
        </p:blipFill>
        <p:spPr>
          <a:xfrm>
            <a:off x="804672" y="1655064"/>
            <a:ext cx="219456" cy="219456"/>
          </a:xfrm>
          <a:prstGeom prst="rect">
            <a:avLst/>
          </a:prstGeom>
        </p:spPr>
      </p:pic>
      <p:sp>
        <p:nvSpPr>
          <p:cNvPr id="7" name="Text 4"/>
          <p:cNvSpPr/>
          <p:nvPr/>
        </p:nvSpPr>
        <p:spPr>
          <a:xfrm>
            <a:off x="685800" y="2057400"/>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Repository Pattern</a:t>
            </a:r>
            <a:endParaRPr lang="en-US" sz="1200" dirty="0"/>
          </a:p>
        </p:txBody>
      </p:sp>
      <p:sp>
        <p:nvSpPr>
          <p:cNvPr id="8" name="Text 5"/>
          <p:cNvSpPr/>
          <p:nvPr/>
        </p:nvSpPr>
        <p:spPr>
          <a:xfrm>
            <a:off x="685800" y="2359152"/>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Every service's *Repository extends JpaRepository&lt;Entity, Long&gt; — abstracts persistence from BookingService, PaymentService, etc.</a:t>
            </a:r>
            <a:endParaRPr lang="en-US" sz="900" dirty="0"/>
          </a:p>
        </p:txBody>
      </p:sp>
      <p:sp>
        <p:nvSpPr>
          <p:cNvPr id="9" name="Shape 6"/>
          <p:cNvSpPr/>
          <p:nvPr/>
        </p:nvSpPr>
        <p:spPr>
          <a:xfrm>
            <a:off x="4398264" y="1371600"/>
            <a:ext cx="3639312" cy="1572768"/>
          </a:xfrm>
          <a:prstGeom prst="roundRect">
            <a:avLst>
              <a:gd name="adj" fmla="val 4070"/>
            </a:avLst>
          </a:prstGeom>
          <a:solidFill>
            <a:srgbClr val="FFFFFF"/>
          </a:solidFill>
          <a:ln w="12700">
            <a:solidFill>
              <a:srgbClr val="D7E3F3"/>
            </a:solidFill>
            <a:prstDash val="solid"/>
          </a:ln>
        </p:spPr>
      </p:sp>
      <p:sp>
        <p:nvSpPr>
          <p:cNvPr id="10" name="Shape 7"/>
          <p:cNvSpPr/>
          <p:nvPr/>
        </p:nvSpPr>
        <p:spPr>
          <a:xfrm>
            <a:off x="4581144" y="1536192"/>
            <a:ext cx="457200" cy="457200"/>
          </a:xfrm>
          <a:prstGeom prst="ellipse">
            <a:avLst/>
          </a:prstGeom>
          <a:solidFill>
            <a:srgbClr val="EAF2FB"/>
          </a:solidFill>
          <a:ln/>
        </p:spPr>
      </p:sp>
      <p:pic>
        <p:nvPicPr>
          <p:cNvPr id="11" name="Image 1" descr="preencoded.png">    </p:cNvPr>
          <p:cNvPicPr>
            <a:picLocks noChangeAspect="1"/>
          </p:cNvPicPr>
          <p:nvPr/>
        </p:nvPicPr>
        <p:blipFill>
          <a:blip r:embed="rId2"/>
          <a:stretch>
            <a:fillRect/>
          </a:stretch>
        </p:blipFill>
        <p:spPr>
          <a:xfrm>
            <a:off x="4700016" y="1655064"/>
            <a:ext cx="219456" cy="219456"/>
          </a:xfrm>
          <a:prstGeom prst="rect">
            <a:avLst/>
          </a:prstGeom>
        </p:spPr>
      </p:pic>
      <p:sp>
        <p:nvSpPr>
          <p:cNvPr id="12" name="Text 8"/>
          <p:cNvSpPr/>
          <p:nvPr/>
        </p:nvSpPr>
        <p:spPr>
          <a:xfrm>
            <a:off x="4581144" y="2057400"/>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Dependency Injection</a:t>
            </a:r>
            <a:endParaRPr lang="en-US" sz="1200" dirty="0"/>
          </a:p>
        </p:txBody>
      </p:sp>
      <p:sp>
        <p:nvSpPr>
          <p:cNvPr id="13" name="Text 9"/>
          <p:cNvSpPr/>
          <p:nvPr/>
        </p:nvSpPr>
        <p:spPr>
          <a:xfrm>
            <a:off x="4581144" y="2359152"/>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@Autowired field injection throughout — Spring IoC container wires services, repositories, and Feign clients.</a:t>
            </a:r>
            <a:endParaRPr lang="en-US" sz="900" dirty="0"/>
          </a:p>
        </p:txBody>
      </p:sp>
      <p:sp>
        <p:nvSpPr>
          <p:cNvPr id="14" name="Shape 10"/>
          <p:cNvSpPr/>
          <p:nvPr/>
        </p:nvSpPr>
        <p:spPr>
          <a:xfrm>
            <a:off x="8293608" y="1371600"/>
            <a:ext cx="3639312" cy="1572768"/>
          </a:xfrm>
          <a:prstGeom prst="roundRect">
            <a:avLst>
              <a:gd name="adj" fmla="val 4070"/>
            </a:avLst>
          </a:prstGeom>
          <a:solidFill>
            <a:srgbClr val="FFFFFF"/>
          </a:solidFill>
          <a:ln w="12700">
            <a:solidFill>
              <a:srgbClr val="D7E3F3"/>
            </a:solidFill>
            <a:prstDash val="solid"/>
          </a:ln>
        </p:spPr>
      </p:sp>
      <p:sp>
        <p:nvSpPr>
          <p:cNvPr id="15" name="Shape 11"/>
          <p:cNvSpPr/>
          <p:nvPr/>
        </p:nvSpPr>
        <p:spPr>
          <a:xfrm>
            <a:off x="8476488" y="1536192"/>
            <a:ext cx="457200" cy="457200"/>
          </a:xfrm>
          <a:prstGeom prst="ellipse">
            <a:avLst/>
          </a:prstGeom>
          <a:solidFill>
            <a:srgbClr val="EAF2FB"/>
          </a:solidFill>
          <a:ln/>
        </p:spPr>
      </p:sp>
      <p:pic>
        <p:nvPicPr>
          <p:cNvPr id="16" name="Image 2" descr="preencoded.png">    </p:cNvPr>
          <p:cNvPicPr>
            <a:picLocks noChangeAspect="1"/>
          </p:cNvPicPr>
          <p:nvPr/>
        </p:nvPicPr>
        <p:blipFill>
          <a:blip r:embed="rId3"/>
          <a:stretch>
            <a:fillRect/>
          </a:stretch>
        </p:blipFill>
        <p:spPr>
          <a:xfrm>
            <a:off x="8595360" y="1655064"/>
            <a:ext cx="219456" cy="219456"/>
          </a:xfrm>
          <a:prstGeom prst="rect">
            <a:avLst/>
          </a:prstGeom>
        </p:spPr>
      </p:pic>
      <p:sp>
        <p:nvSpPr>
          <p:cNvPr id="17" name="Text 12"/>
          <p:cNvSpPr/>
          <p:nvPr/>
        </p:nvSpPr>
        <p:spPr>
          <a:xfrm>
            <a:off x="8476488" y="2057400"/>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DTO Pattern</a:t>
            </a:r>
            <a:endParaRPr lang="en-US" sz="1200" dirty="0"/>
          </a:p>
        </p:txBody>
      </p:sp>
      <p:sp>
        <p:nvSpPr>
          <p:cNvPr id="18" name="Text 13"/>
          <p:cNvSpPr/>
          <p:nvPr/>
        </p:nvSpPr>
        <p:spPr>
          <a:xfrm>
            <a:off x="8476488" y="2359152"/>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BookingRequest / BookingResponse / PaymentRequest decouple the wire format from JPA entities.</a:t>
            </a:r>
            <a:endParaRPr lang="en-US" sz="900" dirty="0"/>
          </a:p>
        </p:txBody>
      </p:sp>
      <p:sp>
        <p:nvSpPr>
          <p:cNvPr id="19" name="Shape 14"/>
          <p:cNvSpPr/>
          <p:nvPr/>
        </p:nvSpPr>
        <p:spPr>
          <a:xfrm>
            <a:off x="502920" y="3127248"/>
            <a:ext cx="3639312" cy="1572768"/>
          </a:xfrm>
          <a:prstGeom prst="roundRect">
            <a:avLst>
              <a:gd name="adj" fmla="val 4070"/>
            </a:avLst>
          </a:prstGeom>
          <a:solidFill>
            <a:srgbClr val="FFFFFF"/>
          </a:solidFill>
          <a:ln w="12700">
            <a:solidFill>
              <a:srgbClr val="D7E3F3"/>
            </a:solidFill>
            <a:prstDash val="solid"/>
          </a:ln>
        </p:spPr>
      </p:sp>
      <p:sp>
        <p:nvSpPr>
          <p:cNvPr id="20" name="Shape 15"/>
          <p:cNvSpPr/>
          <p:nvPr/>
        </p:nvSpPr>
        <p:spPr>
          <a:xfrm>
            <a:off x="685800" y="3291840"/>
            <a:ext cx="457200" cy="457200"/>
          </a:xfrm>
          <a:prstGeom prst="ellipse">
            <a:avLst/>
          </a:prstGeom>
          <a:solidFill>
            <a:srgbClr val="EAF2FB"/>
          </a:solidFill>
          <a:ln/>
        </p:spPr>
      </p:sp>
      <p:pic>
        <p:nvPicPr>
          <p:cNvPr id="21" name="Image 3" descr="preencoded.png">    </p:cNvPr>
          <p:cNvPicPr>
            <a:picLocks noChangeAspect="1"/>
          </p:cNvPicPr>
          <p:nvPr/>
        </p:nvPicPr>
        <p:blipFill>
          <a:blip r:embed="rId4"/>
          <a:stretch>
            <a:fillRect/>
          </a:stretch>
        </p:blipFill>
        <p:spPr>
          <a:xfrm>
            <a:off x="804672" y="3410712"/>
            <a:ext cx="219456" cy="219456"/>
          </a:xfrm>
          <a:prstGeom prst="rect">
            <a:avLst/>
          </a:prstGeom>
        </p:spPr>
      </p:pic>
      <p:sp>
        <p:nvSpPr>
          <p:cNvPr id="22" name="Text 16"/>
          <p:cNvSpPr/>
          <p:nvPr/>
        </p:nvSpPr>
        <p:spPr>
          <a:xfrm>
            <a:off x="685800" y="3813048"/>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Proxy Pattern</a:t>
            </a:r>
            <a:endParaRPr lang="en-US" sz="1200" dirty="0"/>
          </a:p>
        </p:txBody>
      </p:sp>
      <p:sp>
        <p:nvSpPr>
          <p:cNvPr id="23" name="Text 17"/>
          <p:cNvSpPr/>
          <p:nvPr/>
        </p:nvSpPr>
        <p:spPr>
          <a:xfrm>
            <a:off x="685800" y="4114800"/>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OpenFeign generates dynamic proxies for TrainerServiceClient, PlanServiceClient, NotificationClient interfaces at runtime.</a:t>
            </a:r>
            <a:endParaRPr lang="en-US" sz="900" dirty="0"/>
          </a:p>
        </p:txBody>
      </p:sp>
      <p:sp>
        <p:nvSpPr>
          <p:cNvPr id="24" name="Shape 18"/>
          <p:cNvSpPr/>
          <p:nvPr/>
        </p:nvSpPr>
        <p:spPr>
          <a:xfrm>
            <a:off x="4398264" y="3127248"/>
            <a:ext cx="3639312" cy="1572768"/>
          </a:xfrm>
          <a:prstGeom prst="roundRect">
            <a:avLst>
              <a:gd name="adj" fmla="val 4070"/>
            </a:avLst>
          </a:prstGeom>
          <a:solidFill>
            <a:srgbClr val="FFFFFF"/>
          </a:solidFill>
          <a:ln w="12700">
            <a:solidFill>
              <a:srgbClr val="D7E3F3"/>
            </a:solidFill>
            <a:prstDash val="solid"/>
          </a:ln>
        </p:spPr>
      </p:sp>
      <p:sp>
        <p:nvSpPr>
          <p:cNvPr id="25" name="Shape 19"/>
          <p:cNvSpPr/>
          <p:nvPr/>
        </p:nvSpPr>
        <p:spPr>
          <a:xfrm>
            <a:off x="4581144" y="3291840"/>
            <a:ext cx="457200" cy="457200"/>
          </a:xfrm>
          <a:prstGeom prst="ellipse">
            <a:avLst/>
          </a:prstGeom>
          <a:solidFill>
            <a:srgbClr val="EAF2FB"/>
          </a:solidFill>
          <a:ln/>
        </p:spPr>
      </p:sp>
      <p:pic>
        <p:nvPicPr>
          <p:cNvPr id="26" name="Image 4" descr="preencoded.png">    </p:cNvPr>
          <p:cNvPicPr>
            <a:picLocks noChangeAspect="1"/>
          </p:cNvPicPr>
          <p:nvPr/>
        </p:nvPicPr>
        <p:blipFill>
          <a:blip r:embed="rId5"/>
          <a:stretch>
            <a:fillRect/>
          </a:stretch>
        </p:blipFill>
        <p:spPr>
          <a:xfrm>
            <a:off x="4700016" y="3410712"/>
            <a:ext cx="219456" cy="219456"/>
          </a:xfrm>
          <a:prstGeom prst="rect">
            <a:avLst/>
          </a:prstGeom>
        </p:spPr>
      </p:pic>
      <p:sp>
        <p:nvSpPr>
          <p:cNvPr id="27" name="Text 20"/>
          <p:cNvSpPr/>
          <p:nvPr/>
        </p:nvSpPr>
        <p:spPr>
          <a:xfrm>
            <a:off x="4581144" y="3813048"/>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Publisher-Subscriber</a:t>
            </a:r>
            <a:endParaRPr lang="en-US" sz="1200" dirty="0"/>
          </a:p>
        </p:txBody>
      </p:sp>
      <p:sp>
        <p:nvSpPr>
          <p:cNvPr id="28" name="Text 21"/>
          <p:cNvSpPr/>
          <p:nvPr/>
        </p:nvSpPr>
        <p:spPr>
          <a:xfrm>
            <a:off x="4581144" y="4114800"/>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NotificationPublisher (producer) and NotificationConsumer (@RabbitListener) fully decouple booking/payment from email/SSE delivery.</a:t>
            </a:r>
            <a:endParaRPr lang="en-US" sz="900" dirty="0"/>
          </a:p>
        </p:txBody>
      </p:sp>
      <p:sp>
        <p:nvSpPr>
          <p:cNvPr id="29" name="Shape 22"/>
          <p:cNvSpPr/>
          <p:nvPr/>
        </p:nvSpPr>
        <p:spPr>
          <a:xfrm>
            <a:off x="8293608" y="3127248"/>
            <a:ext cx="3639312" cy="1572768"/>
          </a:xfrm>
          <a:prstGeom prst="roundRect">
            <a:avLst>
              <a:gd name="adj" fmla="val 4070"/>
            </a:avLst>
          </a:prstGeom>
          <a:solidFill>
            <a:srgbClr val="FFFFFF"/>
          </a:solidFill>
          <a:ln w="12700">
            <a:solidFill>
              <a:srgbClr val="D7E3F3"/>
            </a:solidFill>
            <a:prstDash val="solid"/>
          </a:ln>
        </p:spPr>
      </p:sp>
      <p:sp>
        <p:nvSpPr>
          <p:cNvPr id="30" name="Shape 23"/>
          <p:cNvSpPr/>
          <p:nvPr/>
        </p:nvSpPr>
        <p:spPr>
          <a:xfrm>
            <a:off x="8476488" y="3291840"/>
            <a:ext cx="457200" cy="457200"/>
          </a:xfrm>
          <a:prstGeom prst="ellipse">
            <a:avLst/>
          </a:prstGeom>
          <a:solidFill>
            <a:srgbClr val="EAF2FB"/>
          </a:solidFill>
          <a:ln/>
        </p:spPr>
      </p:sp>
      <p:pic>
        <p:nvPicPr>
          <p:cNvPr id="31" name="Image 5" descr="preencoded.png">    </p:cNvPr>
          <p:cNvPicPr>
            <a:picLocks noChangeAspect="1"/>
          </p:cNvPicPr>
          <p:nvPr/>
        </p:nvPicPr>
        <p:blipFill>
          <a:blip r:embed="rId6"/>
          <a:stretch>
            <a:fillRect/>
          </a:stretch>
        </p:blipFill>
        <p:spPr>
          <a:xfrm>
            <a:off x="8595360" y="3410712"/>
            <a:ext cx="219456" cy="219456"/>
          </a:xfrm>
          <a:prstGeom prst="rect">
            <a:avLst/>
          </a:prstGeom>
        </p:spPr>
      </p:pic>
      <p:sp>
        <p:nvSpPr>
          <p:cNvPr id="32" name="Text 24"/>
          <p:cNvSpPr/>
          <p:nvPr/>
        </p:nvSpPr>
        <p:spPr>
          <a:xfrm>
            <a:off x="8476488" y="3813048"/>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Chain of Responsibility</a:t>
            </a:r>
            <a:endParaRPr lang="en-US" sz="1200" dirty="0"/>
          </a:p>
        </p:txBody>
      </p:sp>
      <p:sp>
        <p:nvSpPr>
          <p:cNvPr id="33" name="Text 25"/>
          <p:cNvSpPr/>
          <p:nvPr/>
        </p:nvSpPr>
        <p:spPr>
          <a:xfrm>
            <a:off x="8476488" y="4114800"/>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JwtAuthFilter (GlobalFilter) sits in the Gateway's filter chain, intercepting every request before routing.</a:t>
            </a:r>
            <a:endParaRPr lang="en-US" sz="900" dirty="0"/>
          </a:p>
        </p:txBody>
      </p:sp>
      <p:sp>
        <p:nvSpPr>
          <p:cNvPr id="34" name="Shape 26"/>
          <p:cNvSpPr/>
          <p:nvPr/>
        </p:nvSpPr>
        <p:spPr>
          <a:xfrm>
            <a:off x="502920" y="4882896"/>
            <a:ext cx="3639312" cy="1572768"/>
          </a:xfrm>
          <a:prstGeom prst="roundRect">
            <a:avLst>
              <a:gd name="adj" fmla="val 4070"/>
            </a:avLst>
          </a:prstGeom>
          <a:solidFill>
            <a:srgbClr val="FFFFFF"/>
          </a:solidFill>
          <a:ln w="12700">
            <a:solidFill>
              <a:srgbClr val="D7E3F3"/>
            </a:solidFill>
            <a:prstDash val="solid"/>
          </a:ln>
        </p:spPr>
      </p:sp>
      <p:sp>
        <p:nvSpPr>
          <p:cNvPr id="35" name="Shape 27"/>
          <p:cNvSpPr/>
          <p:nvPr/>
        </p:nvSpPr>
        <p:spPr>
          <a:xfrm>
            <a:off x="685800" y="5047488"/>
            <a:ext cx="457200" cy="457200"/>
          </a:xfrm>
          <a:prstGeom prst="ellipse">
            <a:avLst/>
          </a:prstGeom>
          <a:solidFill>
            <a:srgbClr val="EAF2FB"/>
          </a:solidFill>
          <a:ln/>
        </p:spPr>
      </p:sp>
      <p:pic>
        <p:nvPicPr>
          <p:cNvPr id="36" name="Image 6" descr="preencoded.png">    </p:cNvPr>
          <p:cNvPicPr>
            <a:picLocks noChangeAspect="1"/>
          </p:cNvPicPr>
          <p:nvPr/>
        </p:nvPicPr>
        <p:blipFill>
          <a:blip r:embed="rId7"/>
          <a:stretch>
            <a:fillRect/>
          </a:stretch>
        </p:blipFill>
        <p:spPr>
          <a:xfrm>
            <a:off x="804672" y="5166360"/>
            <a:ext cx="219456" cy="219456"/>
          </a:xfrm>
          <a:prstGeom prst="rect">
            <a:avLst/>
          </a:prstGeom>
        </p:spPr>
      </p:pic>
      <p:sp>
        <p:nvSpPr>
          <p:cNvPr id="37" name="Text 28"/>
          <p:cNvSpPr/>
          <p:nvPr/>
        </p:nvSpPr>
        <p:spPr>
          <a:xfrm>
            <a:off x="685800" y="5568696"/>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Aspect-Oriented (AOP)</a:t>
            </a:r>
            <a:endParaRPr lang="en-US" sz="1200" dirty="0"/>
          </a:p>
        </p:txBody>
      </p:sp>
      <p:sp>
        <p:nvSpPr>
          <p:cNvPr id="38" name="Text 29"/>
          <p:cNvSpPr/>
          <p:nvPr/>
        </p:nvSpPr>
        <p:spPr>
          <a:xfrm>
            <a:off x="685800" y="5870448"/>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LoggingAspect, PerformanceAspect, and audit aspects use @Around advice — cross-cutting concerns kept out of business logic.</a:t>
            </a:r>
            <a:endParaRPr lang="en-US" sz="900" dirty="0"/>
          </a:p>
        </p:txBody>
      </p:sp>
      <p:sp>
        <p:nvSpPr>
          <p:cNvPr id="39" name="Shape 30"/>
          <p:cNvSpPr/>
          <p:nvPr/>
        </p:nvSpPr>
        <p:spPr>
          <a:xfrm>
            <a:off x="4398264" y="4882896"/>
            <a:ext cx="3639312" cy="1572768"/>
          </a:xfrm>
          <a:prstGeom prst="roundRect">
            <a:avLst>
              <a:gd name="adj" fmla="val 4070"/>
            </a:avLst>
          </a:prstGeom>
          <a:solidFill>
            <a:srgbClr val="FFFFFF"/>
          </a:solidFill>
          <a:ln w="12700">
            <a:solidFill>
              <a:srgbClr val="D7E3F3"/>
            </a:solidFill>
            <a:prstDash val="solid"/>
          </a:ln>
        </p:spPr>
      </p:sp>
      <p:sp>
        <p:nvSpPr>
          <p:cNvPr id="40" name="Shape 31"/>
          <p:cNvSpPr/>
          <p:nvPr/>
        </p:nvSpPr>
        <p:spPr>
          <a:xfrm>
            <a:off x="4581144" y="5047488"/>
            <a:ext cx="457200" cy="457200"/>
          </a:xfrm>
          <a:prstGeom prst="ellipse">
            <a:avLst/>
          </a:prstGeom>
          <a:solidFill>
            <a:srgbClr val="EAF2FB"/>
          </a:solidFill>
          <a:ln/>
        </p:spPr>
      </p:sp>
      <p:pic>
        <p:nvPicPr>
          <p:cNvPr id="41" name="Image 7" descr="preencoded.png">    </p:cNvPr>
          <p:cNvPicPr>
            <a:picLocks noChangeAspect="1"/>
          </p:cNvPicPr>
          <p:nvPr/>
        </p:nvPicPr>
        <p:blipFill>
          <a:blip r:embed="rId8"/>
          <a:stretch>
            <a:fillRect/>
          </a:stretch>
        </p:blipFill>
        <p:spPr>
          <a:xfrm>
            <a:off x="4700016" y="5166360"/>
            <a:ext cx="219456" cy="219456"/>
          </a:xfrm>
          <a:prstGeom prst="rect">
            <a:avLst/>
          </a:prstGeom>
        </p:spPr>
      </p:pic>
      <p:sp>
        <p:nvSpPr>
          <p:cNvPr id="42" name="Text 32"/>
          <p:cNvSpPr/>
          <p:nvPr/>
        </p:nvSpPr>
        <p:spPr>
          <a:xfrm>
            <a:off x="4581144" y="5568696"/>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Builder Pattern</a:t>
            </a:r>
            <a:endParaRPr lang="en-US" sz="1200" dirty="0"/>
          </a:p>
        </p:txBody>
      </p:sp>
      <p:sp>
        <p:nvSpPr>
          <p:cNvPr id="43" name="Text 33"/>
          <p:cNvSpPr/>
          <p:nvPr/>
        </p:nvSpPr>
        <p:spPr>
          <a:xfrm>
            <a:off x="4581144" y="5870448"/>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InAppNotification uses Lombok's @Builder for readable, immutable-style object construction.</a:t>
            </a:r>
            <a:endParaRPr lang="en-US" sz="900" dirty="0"/>
          </a:p>
        </p:txBody>
      </p:sp>
      <p:sp>
        <p:nvSpPr>
          <p:cNvPr id="44" name="Shape 34"/>
          <p:cNvSpPr/>
          <p:nvPr/>
        </p:nvSpPr>
        <p:spPr>
          <a:xfrm>
            <a:off x="8293608" y="4882896"/>
            <a:ext cx="3639312" cy="1572768"/>
          </a:xfrm>
          <a:prstGeom prst="roundRect">
            <a:avLst>
              <a:gd name="adj" fmla="val 4070"/>
            </a:avLst>
          </a:prstGeom>
          <a:solidFill>
            <a:srgbClr val="FFFFFF"/>
          </a:solidFill>
          <a:ln w="12700">
            <a:solidFill>
              <a:srgbClr val="D7E3F3"/>
            </a:solidFill>
            <a:prstDash val="solid"/>
          </a:ln>
        </p:spPr>
      </p:sp>
      <p:sp>
        <p:nvSpPr>
          <p:cNvPr id="45" name="Shape 35"/>
          <p:cNvSpPr/>
          <p:nvPr/>
        </p:nvSpPr>
        <p:spPr>
          <a:xfrm>
            <a:off x="8476488" y="5047488"/>
            <a:ext cx="457200" cy="457200"/>
          </a:xfrm>
          <a:prstGeom prst="ellipse">
            <a:avLst/>
          </a:prstGeom>
          <a:solidFill>
            <a:srgbClr val="EAF2FB"/>
          </a:solidFill>
          <a:ln/>
        </p:spPr>
      </p:sp>
      <p:pic>
        <p:nvPicPr>
          <p:cNvPr id="46" name="Image 8" descr="preencoded.png">    </p:cNvPr>
          <p:cNvPicPr>
            <a:picLocks noChangeAspect="1"/>
          </p:cNvPicPr>
          <p:nvPr/>
        </p:nvPicPr>
        <p:blipFill>
          <a:blip r:embed="rId9"/>
          <a:stretch>
            <a:fillRect/>
          </a:stretch>
        </p:blipFill>
        <p:spPr>
          <a:xfrm>
            <a:off x="8595360" y="5166360"/>
            <a:ext cx="219456" cy="219456"/>
          </a:xfrm>
          <a:prstGeom prst="rect">
            <a:avLst/>
          </a:prstGeom>
        </p:spPr>
      </p:pic>
      <p:sp>
        <p:nvSpPr>
          <p:cNvPr id="47" name="Text 36"/>
          <p:cNvSpPr/>
          <p:nvPr/>
        </p:nvSpPr>
        <p:spPr>
          <a:xfrm>
            <a:off x="8476488" y="5568696"/>
            <a:ext cx="3273552"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Global Exception Handling</a:t>
            </a:r>
            <a:endParaRPr lang="en-US" sz="1200" dirty="0"/>
          </a:p>
        </p:txBody>
      </p:sp>
      <p:sp>
        <p:nvSpPr>
          <p:cNvPr id="48" name="Text 37"/>
          <p:cNvSpPr/>
          <p:nvPr/>
        </p:nvSpPr>
        <p:spPr>
          <a:xfrm>
            <a:off x="8476488" y="5870448"/>
            <a:ext cx="3273552" cy="54864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@RestControllerAdvice GlobalExceptionHandler per service centralizes error-to-HTTP-status mapping.</a:t>
            </a:r>
            <a:endParaRPr lang="en-US" sz="900" dirty="0"/>
          </a:p>
        </p:txBody>
      </p:sp>
      <p:sp>
        <p:nvSpPr>
          <p:cNvPr id="49" name="Text 38"/>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50" name="Text 39"/>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Design Patterns</a:t>
            </a:r>
            <a:endParaRPr lang="en-US" sz="900" dirty="0"/>
          </a:p>
        </p:txBody>
      </p:sp>
      <p:sp>
        <p:nvSpPr>
          <p:cNvPr id="51" name="Text 40"/>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TESTING STRATEGY</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Unit, Integration &amp; Controller-Level Coverage</a:t>
            </a:r>
            <a:endParaRPr lang="en-US" sz="2800" dirty="0"/>
          </a:p>
        </p:txBody>
      </p:sp>
      <p:sp>
        <p:nvSpPr>
          <p:cNvPr id="4" name="Shape 2"/>
          <p:cNvSpPr/>
          <p:nvPr/>
        </p:nvSpPr>
        <p:spPr>
          <a:xfrm>
            <a:off x="502920" y="1371600"/>
            <a:ext cx="3520440" cy="4846320"/>
          </a:xfrm>
          <a:prstGeom prst="roundRect">
            <a:avLst>
              <a:gd name="adj" fmla="val 1818"/>
            </a:avLst>
          </a:prstGeom>
          <a:solidFill>
            <a:srgbClr val="0B2545"/>
          </a:solidFill>
          <a:ln/>
          <a:effectLst>
            <a:outerShdw sx="100000" sy="100000" kx="0" ky="0" algn="bl" rotWithShape="0" blurRad="101600" dist="25400" dir="5400000">
              <a:srgbClr val="0B2545">
                <a:alpha val="10000"/>
              </a:srgbClr>
            </a:outerShdw>
          </a:effectLst>
        </p:spPr>
      </p:sp>
      <p:pic>
        <p:nvPicPr>
          <p:cNvPr id="5" name="Image 0" descr="preencoded.png">    </p:cNvPr>
          <p:cNvPicPr>
            <a:picLocks noChangeAspect="1"/>
          </p:cNvPicPr>
          <p:nvPr/>
        </p:nvPicPr>
        <p:blipFill>
          <a:blip r:embed="rId1"/>
          <a:stretch>
            <a:fillRect/>
          </a:stretch>
        </p:blipFill>
        <p:spPr>
          <a:xfrm>
            <a:off x="822960" y="1600200"/>
            <a:ext cx="548640" cy="548640"/>
          </a:xfrm>
          <a:prstGeom prst="rect">
            <a:avLst/>
          </a:prstGeom>
        </p:spPr>
      </p:pic>
      <p:sp>
        <p:nvSpPr>
          <p:cNvPr id="6" name="Text 3"/>
          <p:cNvSpPr/>
          <p:nvPr/>
        </p:nvSpPr>
        <p:spPr>
          <a:xfrm>
            <a:off x="502920" y="2286000"/>
            <a:ext cx="3520440" cy="91440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31</a:t>
            </a:r>
            <a:endParaRPr lang="en-US" sz="5600" dirty="0"/>
          </a:p>
        </p:txBody>
      </p:sp>
      <p:sp>
        <p:nvSpPr>
          <p:cNvPr id="7" name="Text 4"/>
          <p:cNvSpPr/>
          <p:nvPr/>
        </p:nvSpPr>
        <p:spPr>
          <a:xfrm>
            <a:off x="502920" y="3246120"/>
            <a:ext cx="3520440" cy="54864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JUnit 5 test classes</a:t>
            </a:r>
            <a:endParaRPr lang="en-US" sz="1300" dirty="0"/>
          </a:p>
          <a:p>
            <a:pPr algn="ctr" indent="0" marL="0">
              <a:buNone/>
            </a:pPr>
            <a:r>
              <a:rPr lang="en-US" sz="1300" dirty="0">
                <a:solidFill>
                  <a:srgbClr val="CADCFC"/>
                </a:solidFill>
                <a:latin typeface="Calibri" pitchFamily="34" charset="0"/>
                <a:ea typeface="Calibri" pitchFamily="34" charset="-122"/>
                <a:cs typeface="Calibri" pitchFamily="34" charset="-120"/>
              </a:rPr>
              <a:t>across 8 services</a:t>
            </a:r>
            <a:endParaRPr lang="en-US" sz="1300" dirty="0"/>
          </a:p>
        </p:txBody>
      </p:sp>
      <p:sp>
        <p:nvSpPr>
          <p:cNvPr id="8" name="Text 5"/>
          <p:cNvSpPr/>
          <p:nvPr/>
        </p:nvSpPr>
        <p:spPr>
          <a:xfrm>
            <a:off x="777240" y="4206240"/>
            <a:ext cx="2926080" cy="365760"/>
          </a:xfrm>
          <a:prstGeom prst="rect">
            <a:avLst/>
          </a:prstGeom>
          <a:noFill/>
          <a:ln/>
        </p:spPr>
        <p:txBody>
          <a:bodyPr wrap="square" lIns="0" tIns="0" rIns="0" bIns="0" rtlCol="0" anchor="ctr"/>
          <a:lstStyle/>
          <a:p>
            <a:pPr indent="0" marL="0">
              <a:buNone/>
            </a:pPr>
            <a:r>
              <a:rPr lang="en-US" sz="1050" b="1" dirty="0">
                <a:solidFill>
                  <a:srgbClr val="00A9E0"/>
                </a:solidFill>
                <a:latin typeface="Calibri" pitchFamily="34" charset="0"/>
                <a:ea typeface="Calibri" pitchFamily="34" charset="-122"/>
                <a:cs typeface="Calibri" pitchFamily="34" charset="-120"/>
              </a:rPr>
              <a:t>Frameworks:  </a:t>
            </a:r>
            <a:pPr indent="0" marL="0">
              <a:buNone/>
            </a:pPr>
            <a:r>
              <a:rPr lang="en-US" sz="1050" dirty="0">
                <a:solidFill>
                  <a:srgbClr val="CADCFC"/>
                </a:solidFill>
                <a:latin typeface="Calibri" pitchFamily="34" charset="0"/>
                <a:ea typeface="Calibri" pitchFamily="34" charset="-122"/>
                <a:cs typeface="Calibri" pitchFamily="34" charset="-120"/>
              </a:rPr>
              <a:t>JUnit 5 + Mockito</a:t>
            </a:r>
            <a:endParaRPr lang="en-US" sz="1050" dirty="0"/>
          </a:p>
        </p:txBody>
      </p:sp>
      <p:sp>
        <p:nvSpPr>
          <p:cNvPr id="9" name="Text 6"/>
          <p:cNvSpPr/>
          <p:nvPr/>
        </p:nvSpPr>
        <p:spPr>
          <a:xfrm>
            <a:off x="777240" y="4709160"/>
            <a:ext cx="2926080" cy="365760"/>
          </a:xfrm>
          <a:prstGeom prst="rect">
            <a:avLst/>
          </a:prstGeom>
          <a:noFill/>
          <a:ln/>
        </p:spPr>
        <p:txBody>
          <a:bodyPr wrap="square" lIns="0" tIns="0" rIns="0" bIns="0" rtlCol="0" anchor="ctr"/>
          <a:lstStyle/>
          <a:p>
            <a:pPr indent="0" marL="0">
              <a:buNone/>
            </a:pPr>
            <a:r>
              <a:rPr lang="en-US" sz="1050" b="1" dirty="0">
                <a:solidFill>
                  <a:srgbClr val="00A9E0"/>
                </a:solidFill>
                <a:latin typeface="Calibri" pitchFamily="34" charset="0"/>
                <a:ea typeface="Calibri" pitchFamily="34" charset="-122"/>
                <a:cs typeface="Calibri" pitchFamily="34" charset="-120"/>
              </a:rPr>
              <a:t>Target coverage:  </a:t>
            </a:r>
            <a:pPr indent="0" marL="0">
              <a:buNone/>
            </a:pPr>
            <a:r>
              <a:rPr lang="en-US" sz="1050" dirty="0">
                <a:solidFill>
                  <a:srgbClr val="CADCFC"/>
                </a:solidFill>
                <a:latin typeface="Calibri" pitchFamily="34" charset="0"/>
                <a:ea typeface="Calibri" pitchFamily="34" charset="-122"/>
                <a:cs typeface="Calibri" pitchFamily="34" charset="-120"/>
              </a:rPr>
              <a:t>80%+ per service (prior milestone)</a:t>
            </a:r>
            <a:endParaRPr lang="en-US" sz="1050" dirty="0"/>
          </a:p>
        </p:txBody>
      </p:sp>
      <p:sp>
        <p:nvSpPr>
          <p:cNvPr id="10" name="Shape 7"/>
          <p:cNvSpPr/>
          <p:nvPr/>
        </p:nvSpPr>
        <p:spPr>
          <a:xfrm>
            <a:off x="4251960" y="1463040"/>
            <a:ext cx="7406640" cy="1051560"/>
          </a:xfrm>
          <a:prstGeom prst="roundRect">
            <a:avLst>
              <a:gd name="adj" fmla="val 6087"/>
            </a:avLst>
          </a:prstGeom>
          <a:solidFill>
            <a:srgbClr val="FFFFFF"/>
          </a:solidFill>
          <a:ln w="12700">
            <a:solidFill>
              <a:srgbClr val="D7E3F3"/>
            </a:solidFill>
            <a:prstDash val="solid"/>
          </a:ln>
        </p:spPr>
      </p:sp>
      <p:sp>
        <p:nvSpPr>
          <p:cNvPr id="11" name="Text 8"/>
          <p:cNvSpPr/>
          <p:nvPr/>
        </p:nvSpPr>
        <p:spPr>
          <a:xfrm>
            <a:off x="4480560" y="1572768"/>
            <a:ext cx="694944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Controller Tests</a:t>
            </a:r>
            <a:endParaRPr lang="en-US" sz="1300" dirty="0"/>
          </a:p>
        </p:txBody>
      </p:sp>
      <p:sp>
        <p:nvSpPr>
          <p:cNvPr id="12" name="Text 9"/>
          <p:cNvSpPr/>
          <p:nvPr/>
        </p:nvSpPr>
        <p:spPr>
          <a:xfrm>
            <a:off x="4480560" y="1901952"/>
            <a:ext cx="6949440" cy="54864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BookingControllerTest, AuthControllerTest, PaymentControllerTest, ... — @WebMvcTest / MockMvc validate endpoint contracts and status codes.</a:t>
            </a:r>
            <a:endParaRPr lang="en-US" sz="1000" dirty="0"/>
          </a:p>
        </p:txBody>
      </p:sp>
      <p:sp>
        <p:nvSpPr>
          <p:cNvPr id="13" name="Shape 10"/>
          <p:cNvSpPr/>
          <p:nvPr/>
        </p:nvSpPr>
        <p:spPr>
          <a:xfrm>
            <a:off x="4251960" y="2651760"/>
            <a:ext cx="7406640" cy="1051560"/>
          </a:xfrm>
          <a:prstGeom prst="roundRect">
            <a:avLst>
              <a:gd name="adj" fmla="val 6087"/>
            </a:avLst>
          </a:prstGeom>
          <a:solidFill>
            <a:srgbClr val="FFFFFF"/>
          </a:solidFill>
          <a:ln w="12700">
            <a:solidFill>
              <a:srgbClr val="D7E3F3"/>
            </a:solidFill>
            <a:prstDash val="solid"/>
          </a:ln>
        </p:spPr>
      </p:sp>
      <p:sp>
        <p:nvSpPr>
          <p:cNvPr id="14" name="Text 11"/>
          <p:cNvSpPr/>
          <p:nvPr/>
        </p:nvSpPr>
        <p:spPr>
          <a:xfrm>
            <a:off x="4480560" y="2761488"/>
            <a:ext cx="694944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Service Tests</a:t>
            </a:r>
            <a:endParaRPr lang="en-US" sz="1300" dirty="0"/>
          </a:p>
        </p:txBody>
      </p:sp>
      <p:sp>
        <p:nvSpPr>
          <p:cNvPr id="15" name="Text 12"/>
          <p:cNvSpPr/>
          <p:nvPr/>
        </p:nvSpPr>
        <p:spPr>
          <a:xfrm>
            <a:off x="4480560" y="3090672"/>
            <a:ext cx="6949440" cy="54864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BookingServiceTest, PlanServiceTest, TrainerServiceTest, PaymentServiceExtendedTest — Mockito mocks repositories &amp; Feign clients to isolate business logic.</a:t>
            </a:r>
            <a:endParaRPr lang="en-US" sz="1000" dirty="0"/>
          </a:p>
        </p:txBody>
      </p:sp>
      <p:sp>
        <p:nvSpPr>
          <p:cNvPr id="16" name="Shape 13"/>
          <p:cNvSpPr/>
          <p:nvPr/>
        </p:nvSpPr>
        <p:spPr>
          <a:xfrm>
            <a:off x="4251960" y="3840480"/>
            <a:ext cx="7406640" cy="1051560"/>
          </a:xfrm>
          <a:prstGeom prst="roundRect">
            <a:avLst>
              <a:gd name="adj" fmla="val 6087"/>
            </a:avLst>
          </a:prstGeom>
          <a:solidFill>
            <a:srgbClr val="FFFFFF"/>
          </a:solidFill>
          <a:ln w="12700">
            <a:solidFill>
              <a:srgbClr val="D7E3F3"/>
            </a:solidFill>
            <a:prstDash val="solid"/>
          </a:ln>
        </p:spPr>
      </p:sp>
      <p:sp>
        <p:nvSpPr>
          <p:cNvPr id="17" name="Text 14"/>
          <p:cNvSpPr/>
          <p:nvPr/>
        </p:nvSpPr>
        <p:spPr>
          <a:xfrm>
            <a:off x="4480560" y="3950208"/>
            <a:ext cx="694944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Model &amp; Exception Tests</a:t>
            </a:r>
            <a:endParaRPr lang="en-US" sz="1300" dirty="0"/>
          </a:p>
        </p:txBody>
      </p:sp>
      <p:sp>
        <p:nvSpPr>
          <p:cNvPr id="18" name="Text 15"/>
          <p:cNvSpPr/>
          <p:nvPr/>
        </p:nvSpPr>
        <p:spPr>
          <a:xfrm>
            <a:off x="4480560" y="4279392"/>
            <a:ext cx="6949440" cy="54864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ModelAndExceptionTest classes per service validate entity getters/setters and custom exception behavior.</a:t>
            </a:r>
            <a:endParaRPr lang="en-US" sz="1000" dirty="0"/>
          </a:p>
        </p:txBody>
      </p:sp>
      <p:sp>
        <p:nvSpPr>
          <p:cNvPr id="19" name="Shape 16"/>
          <p:cNvSpPr/>
          <p:nvPr/>
        </p:nvSpPr>
        <p:spPr>
          <a:xfrm>
            <a:off x="4251960" y="5029200"/>
            <a:ext cx="7406640" cy="1051560"/>
          </a:xfrm>
          <a:prstGeom prst="roundRect">
            <a:avLst>
              <a:gd name="adj" fmla="val 6087"/>
            </a:avLst>
          </a:prstGeom>
          <a:solidFill>
            <a:srgbClr val="FFFFFF"/>
          </a:solidFill>
          <a:ln w="12700">
            <a:solidFill>
              <a:srgbClr val="D7E3F3"/>
            </a:solidFill>
            <a:prstDash val="solid"/>
          </a:ln>
        </p:spPr>
      </p:sp>
      <p:sp>
        <p:nvSpPr>
          <p:cNvPr id="20" name="Text 17"/>
          <p:cNvSpPr/>
          <p:nvPr/>
        </p:nvSpPr>
        <p:spPr>
          <a:xfrm>
            <a:off x="4480560" y="5138928"/>
            <a:ext cx="694944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Utility Tests</a:t>
            </a:r>
            <a:endParaRPr lang="en-US" sz="1300" dirty="0"/>
          </a:p>
        </p:txBody>
      </p:sp>
      <p:sp>
        <p:nvSpPr>
          <p:cNvPr id="21" name="Text 18"/>
          <p:cNvSpPr/>
          <p:nvPr/>
        </p:nvSpPr>
        <p:spPr>
          <a:xfrm>
            <a:off x="4480560" y="5468112"/>
            <a:ext cx="6949440" cy="54864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JwtUtilTest verifies token generation/parsing; OtpServiceTest covers OTP expiry and validation logic.</a:t>
            </a:r>
            <a:endParaRPr lang="en-US" sz="1000" dirty="0"/>
          </a:p>
        </p:txBody>
      </p:sp>
      <p:sp>
        <p:nvSpPr>
          <p:cNvPr id="22" name="Text 19"/>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23" name="Text 20"/>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Testing Strategy</a:t>
            </a:r>
            <a:endParaRPr lang="en-US" sz="900" dirty="0"/>
          </a:p>
        </p:txBody>
      </p:sp>
      <p:sp>
        <p:nvSpPr>
          <p:cNvPr id="24" name="Text 21"/>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lIns="0" tIns="0" rIns="0" bIns="0" rtlCol="0" anchor="ctr"/>
          <a:lstStyle/>
          <a:p>
            <a:pPr indent="0" marL="0">
              <a:buNone/>
            </a:pPr>
            <a:r>
              <a:rPr lang="en-US" sz="1200" b="1" spc="200" kern="0" dirty="0">
                <a:solidFill>
                  <a:srgbClr val="0086B3"/>
                </a:solidFill>
                <a:latin typeface="Calibri" pitchFamily="34" charset="0"/>
                <a:ea typeface="Calibri" pitchFamily="34" charset="-122"/>
                <a:cs typeface="Calibri" pitchFamily="34" charset="-120"/>
              </a:rPr>
              <a:t>FUTURE ENHANCEMENTS</a:t>
            </a:r>
            <a:endParaRPr lang="en-US" sz="1200" dirty="0"/>
          </a:p>
        </p:txBody>
      </p:sp>
      <p:sp>
        <p:nvSpPr>
          <p:cNvPr id="3" name="Text 1"/>
          <p:cNvSpPr/>
          <p:nvPr/>
        </p:nvSpPr>
        <p:spPr>
          <a:xfrm>
            <a:off x="502920" y="530352"/>
            <a:ext cx="11155680" cy="658368"/>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Where GymPro Goes Next</a:t>
            </a:r>
            <a:endParaRPr lang="en-US" sz="2800" dirty="0"/>
          </a:p>
        </p:txBody>
      </p:sp>
      <p:sp>
        <p:nvSpPr>
          <p:cNvPr id="4" name="Shape 2"/>
          <p:cNvSpPr/>
          <p:nvPr/>
        </p:nvSpPr>
        <p:spPr>
          <a:xfrm>
            <a:off x="502920" y="1417320"/>
            <a:ext cx="3639312" cy="2103120"/>
          </a:xfrm>
          <a:prstGeom prst="roundRect">
            <a:avLst>
              <a:gd name="adj" fmla="val 3043"/>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5" name="Shape 3"/>
          <p:cNvSpPr/>
          <p:nvPr/>
        </p:nvSpPr>
        <p:spPr>
          <a:xfrm>
            <a:off x="731520" y="1645920"/>
            <a:ext cx="530352" cy="530352"/>
          </a:xfrm>
          <a:prstGeom prst="ellipse">
            <a:avLst/>
          </a:prstGeom>
          <a:solidFill>
            <a:srgbClr val="0B2545"/>
          </a:solidFill>
          <a:ln/>
        </p:spPr>
      </p:sp>
      <p:pic>
        <p:nvPicPr>
          <p:cNvPr id="6" name="Image 0" descr="preencoded.png">    </p:cNvPr>
          <p:cNvPicPr>
            <a:picLocks noChangeAspect="1"/>
          </p:cNvPicPr>
          <p:nvPr/>
        </p:nvPicPr>
        <p:blipFill>
          <a:blip r:embed="rId1"/>
          <a:stretch>
            <a:fillRect/>
          </a:stretch>
        </p:blipFill>
        <p:spPr>
          <a:xfrm>
            <a:off x="869412" y="1783812"/>
            <a:ext cx="254569" cy="254569"/>
          </a:xfrm>
          <a:prstGeom prst="rect">
            <a:avLst/>
          </a:prstGeom>
        </p:spPr>
      </p:pic>
      <p:sp>
        <p:nvSpPr>
          <p:cNvPr id="7" name="Text 4"/>
          <p:cNvSpPr/>
          <p:nvPr/>
        </p:nvSpPr>
        <p:spPr>
          <a:xfrm>
            <a:off x="731520" y="2331720"/>
            <a:ext cx="3182112" cy="36576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Docker &amp; Kubernetes</a:t>
            </a:r>
            <a:endParaRPr lang="en-US" sz="1350" dirty="0"/>
          </a:p>
        </p:txBody>
      </p:sp>
      <p:sp>
        <p:nvSpPr>
          <p:cNvPr id="8" name="Text 5"/>
          <p:cNvSpPr/>
          <p:nvPr/>
        </p:nvSpPr>
        <p:spPr>
          <a:xfrm>
            <a:off x="731520" y="2697480"/>
            <a:ext cx="318211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Re-containerize for production, then orchestrate with K8s for auto-scaling and self-healing.</a:t>
            </a:r>
            <a:endParaRPr lang="en-US" sz="1000" dirty="0"/>
          </a:p>
        </p:txBody>
      </p:sp>
      <p:sp>
        <p:nvSpPr>
          <p:cNvPr id="9" name="Shape 6"/>
          <p:cNvSpPr/>
          <p:nvPr/>
        </p:nvSpPr>
        <p:spPr>
          <a:xfrm>
            <a:off x="4398264" y="1417320"/>
            <a:ext cx="3639312" cy="2103120"/>
          </a:xfrm>
          <a:prstGeom prst="roundRect">
            <a:avLst>
              <a:gd name="adj" fmla="val 3043"/>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10" name="Shape 7"/>
          <p:cNvSpPr/>
          <p:nvPr/>
        </p:nvSpPr>
        <p:spPr>
          <a:xfrm>
            <a:off x="4626864" y="1645920"/>
            <a:ext cx="530352" cy="530352"/>
          </a:xfrm>
          <a:prstGeom prst="ellipse">
            <a:avLst/>
          </a:prstGeom>
          <a:solidFill>
            <a:srgbClr val="0B2545"/>
          </a:solidFill>
          <a:ln/>
        </p:spPr>
      </p:sp>
      <p:pic>
        <p:nvPicPr>
          <p:cNvPr id="11" name="Image 1" descr="preencoded.png">    </p:cNvPr>
          <p:cNvPicPr>
            <a:picLocks noChangeAspect="1"/>
          </p:cNvPicPr>
          <p:nvPr/>
        </p:nvPicPr>
        <p:blipFill>
          <a:blip r:embed="rId2"/>
          <a:stretch>
            <a:fillRect/>
          </a:stretch>
        </p:blipFill>
        <p:spPr>
          <a:xfrm>
            <a:off x="4764756" y="1783812"/>
            <a:ext cx="254569" cy="254569"/>
          </a:xfrm>
          <a:prstGeom prst="rect">
            <a:avLst/>
          </a:prstGeom>
        </p:spPr>
      </p:pic>
      <p:sp>
        <p:nvSpPr>
          <p:cNvPr id="12" name="Text 8"/>
          <p:cNvSpPr/>
          <p:nvPr/>
        </p:nvSpPr>
        <p:spPr>
          <a:xfrm>
            <a:off x="4626864" y="2331720"/>
            <a:ext cx="3182112" cy="36576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CI/CD Pipeline</a:t>
            </a:r>
            <a:endParaRPr lang="en-US" sz="1350" dirty="0"/>
          </a:p>
        </p:txBody>
      </p:sp>
      <p:sp>
        <p:nvSpPr>
          <p:cNvPr id="13" name="Text 9"/>
          <p:cNvSpPr/>
          <p:nvPr/>
        </p:nvSpPr>
        <p:spPr>
          <a:xfrm>
            <a:off x="4626864" y="2697480"/>
            <a:ext cx="318211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Automated build → test → deploy pipeline (GitHub Actions) triggered on every merge to main.</a:t>
            </a:r>
            <a:endParaRPr lang="en-US" sz="1000" dirty="0"/>
          </a:p>
        </p:txBody>
      </p:sp>
      <p:sp>
        <p:nvSpPr>
          <p:cNvPr id="14" name="Shape 10"/>
          <p:cNvSpPr/>
          <p:nvPr/>
        </p:nvSpPr>
        <p:spPr>
          <a:xfrm>
            <a:off x="8293608" y="1417320"/>
            <a:ext cx="3639312" cy="2103120"/>
          </a:xfrm>
          <a:prstGeom prst="roundRect">
            <a:avLst>
              <a:gd name="adj" fmla="val 3043"/>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15" name="Shape 11"/>
          <p:cNvSpPr/>
          <p:nvPr/>
        </p:nvSpPr>
        <p:spPr>
          <a:xfrm>
            <a:off x="8522208" y="1645920"/>
            <a:ext cx="530352" cy="530352"/>
          </a:xfrm>
          <a:prstGeom prst="ellipse">
            <a:avLst/>
          </a:prstGeom>
          <a:solidFill>
            <a:srgbClr val="0B2545"/>
          </a:solidFill>
          <a:ln/>
        </p:spPr>
      </p:sp>
      <p:pic>
        <p:nvPicPr>
          <p:cNvPr id="16" name="Image 2" descr="preencoded.png">    </p:cNvPr>
          <p:cNvPicPr>
            <a:picLocks noChangeAspect="1"/>
          </p:cNvPicPr>
          <p:nvPr/>
        </p:nvPicPr>
        <p:blipFill>
          <a:blip r:embed="rId3"/>
          <a:stretch>
            <a:fillRect/>
          </a:stretch>
        </p:blipFill>
        <p:spPr>
          <a:xfrm>
            <a:off x="8660100" y="1783812"/>
            <a:ext cx="254569" cy="254569"/>
          </a:xfrm>
          <a:prstGeom prst="rect">
            <a:avLst/>
          </a:prstGeom>
        </p:spPr>
      </p:pic>
      <p:sp>
        <p:nvSpPr>
          <p:cNvPr id="17" name="Text 12"/>
          <p:cNvSpPr/>
          <p:nvPr/>
        </p:nvSpPr>
        <p:spPr>
          <a:xfrm>
            <a:off x="8522208" y="2331720"/>
            <a:ext cx="3182112" cy="36576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Redis Caching</a:t>
            </a:r>
            <a:endParaRPr lang="en-US" sz="1350" dirty="0"/>
          </a:p>
        </p:txBody>
      </p:sp>
      <p:sp>
        <p:nvSpPr>
          <p:cNvPr id="18" name="Text 13"/>
          <p:cNvSpPr/>
          <p:nvPr/>
        </p:nvSpPr>
        <p:spPr>
          <a:xfrm>
            <a:off x="8522208" y="2697480"/>
            <a:ext cx="318211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Cache trainer schedules &amp; membership plans to cut repeated MySQL reads on hot endpoints.</a:t>
            </a:r>
            <a:endParaRPr lang="en-US" sz="1000" dirty="0"/>
          </a:p>
        </p:txBody>
      </p:sp>
      <p:sp>
        <p:nvSpPr>
          <p:cNvPr id="19" name="Shape 14"/>
          <p:cNvSpPr/>
          <p:nvPr/>
        </p:nvSpPr>
        <p:spPr>
          <a:xfrm>
            <a:off x="502920" y="3776472"/>
            <a:ext cx="3639312" cy="2103120"/>
          </a:xfrm>
          <a:prstGeom prst="roundRect">
            <a:avLst>
              <a:gd name="adj" fmla="val 3043"/>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20" name="Shape 15"/>
          <p:cNvSpPr/>
          <p:nvPr/>
        </p:nvSpPr>
        <p:spPr>
          <a:xfrm>
            <a:off x="731520" y="4005072"/>
            <a:ext cx="530352" cy="530352"/>
          </a:xfrm>
          <a:prstGeom prst="ellipse">
            <a:avLst/>
          </a:prstGeom>
          <a:solidFill>
            <a:srgbClr val="0B2545"/>
          </a:solidFill>
          <a:ln/>
        </p:spPr>
      </p:sp>
      <p:pic>
        <p:nvPicPr>
          <p:cNvPr id="21" name="Image 3" descr="preencoded.png">    </p:cNvPr>
          <p:cNvPicPr>
            <a:picLocks noChangeAspect="1"/>
          </p:cNvPicPr>
          <p:nvPr/>
        </p:nvPicPr>
        <p:blipFill>
          <a:blip r:embed="rId4"/>
          <a:stretch>
            <a:fillRect/>
          </a:stretch>
        </p:blipFill>
        <p:spPr>
          <a:xfrm>
            <a:off x="869412" y="4142964"/>
            <a:ext cx="254569" cy="254569"/>
          </a:xfrm>
          <a:prstGeom prst="rect">
            <a:avLst/>
          </a:prstGeom>
        </p:spPr>
      </p:pic>
      <p:sp>
        <p:nvSpPr>
          <p:cNvPr id="22" name="Text 16"/>
          <p:cNvSpPr/>
          <p:nvPr/>
        </p:nvSpPr>
        <p:spPr>
          <a:xfrm>
            <a:off x="731520" y="4690872"/>
            <a:ext cx="3182112" cy="36576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Prometheus + Grafana</a:t>
            </a:r>
            <a:endParaRPr lang="en-US" sz="1350" dirty="0"/>
          </a:p>
        </p:txBody>
      </p:sp>
      <p:sp>
        <p:nvSpPr>
          <p:cNvPr id="23" name="Text 17"/>
          <p:cNvSpPr/>
          <p:nvPr/>
        </p:nvSpPr>
        <p:spPr>
          <a:xfrm>
            <a:off x="731520" y="5056632"/>
            <a:ext cx="318211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Metrics scraping and dashboards for request latency, RabbitMQ queue depth, and JVM health.</a:t>
            </a:r>
            <a:endParaRPr lang="en-US" sz="1000" dirty="0"/>
          </a:p>
        </p:txBody>
      </p:sp>
      <p:sp>
        <p:nvSpPr>
          <p:cNvPr id="24" name="Shape 18"/>
          <p:cNvSpPr/>
          <p:nvPr/>
        </p:nvSpPr>
        <p:spPr>
          <a:xfrm>
            <a:off x="4398264" y="3776472"/>
            <a:ext cx="3639312" cy="2103120"/>
          </a:xfrm>
          <a:prstGeom prst="roundRect">
            <a:avLst>
              <a:gd name="adj" fmla="val 3043"/>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25" name="Shape 19"/>
          <p:cNvSpPr/>
          <p:nvPr/>
        </p:nvSpPr>
        <p:spPr>
          <a:xfrm>
            <a:off x="4626864" y="4005072"/>
            <a:ext cx="530352" cy="530352"/>
          </a:xfrm>
          <a:prstGeom prst="ellipse">
            <a:avLst/>
          </a:prstGeom>
          <a:solidFill>
            <a:srgbClr val="0B2545"/>
          </a:solidFill>
          <a:ln/>
        </p:spPr>
      </p:sp>
      <p:pic>
        <p:nvPicPr>
          <p:cNvPr id="26" name="Image 4" descr="preencoded.png">    </p:cNvPr>
          <p:cNvPicPr>
            <a:picLocks noChangeAspect="1"/>
          </p:cNvPicPr>
          <p:nvPr/>
        </p:nvPicPr>
        <p:blipFill>
          <a:blip r:embed="rId5"/>
          <a:stretch>
            <a:fillRect/>
          </a:stretch>
        </p:blipFill>
        <p:spPr>
          <a:xfrm>
            <a:off x="4764756" y="4142964"/>
            <a:ext cx="254569" cy="254569"/>
          </a:xfrm>
          <a:prstGeom prst="rect">
            <a:avLst/>
          </a:prstGeom>
        </p:spPr>
      </p:pic>
      <p:sp>
        <p:nvSpPr>
          <p:cNvPr id="27" name="Text 20"/>
          <p:cNvSpPr/>
          <p:nvPr/>
        </p:nvSpPr>
        <p:spPr>
          <a:xfrm>
            <a:off x="4626864" y="4690872"/>
            <a:ext cx="3182112" cy="36576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Cloud Deployment</a:t>
            </a:r>
            <a:endParaRPr lang="en-US" sz="1350" dirty="0"/>
          </a:p>
        </p:txBody>
      </p:sp>
      <p:sp>
        <p:nvSpPr>
          <p:cNvPr id="28" name="Text 21"/>
          <p:cNvSpPr/>
          <p:nvPr/>
        </p:nvSpPr>
        <p:spPr>
          <a:xfrm>
            <a:off x="4626864" y="5056632"/>
            <a:ext cx="318211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Move from localhost/Eureka to a managed cloud (AWS/Azure) with managed MySQL and RabbitMQ.</a:t>
            </a:r>
            <a:endParaRPr lang="en-US" sz="1000" dirty="0"/>
          </a:p>
        </p:txBody>
      </p:sp>
      <p:sp>
        <p:nvSpPr>
          <p:cNvPr id="29" name="Shape 22"/>
          <p:cNvSpPr/>
          <p:nvPr/>
        </p:nvSpPr>
        <p:spPr>
          <a:xfrm>
            <a:off x="8293608" y="3776472"/>
            <a:ext cx="3639312" cy="2103120"/>
          </a:xfrm>
          <a:prstGeom prst="roundRect">
            <a:avLst>
              <a:gd name="adj" fmla="val 3043"/>
            </a:avLst>
          </a:prstGeom>
          <a:solidFill>
            <a:srgbClr val="FFFFFF"/>
          </a:solidFill>
          <a:ln w="12700">
            <a:solidFill>
              <a:srgbClr val="D7E3F3"/>
            </a:solidFill>
            <a:prstDash val="solid"/>
          </a:ln>
          <a:effectLst>
            <a:outerShdw sx="100000" sy="100000" kx="0" ky="0" algn="bl" rotWithShape="0" blurRad="101600" dist="25400" dir="5400000">
              <a:srgbClr val="0B2545">
                <a:alpha val="10000"/>
              </a:srgbClr>
            </a:outerShdw>
          </a:effectLst>
        </p:spPr>
      </p:sp>
      <p:sp>
        <p:nvSpPr>
          <p:cNvPr id="30" name="Shape 23"/>
          <p:cNvSpPr/>
          <p:nvPr/>
        </p:nvSpPr>
        <p:spPr>
          <a:xfrm>
            <a:off x="8522208" y="4005072"/>
            <a:ext cx="530352" cy="530352"/>
          </a:xfrm>
          <a:prstGeom prst="ellipse">
            <a:avLst/>
          </a:prstGeom>
          <a:solidFill>
            <a:srgbClr val="0B2545"/>
          </a:solidFill>
          <a:ln/>
        </p:spPr>
      </p:sp>
      <p:pic>
        <p:nvPicPr>
          <p:cNvPr id="31" name="Image 5" descr="preencoded.png">    </p:cNvPr>
          <p:cNvPicPr>
            <a:picLocks noChangeAspect="1"/>
          </p:cNvPicPr>
          <p:nvPr/>
        </p:nvPicPr>
        <p:blipFill>
          <a:blip r:embed="rId6"/>
          <a:stretch>
            <a:fillRect/>
          </a:stretch>
        </p:blipFill>
        <p:spPr>
          <a:xfrm>
            <a:off x="8660100" y="4142964"/>
            <a:ext cx="254569" cy="254569"/>
          </a:xfrm>
          <a:prstGeom prst="rect">
            <a:avLst/>
          </a:prstGeom>
        </p:spPr>
      </p:pic>
      <p:sp>
        <p:nvSpPr>
          <p:cNvPr id="32" name="Text 24"/>
          <p:cNvSpPr/>
          <p:nvPr/>
        </p:nvSpPr>
        <p:spPr>
          <a:xfrm>
            <a:off x="8522208" y="4690872"/>
            <a:ext cx="3182112" cy="36576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Advanced Load Balancing</a:t>
            </a:r>
            <a:endParaRPr lang="en-US" sz="1350" dirty="0"/>
          </a:p>
        </p:txBody>
      </p:sp>
      <p:sp>
        <p:nvSpPr>
          <p:cNvPr id="33" name="Text 25"/>
          <p:cNvSpPr/>
          <p:nvPr/>
        </p:nvSpPr>
        <p:spPr>
          <a:xfrm>
            <a:off x="8522208" y="5056632"/>
            <a:ext cx="3182112" cy="731520"/>
          </a:xfrm>
          <a:prstGeom prst="rect">
            <a:avLst/>
          </a:prstGeom>
          <a:noFill/>
          <a:ln/>
        </p:spPr>
        <p:txBody>
          <a:bodyPr wrap="square" lIns="0" tIns="0" rIns="0" bIns="0" rtlCol="0" anchor="ctr"/>
          <a:lstStyle/>
          <a:p>
            <a:pPr indent="0" marL="0">
              <a:buNone/>
            </a:pPr>
            <a:r>
              <a:rPr lang="en-US" sz="1000" dirty="0">
                <a:solidFill>
                  <a:srgbClr val="5B6B85"/>
                </a:solidFill>
                <a:latin typeface="Calibri" pitchFamily="34" charset="0"/>
                <a:ea typeface="Calibri" pitchFamily="34" charset="-122"/>
                <a:cs typeface="Calibri" pitchFamily="34" charset="-120"/>
              </a:rPr>
              <a:t>Multiple instances per service behind Gateway's load balancer for real horizontal scaling.</a:t>
            </a:r>
            <a:endParaRPr lang="en-US" sz="1000" dirty="0"/>
          </a:p>
        </p:txBody>
      </p:sp>
      <p:sp>
        <p:nvSpPr>
          <p:cNvPr id="34" name="Text 26"/>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35" name="Text 27"/>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Future Enhancements</a:t>
            </a:r>
            <a:endParaRPr lang="en-US" sz="900" dirty="0"/>
          </a:p>
        </p:txBody>
      </p:sp>
      <p:sp>
        <p:nvSpPr>
          <p:cNvPr id="36" name="Text 28"/>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2345F"/>
          </a:solidFill>
          <a:ln/>
        </p:spPr>
      </p:sp>
      <p:sp>
        <p:nvSpPr>
          <p:cNvPr id="3" name="Text 1"/>
          <p:cNvSpPr/>
          <p:nvPr/>
        </p:nvSpPr>
        <p:spPr>
          <a:xfrm>
            <a:off x="548640" y="548640"/>
            <a:ext cx="5486400" cy="320040"/>
          </a:xfrm>
          <a:prstGeom prst="rect">
            <a:avLst/>
          </a:prstGeom>
          <a:noFill/>
          <a:ln/>
        </p:spPr>
        <p:txBody>
          <a:bodyPr wrap="square" lIns="0" tIns="0" rIns="0" bIns="0" rtlCol="0" anchor="ctr"/>
          <a:lstStyle/>
          <a:p>
            <a:pPr indent="0" marL="0">
              <a:buNone/>
            </a:pPr>
            <a:r>
              <a:rPr lang="en-US" sz="1300" b="1" spc="200" kern="0" dirty="0">
                <a:solidFill>
                  <a:srgbClr val="00A9E0"/>
                </a:solidFill>
                <a:latin typeface="Calibri" pitchFamily="34" charset="0"/>
                <a:ea typeface="Calibri" pitchFamily="34" charset="-122"/>
                <a:cs typeface="Calibri" pitchFamily="34" charset="-120"/>
              </a:rPr>
              <a:t>PROJECT SUMMARY</a:t>
            </a:r>
            <a:endParaRPr lang="en-US" sz="1300" dirty="0"/>
          </a:p>
        </p:txBody>
      </p:sp>
      <p:sp>
        <p:nvSpPr>
          <p:cNvPr id="4" name="Text 2"/>
          <p:cNvSpPr/>
          <p:nvPr/>
        </p:nvSpPr>
        <p:spPr>
          <a:xfrm>
            <a:off x="548640" y="868680"/>
            <a:ext cx="82296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GymPro at a Glance</a:t>
            </a:r>
            <a:endParaRPr lang="en-US" sz="3000" dirty="0"/>
          </a:p>
        </p:txBody>
      </p:sp>
      <p:sp>
        <p:nvSpPr>
          <p:cNvPr id="5" name="Shape 3"/>
          <p:cNvSpPr/>
          <p:nvPr/>
        </p:nvSpPr>
        <p:spPr>
          <a:xfrm>
            <a:off x="548640" y="1783080"/>
            <a:ext cx="3566160" cy="1188720"/>
          </a:xfrm>
          <a:prstGeom prst="roundRect">
            <a:avLst>
              <a:gd name="adj" fmla="val 4615"/>
            </a:avLst>
          </a:prstGeom>
          <a:solidFill>
            <a:srgbClr val="12345F"/>
          </a:solidFill>
          <a:ln/>
        </p:spPr>
      </p:sp>
      <p:sp>
        <p:nvSpPr>
          <p:cNvPr id="6" name="Text 4"/>
          <p:cNvSpPr/>
          <p:nvPr/>
        </p:nvSpPr>
        <p:spPr>
          <a:xfrm>
            <a:off x="731520" y="1892808"/>
            <a:ext cx="3200400" cy="640080"/>
          </a:xfrm>
          <a:prstGeom prst="rect">
            <a:avLst/>
          </a:prstGeom>
          <a:noFill/>
          <a:ln/>
        </p:spPr>
        <p:txBody>
          <a:bodyPr wrap="square" lIns="0" tIns="0" rIns="0" bIns="0" rtlCol="0" anchor="ctr"/>
          <a:lstStyle/>
          <a:p>
            <a:pPr indent="0" marL="0">
              <a:buNone/>
            </a:pPr>
            <a:r>
              <a:rPr lang="en-US" sz="3400" b="1" dirty="0">
                <a:solidFill>
                  <a:srgbClr val="00A9E0"/>
                </a:solidFill>
                <a:latin typeface="Cambria" pitchFamily="34" charset="0"/>
                <a:ea typeface="Cambria" pitchFamily="34" charset="-122"/>
                <a:cs typeface="Cambria" pitchFamily="34" charset="-120"/>
              </a:rPr>
              <a:t>9</a:t>
            </a:r>
            <a:endParaRPr lang="en-US" sz="3400" dirty="0"/>
          </a:p>
        </p:txBody>
      </p:sp>
      <p:sp>
        <p:nvSpPr>
          <p:cNvPr id="7" name="Text 5"/>
          <p:cNvSpPr/>
          <p:nvPr/>
        </p:nvSpPr>
        <p:spPr>
          <a:xfrm>
            <a:off x="731520" y="2532888"/>
            <a:ext cx="320040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Microservices</a:t>
            </a:r>
            <a:endParaRPr lang="en-US" sz="1150" dirty="0"/>
          </a:p>
        </p:txBody>
      </p:sp>
      <p:sp>
        <p:nvSpPr>
          <p:cNvPr id="8" name="Shape 6"/>
          <p:cNvSpPr/>
          <p:nvPr/>
        </p:nvSpPr>
        <p:spPr>
          <a:xfrm>
            <a:off x="4343400" y="1783080"/>
            <a:ext cx="3566160" cy="1188720"/>
          </a:xfrm>
          <a:prstGeom prst="roundRect">
            <a:avLst>
              <a:gd name="adj" fmla="val 4615"/>
            </a:avLst>
          </a:prstGeom>
          <a:solidFill>
            <a:srgbClr val="12345F"/>
          </a:solidFill>
          <a:ln/>
        </p:spPr>
      </p:sp>
      <p:sp>
        <p:nvSpPr>
          <p:cNvPr id="9" name="Text 7"/>
          <p:cNvSpPr/>
          <p:nvPr/>
        </p:nvSpPr>
        <p:spPr>
          <a:xfrm>
            <a:off x="4526280" y="1892808"/>
            <a:ext cx="3200400" cy="640080"/>
          </a:xfrm>
          <a:prstGeom prst="rect">
            <a:avLst/>
          </a:prstGeom>
          <a:noFill/>
          <a:ln/>
        </p:spPr>
        <p:txBody>
          <a:bodyPr wrap="square" lIns="0" tIns="0" rIns="0" bIns="0" rtlCol="0" anchor="ctr"/>
          <a:lstStyle/>
          <a:p>
            <a:pPr indent="0" marL="0">
              <a:buNone/>
            </a:pPr>
            <a:r>
              <a:rPr lang="en-US" sz="3400" b="1" dirty="0">
                <a:solidFill>
                  <a:srgbClr val="00A9E0"/>
                </a:solidFill>
                <a:latin typeface="Cambria" pitchFamily="34" charset="0"/>
                <a:ea typeface="Cambria" pitchFamily="34" charset="-122"/>
                <a:cs typeface="Cambria" pitchFamily="34" charset="-120"/>
              </a:rPr>
              <a:t>7</a:t>
            </a:r>
            <a:endParaRPr lang="en-US" sz="3400" dirty="0"/>
          </a:p>
        </p:txBody>
      </p:sp>
      <p:sp>
        <p:nvSpPr>
          <p:cNvPr id="10" name="Text 8"/>
          <p:cNvSpPr/>
          <p:nvPr/>
        </p:nvSpPr>
        <p:spPr>
          <a:xfrm>
            <a:off x="4526280" y="2532888"/>
            <a:ext cx="320040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Owned Databases</a:t>
            </a:r>
            <a:endParaRPr lang="en-US" sz="1150" dirty="0"/>
          </a:p>
        </p:txBody>
      </p:sp>
      <p:sp>
        <p:nvSpPr>
          <p:cNvPr id="11" name="Shape 9"/>
          <p:cNvSpPr/>
          <p:nvPr/>
        </p:nvSpPr>
        <p:spPr>
          <a:xfrm>
            <a:off x="8138160" y="1783080"/>
            <a:ext cx="3566160" cy="1188720"/>
          </a:xfrm>
          <a:prstGeom prst="roundRect">
            <a:avLst>
              <a:gd name="adj" fmla="val 4615"/>
            </a:avLst>
          </a:prstGeom>
          <a:solidFill>
            <a:srgbClr val="12345F"/>
          </a:solidFill>
          <a:ln/>
        </p:spPr>
      </p:sp>
      <p:sp>
        <p:nvSpPr>
          <p:cNvPr id="12" name="Text 10"/>
          <p:cNvSpPr/>
          <p:nvPr/>
        </p:nvSpPr>
        <p:spPr>
          <a:xfrm>
            <a:off x="8321040" y="1892808"/>
            <a:ext cx="3200400" cy="640080"/>
          </a:xfrm>
          <a:prstGeom prst="rect">
            <a:avLst/>
          </a:prstGeom>
          <a:noFill/>
          <a:ln/>
        </p:spPr>
        <p:txBody>
          <a:bodyPr wrap="square" lIns="0" tIns="0" rIns="0" bIns="0" rtlCol="0" anchor="ctr"/>
          <a:lstStyle/>
          <a:p>
            <a:pPr indent="0" marL="0">
              <a:buNone/>
            </a:pPr>
            <a:r>
              <a:rPr lang="en-US" sz="3400" b="1" dirty="0">
                <a:solidFill>
                  <a:srgbClr val="00A9E0"/>
                </a:solidFill>
                <a:latin typeface="Cambria" pitchFamily="34" charset="0"/>
                <a:ea typeface="Cambria" pitchFamily="34" charset="-122"/>
                <a:cs typeface="Cambria" pitchFamily="34" charset="-120"/>
              </a:rPr>
              <a:t>3</a:t>
            </a:r>
            <a:endParaRPr lang="en-US" sz="3400" dirty="0"/>
          </a:p>
        </p:txBody>
      </p:sp>
      <p:sp>
        <p:nvSpPr>
          <p:cNvPr id="13" name="Text 11"/>
          <p:cNvSpPr/>
          <p:nvPr/>
        </p:nvSpPr>
        <p:spPr>
          <a:xfrm>
            <a:off x="8321040" y="2532888"/>
            <a:ext cx="320040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RabbitMQ Queues + DLQs</a:t>
            </a:r>
            <a:endParaRPr lang="en-US" sz="1150" dirty="0"/>
          </a:p>
        </p:txBody>
      </p:sp>
      <p:sp>
        <p:nvSpPr>
          <p:cNvPr id="14" name="Shape 12"/>
          <p:cNvSpPr/>
          <p:nvPr/>
        </p:nvSpPr>
        <p:spPr>
          <a:xfrm>
            <a:off x="548640" y="3200400"/>
            <a:ext cx="3566160" cy="1188720"/>
          </a:xfrm>
          <a:prstGeom prst="roundRect">
            <a:avLst>
              <a:gd name="adj" fmla="val 4615"/>
            </a:avLst>
          </a:prstGeom>
          <a:solidFill>
            <a:srgbClr val="12345F"/>
          </a:solidFill>
          <a:ln/>
        </p:spPr>
      </p:sp>
      <p:sp>
        <p:nvSpPr>
          <p:cNvPr id="15" name="Text 13"/>
          <p:cNvSpPr/>
          <p:nvPr/>
        </p:nvSpPr>
        <p:spPr>
          <a:xfrm>
            <a:off x="731520" y="3310128"/>
            <a:ext cx="3200400" cy="640080"/>
          </a:xfrm>
          <a:prstGeom prst="rect">
            <a:avLst/>
          </a:prstGeom>
          <a:noFill/>
          <a:ln/>
        </p:spPr>
        <p:txBody>
          <a:bodyPr wrap="square" lIns="0" tIns="0" rIns="0" bIns="0" rtlCol="0" anchor="ctr"/>
          <a:lstStyle/>
          <a:p>
            <a:pPr indent="0" marL="0">
              <a:buNone/>
            </a:pPr>
            <a:r>
              <a:rPr lang="en-US" sz="3400" b="1" dirty="0">
                <a:solidFill>
                  <a:srgbClr val="00A9E0"/>
                </a:solidFill>
                <a:latin typeface="Cambria" pitchFamily="34" charset="0"/>
                <a:ea typeface="Cambria" pitchFamily="34" charset="-122"/>
                <a:cs typeface="Cambria" pitchFamily="34" charset="-120"/>
              </a:rPr>
              <a:t>31</a:t>
            </a:r>
            <a:endParaRPr lang="en-US" sz="3400" dirty="0"/>
          </a:p>
        </p:txBody>
      </p:sp>
      <p:sp>
        <p:nvSpPr>
          <p:cNvPr id="16" name="Text 14"/>
          <p:cNvSpPr/>
          <p:nvPr/>
        </p:nvSpPr>
        <p:spPr>
          <a:xfrm>
            <a:off x="731520" y="3950208"/>
            <a:ext cx="320040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Test Classes</a:t>
            </a:r>
            <a:endParaRPr lang="en-US" sz="1150" dirty="0"/>
          </a:p>
        </p:txBody>
      </p:sp>
      <p:sp>
        <p:nvSpPr>
          <p:cNvPr id="17" name="Shape 15"/>
          <p:cNvSpPr/>
          <p:nvPr/>
        </p:nvSpPr>
        <p:spPr>
          <a:xfrm>
            <a:off x="4343400" y="3200400"/>
            <a:ext cx="3566160" cy="1188720"/>
          </a:xfrm>
          <a:prstGeom prst="roundRect">
            <a:avLst>
              <a:gd name="adj" fmla="val 4615"/>
            </a:avLst>
          </a:prstGeom>
          <a:solidFill>
            <a:srgbClr val="12345F"/>
          </a:solidFill>
          <a:ln/>
        </p:spPr>
      </p:sp>
      <p:sp>
        <p:nvSpPr>
          <p:cNvPr id="18" name="Text 16"/>
          <p:cNvSpPr/>
          <p:nvPr/>
        </p:nvSpPr>
        <p:spPr>
          <a:xfrm>
            <a:off x="4526280" y="3310128"/>
            <a:ext cx="3200400" cy="640080"/>
          </a:xfrm>
          <a:prstGeom prst="rect">
            <a:avLst/>
          </a:prstGeom>
          <a:noFill/>
          <a:ln/>
        </p:spPr>
        <p:txBody>
          <a:bodyPr wrap="square" lIns="0" tIns="0" rIns="0" bIns="0" rtlCol="0" anchor="ctr"/>
          <a:lstStyle/>
          <a:p>
            <a:pPr indent="0" marL="0">
              <a:buNone/>
            </a:pPr>
            <a:r>
              <a:rPr lang="en-US" sz="3400" b="1" dirty="0">
                <a:solidFill>
                  <a:srgbClr val="00A9E0"/>
                </a:solidFill>
                <a:latin typeface="Cambria" pitchFamily="34" charset="0"/>
                <a:ea typeface="Cambria" pitchFamily="34" charset="-122"/>
                <a:cs typeface="Cambria" pitchFamily="34" charset="-120"/>
              </a:rPr>
              <a:t>25</a:t>
            </a:r>
            <a:endParaRPr lang="en-US" sz="3400" dirty="0"/>
          </a:p>
        </p:txBody>
      </p:sp>
      <p:sp>
        <p:nvSpPr>
          <p:cNvPr id="19" name="Text 17"/>
          <p:cNvSpPr/>
          <p:nvPr/>
        </p:nvSpPr>
        <p:spPr>
          <a:xfrm>
            <a:off x="4526280" y="3950208"/>
            <a:ext cx="320040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Gateway Routes</a:t>
            </a:r>
            <a:endParaRPr lang="en-US" sz="1150" dirty="0"/>
          </a:p>
        </p:txBody>
      </p:sp>
      <p:sp>
        <p:nvSpPr>
          <p:cNvPr id="20" name="Shape 18"/>
          <p:cNvSpPr/>
          <p:nvPr/>
        </p:nvSpPr>
        <p:spPr>
          <a:xfrm>
            <a:off x="8138160" y="3200400"/>
            <a:ext cx="3566160" cy="1188720"/>
          </a:xfrm>
          <a:prstGeom prst="roundRect">
            <a:avLst>
              <a:gd name="adj" fmla="val 4615"/>
            </a:avLst>
          </a:prstGeom>
          <a:solidFill>
            <a:srgbClr val="12345F"/>
          </a:solidFill>
          <a:ln/>
        </p:spPr>
      </p:sp>
      <p:sp>
        <p:nvSpPr>
          <p:cNvPr id="21" name="Text 19"/>
          <p:cNvSpPr/>
          <p:nvPr/>
        </p:nvSpPr>
        <p:spPr>
          <a:xfrm>
            <a:off x="8321040" y="3310128"/>
            <a:ext cx="3200400" cy="640080"/>
          </a:xfrm>
          <a:prstGeom prst="rect">
            <a:avLst/>
          </a:prstGeom>
          <a:noFill/>
          <a:ln/>
        </p:spPr>
        <p:txBody>
          <a:bodyPr wrap="square" lIns="0" tIns="0" rIns="0" bIns="0" rtlCol="0" anchor="ctr"/>
          <a:lstStyle/>
          <a:p>
            <a:pPr indent="0" marL="0">
              <a:buNone/>
            </a:pPr>
            <a:r>
              <a:rPr lang="en-US" sz="3400" b="1" dirty="0">
                <a:solidFill>
                  <a:srgbClr val="00A9E0"/>
                </a:solidFill>
                <a:latin typeface="Cambria" pitchFamily="34" charset="0"/>
                <a:ea typeface="Cambria" pitchFamily="34" charset="-122"/>
                <a:cs typeface="Cambria" pitchFamily="34" charset="-120"/>
              </a:rPr>
              <a:t>5</a:t>
            </a:r>
            <a:endParaRPr lang="en-US" sz="3400" dirty="0"/>
          </a:p>
        </p:txBody>
      </p:sp>
      <p:sp>
        <p:nvSpPr>
          <p:cNvPr id="22" name="Text 20"/>
          <p:cNvSpPr/>
          <p:nvPr/>
        </p:nvSpPr>
        <p:spPr>
          <a:xfrm>
            <a:off x="8321040" y="3950208"/>
            <a:ext cx="320040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UML Diagrams Delivered</a:t>
            </a:r>
            <a:endParaRPr lang="en-US" sz="1150" dirty="0"/>
          </a:p>
        </p:txBody>
      </p:sp>
      <p:sp>
        <p:nvSpPr>
          <p:cNvPr id="23" name="Text 21"/>
          <p:cNvSpPr/>
          <p:nvPr/>
        </p:nvSpPr>
        <p:spPr>
          <a:xfrm>
            <a:off x="548640" y="4892040"/>
            <a:ext cx="1078992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E7EEF9"/>
                </a:solidFill>
                <a:latin typeface="Calibri" pitchFamily="34" charset="0"/>
                <a:ea typeface="Calibri" pitchFamily="34" charset="-122"/>
                <a:cs typeface="Calibri" pitchFamily="34" charset="-120"/>
              </a:rPr>
              <a:t>Architecture — clean microservices boundaries</a:t>
            </a:r>
            <a:endParaRPr lang="en-US" sz="1300" dirty="0"/>
          </a:p>
          <a:p>
            <a:pPr marL="342900" indent="-342900">
              <a:spcAft>
                <a:spcPts val="600"/>
              </a:spcAft>
              <a:buSzPct val="100000"/>
              <a:buChar char="•"/>
            </a:pPr>
            <a:r>
              <a:rPr lang="en-US" sz="1300" dirty="0">
                <a:solidFill>
                  <a:srgbClr val="E7EEF9"/>
                </a:solidFill>
                <a:latin typeface="Calibri" pitchFamily="34" charset="0"/>
                <a:ea typeface="Calibri" pitchFamily="34" charset="-122"/>
                <a:cs typeface="Calibri" pitchFamily="34" charset="-120"/>
              </a:rPr>
              <a:t>Security — gateway-enforced JWT + RBAC</a:t>
            </a:r>
            <a:endParaRPr lang="en-US" sz="1300" dirty="0"/>
          </a:p>
          <a:p>
            <a:pPr marL="342900" indent="-342900">
              <a:spcAft>
                <a:spcPts val="600"/>
              </a:spcAft>
              <a:buSzPct val="100000"/>
              <a:buChar char="•"/>
            </a:pPr>
            <a:r>
              <a:rPr lang="en-US" sz="1300" dirty="0">
                <a:solidFill>
                  <a:srgbClr val="E7EEF9"/>
                </a:solidFill>
                <a:latin typeface="Calibri" pitchFamily="34" charset="0"/>
                <a:ea typeface="Calibri" pitchFamily="34" charset="-122"/>
                <a:cs typeface="Calibri" pitchFamily="34" charset="-120"/>
              </a:rPr>
              <a:t>Reliability — DLQ-backed messaging</a:t>
            </a:r>
            <a:endParaRPr lang="en-US" sz="1300" dirty="0"/>
          </a:p>
          <a:p>
            <a:pPr marL="342900" indent="-342900">
              <a:spcAft>
                <a:spcPts val="600"/>
              </a:spcAft>
              <a:buSzPct val="100000"/>
              <a:buChar char="•"/>
            </a:pPr>
            <a:r>
              <a:rPr lang="en-US" sz="1300" dirty="0">
                <a:solidFill>
                  <a:srgbClr val="E7EEF9"/>
                </a:solidFill>
                <a:latin typeface="Calibri" pitchFamily="34" charset="0"/>
                <a:ea typeface="Calibri" pitchFamily="34" charset="-122"/>
                <a:cs typeface="Calibri" pitchFamily="34" charset="-120"/>
              </a:rPr>
              <a:t>Maintainability — layered, tested, documented</a:t>
            </a:r>
            <a:endParaRPr lang="en-US" sz="1300" dirty="0"/>
          </a:p>
        </p:txBody>
      </p:sp>
      <p:sp>
        <p:nvSpPr>
          <p:cNvPr id="24" name="Text 22"/>
          <p:cNvSpPr/>
          <p:nvPr/>
        </p:nvSpPr>
        <p:spPr>
          <a:xfrm>
            <a:off x="502920" y="6547104"/>
            <a:ext cx="3657600" cy="256032"/>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GymPro Case Study</a:t>
            </a:r>
            <a:endParaRPr lang="en-US" sz="900" dirty="0"/>
          </a:p>
        </p:txBody>
      </p:sp>
      <p:sp>
        <p:nvSpPr>
          <p:cNvPr id="25" name="Text 23"/>
          <p:cNvSpPr/>
          <p:nvPr/>
        </p:nvSpPr>
        <p:spPr>
          <a:xfrm>
            <a:off x="4206240" y="6547104"/>
            <a:ext cx="5486400" cy="256032"/>
          </a:xfrm>
          <a:prstGeom prst="rect">
            <a:avLst/>
          </a:prstGeom>
          <a:noFill/>
          <a:ln/>
        </p:spPr>
        <p:txBody>
          <a:bodyPr wrap="square" lIns="0" tIns="0" rIns="0" bIns="0" rtlCol="0" anchor="ctr"/>
          <a:lstStyle/>
          <a:p>
            <a:pPr algn="ctr" indent="0" marL="0">
              <a:buNone/>
            </a:pPr>
            <a:r>
              <a:rPr lang="en-US" sz="900" dirty="0">
                <a:solidFill>
                  <a:srgbClr val="5B6B85"/>
                </a:solidFill>
                <a:latin typeface="Calibri" pitchFamily="34" charset="0"/>
                <a:ea typeface="Calibri" pitchFamily="34" charset="-122"/>
                <a:cs typeface="Calibri" pitchFamily="34" charset="-120"/>
              </a:rPr>
              <a:t>Project Summary</a:t>
            </a:r>
            <a:endParaRPr lang="en-US" sz="900" dirty="0"/>
          </a:p>
        </p:txBody>
      </p:sp>
      <p:sp>
        <p:nvSpPr>
          <p:cNvPr id="26" name="Text 24"/>
          <p:cNvSpPr/>
          <p:nvPr/>
        </p:nvSpPr>
        <p:spPr>
          <a:xfrm>
            <a:off x="11430000" y="6547104"/>
            <a:ext cx="457200" cy="256032"/>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2345F"/>
          </a:solidFill>
          <a:ln/>
        </p:spPr>
      </p:sp>
      <p:sp>
        <p:nvSpPr>
          <p:cNvPr id="3" name="Shape 1"/>
          <p:cNvSpPr/>
          <p:nvPr/>
        </p:nvSpPr>
        <p:spPr>
          <a:xfrm>
            <a:off x="-1463040" y="5120640"/>
            <a:ext cx="3291840" cy="3291840"/>
          </a:xfrm>
          <a:prstGeom prst="ellipse">
            <a:avLst/>
          </a:prstGeom>
          <a:solidFill>
            <a:srgbClr val="12345F"/>
          </a:solidFill>
          <a:ln/>
        </p:spPr>
      </p:sp>
      <p:sp>
        <p:nvSpPr>
          <p:cNvPr id="4" name="Shape 2"/>
          <p:cNvSpPr/>
          <p:nvPr/>
        </p:nvSpPr>
        <p:spPr>
          <a:xfrm>
            <a:off x="5394960" y="1737360"/>
            <a:ext cx="1005840" cy="1005840"/>
          </a:xfrm>
          <a:prstGeom prst="ellipse">
            <a:avLst/>
          </a:prstGeom>
          <a:solidFill>
            <a:srgbClr val="1B4F91"/>
          </a:solidFill>
          <a:ln/>
        </p:spPr>
      </p:sp>
      <p:pic>
        <p:nvPicPr>
          <p:cNvPr id="5" name="Image 0" descr="preencoded.png">    </p:cNvPr>
          <p:cNvPicPr>
            <a:picLocks noChangeAspect="1"/>
          </p:cNvPicPr>
          <p:nvPr/>
        </p:nvPicPr>
        <p:blipFill>
          <a:blip r:embed="rId1"/>
          <a:stretch>
            <a:fillRect/>
          </a:stretch>
        </p:blipFill>
        <p:spPr>
          <a:xfrm>
            <a:off x="5656478" y="1998878"/>
            <a:ext cx="482803" cy="482803"/>
          </a:xfrm>
          <a:prstGeom prst="rect">
            <a:avLst/>
          </a:prstGeom>
        </p:spPr>
      </p:pic>
      <p:sp>
        <p:nvSpPr>
          <p:cNvPr id="6" name="Text 3"/>
          <p:cNvSpPr/>
          <p:nvPr/>
        </p:nvSpPr>
        <p:spPr>
          <a:xfrm>
            <a:off x="548640" y="2926080"/>
            <a:ext cx="11064240"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7" name="Text 4"/>
          <p:cNvSpPr/>
          <p:nvPr/>
        </p:nvSpPr>
        <p:spPr>
          <a:xfrm>
            <a:off x="548640" y="3840480"/>
            <a:ext cx="11064240" cy="457200"/>
          </a:xfrm>
          <a:prstGeom prst="rect">
            <a:avLst/>
          </a:prstGeom>
          <a:noFill/>
          <a:ln/>
        </p:spPr>
        <p:txBody>
          <a:bodyPr wrap="square" lIns="0" tIns="0" rIns="0" bIns="0" rtlCol="0" anchor="ctr"/>
          <a:lstStyle/>
          <a:p>
            <a:pPr algn="ctr" indent="0" marL="0">
              <a:buNone/>
            </a:pPr>
            <a:r>
              <a:rPr lang="en-US" sz="1800" dirty="0">
                <a:solidFill>
                  <a:srgbClr val="00A9E0"/>
                </a:solidFill>
                <a:latin typeface="Calibri" pitchFamily="34" charset="0"/>
                <a:ea typeface="Calibri" pitchFamily="34" charset="-122"/>
                <a:cs typeface="Calibri" pitchFamily="34" charset="-120"/>
              </a:rPr>
              <a:t>Questions &amp; Discussion</a:t>
            </a:r>
            <a:endParaRPr lang="en-US" sz="1800" dirty="0"/>
          </a:p>
        </p:txBody>
      </p:sp>
      <p:sp>
        <p:nvSpPr>
          <p:cNvPr id="8" name="Shape 5"/>
          <p:cNvSpPr/>
          <p:nvPr/>
        </p:nvSpPr>
        <p:spPr>
          <a:xfrm>
            <a:off x="5166360" y="4526280"/>
            <a:ext cx="1828800" cy="0"/>
          </a:xfrm>
          <a:prstGeom prst="line">
            <a:avLst/>
          </a:prstGeom>
          <a:noFill/>
          <a:ln w="12700">
            <a:solidFill>
              <a:srgbClr val="2E5FA3"/>
            </a:solidFill>
            <a:prstDash val="solid"/>
          </a:ln>
        </p:spPr>
      </p:sp>
      <p:sp>
        <p:nvSpPr>
          <p:cNvPr id="9" name="Text 6"/>
          <p:cNvSpPr/>
          <p:nvPr/>
        </p:nvSpPr>
        <p:spPr>
          <a:xfrm>
            <a:off x="548640" y="6035040"/>
            <a:ext cx="11064240" cy="365760"/>
          </a:xfrm>
          <a:prstGeom prst="rect">
            <a:avLst/>
          </a:prstGeom>
          <a:noFill/>
          <a:ln/>
        </p:spPr>
        <p:txBody>
          <a:bodyPr wrap="square" lIns="0" tIns="0" rIns="0" bIns="0" rtlCol="0" anchor="ctr"/>
          <a:lstStyle/>
          <a:p>
            <a:pPr algn="ctr" indent="0" marL="0">
              <a:buNone/>
            </a:pPr>
            <a:r>
              <a:rPr lang="en-US" sz="1100" dirty="0">
                <a:solidFill>
                  <a:srgbClr val="9FB3CE"/>
                </a:solidFill>
                <a:latin typeface="Calibri" pitchFamily="34" charset="0"/>
                <a:ea typeface="Calibri" pitchFamily="34" charset="-122"/>
                <a:cs typeface="Calibri" pitchFamily="34" charset="-120"/>
              </a:rPr>
              <a:t>GymPro — Microservices-Based Gym Management System  |  Shreyas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GymPro — Microservices Gym Management System</dc:title>
  <dc:subject>PptxGenJS Presentation</dc:subject>
  <dc:creator>Shreyas</dc:creator>
  <cp:lastModifiedBy>Shreyas</cp:lastModifiedBy>
  <cp:revision>1</cp:revision>
  <dcterms:created xsi:type="dcterms:W3CDTF">2026-07-03T05:52:16Z</dcterms:created>
  <dcterms:modified xsi:type="dcterms:W3CDTF">2026-07-03T05:52:16Z</dcterms:modified>
</cp:coreProperties>
</file>